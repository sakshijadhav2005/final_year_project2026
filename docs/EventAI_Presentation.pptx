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f0513d-8a5e-e388-5517-77b02c116b6e}">
          <p14:sldIdLst>
            <p14:sldId id="256"/>
            <p14:sldId id="257"/>
            <p14:sldId id="258"/>
            <p14:sldId id="259"/>
          </p14:sldIdLst>
        </p14:section>
        <p14:section name="Design" id="{419b50fe-5d2e-663b-738f-a81a734910d5}">
          <p14:sldIdLst>
            <p14:sldId id="260"/>
            <p14:sldId id="261"/>
            <p14:sldId id="262"/>
          </p14:sldIdLst>
        </p14:section>
        <p14:section name="Features" id="{2faf94f3-ff4b-6fa0-d523-7897acd85005}">
          <p14:sldIdLst>
            <p14:sldId id="263"/>
            <p14:sldId id="264"/>
            <p14:sldId id="265"/>
            <p14:sldId id="266"/>
          </p14:sldIdLst>
        </p14:section>
        <p14:section name="Conclusion" id="{d44ff94a-0863-4e45-9d15-c2aaeb1be5ca}">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rtlCol="0"/>
          <a:lstStyle>
            <a:lvl1pPr indent="0" marL="0">
              <a:buNone/>
              <a:defRPr lang="en-US" sz="1400" dirty="0">
                <a:solidFill>
                  <a:schemeClr val="accent1"/>
                </a:solidFill>
              </a:defRPr>
            </a:lvl1pPr>
          </a:lstStyle>
          <a:p>
            <a:pPr indent="0" marL="0">
              <a:buNone/>
            </a:pPr>
            <a:endParaRPr lang="en-US" sz="14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64748B"/>
                </a:solidFill>
              </a:rPr>
              <a:t>EventAI  |  Final Year Project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p:bgPr>
    </p:bg>
    <p:spTree>
      <p:nvGrpSpPr>
        <p:cNvPr id="1" name=""/>
        <p:cNvGrpSpPr/>
        <p:nvPr/>
      </p:nvGrpSpPr>
      <p:grpSpPr>
        <a:xfrm>
          <a:off x="0" y="0"/>
          <a:ext cx="0" cy="0"/>
          <a:chOff x="0" y="0"/>
          <a:chExt cx="0" cy="0"/>
        </a:xfrm>
      </p:grpSpPr>
      <p:pic>
        <p:nvPicPr>
          <p:cNvPr id="2" name="JSPM logo" descr="JSPM logo">    </p:cNvPr>
          <p:cNvPicPr>
            <a:picLocks noChangeAspect="1"/>
          </p:cNvPicPr>
          <p:nvPr/>
        </p:nvPicPr>
        <p:blipFill>
          <a:blip r:embed="rId1"/>
          <a:stretch>
            <a:fillRect/>
          </a:stretch>
        </p:blipFill>
        <p:spPr>
          <a:xfrm>
            <a:off x="457200" y="320040"/>
            <a:ext cx="1106424" cy="914400"/>
          </a:xfrm>
          <a:prstGeom prst="rect">
            <a:avLst/>
          </a:prstGeom>
        </p:spPr>
      </p:pic>
      <p:pic>
        <p:nvPicPr>
          <p:cNvPr id="3" name="RSCOE logo" descr="RSCOE logo">    </p:cNvPr>
          <p:cNvPicPr>
            <a:picLocks noChangeAspect="1"/>
          </p:cNvPicPr>
          <p:nvPr/>
        </p:nvPicPr>
        <p:blipFill>
          <a:blip r:embed="rId2"/>
          <a:stretch>
            <a:fillRect/>
          </a:stretch>
        </p:blipFill>
        <p:spPr>
          <a:xfrm>
            <a:off x="10543032" y="320040"/>
            <a:ext cx="1188720" cy="896112"/>
          </a:xfrm>
          <a:prstGeom prst="rect">
            <a:avLst/>
          </a:prstGeom>
        </p:spPr>
      </p:pic>
      <p:sp>
        <p:nvSpPr>
          <p:cNvPr id="4" name="Text 0"/>
          <p:cNvSpPr txBox="1"/>
          <p:nvPr/>
        </p:nvSpPr>
        <p:spPr>
          <a:xfrm>
            <a:off x="1828800" y="274320"/>
            <a:ext cx="8531352" cy="1691640"/>
          </a:xfrm>
          <a:prstGeom prst="rect">
            <a:avLst/>
          </a:prstGeom>
          <a:noFill/>
          <a:ln/>
        </p:spPr>
        <p:txBody>
          <a:bodyPr wrap="square" lIns="0" tIns="0" rIns="0" bIns="0" rtlCol="0" anchor="ctr"/>
          <a:lstStyle/>
          <a:p>
            <a:pPr algn="ctr" indent="0" marL="0">
              <a:buNone/>
            </a:pPr>
            <a:r>
              <a:rPr lang="en-US" sz="2000" dirty="0">
                <a:solidFill>
                  <a:schemeClr val="tx2"/>
                </a:solidFill>
                <a:latin typeface="Times New Roman" pitchFamily="34" charset="0"/>
                <a:ea typeface="Times New Roman" pitchFamily="34" charset="-122"/>
                <a:cs typeface="Times New Roman" pitchFamily="34" charset="-120"/>
              </a:rPr>
              <a:t>JSPM’s</a:t>
            </a:r>
            <a:endParaRPr lang="en-US" sz="2000" dirty="0"/>
          </a:p>
          <a:p>
            <a:pPr algn="ctr" indent="0" marL="0">
              <a:buNone/>
            </a:pPr>
            <a:r>
              <a:rPr lang="en-US" sz="2600" b="1" dirty="0">
                <a:solidFill>
                  <a:schemeClr val="tx2"/>
                </a:solidFill>
                <a:latin typeface="Times New Roman" pitchFamily="34" charset="0"/>
                <a:ea typeface="Times New Roman" pitchFamily="34" charset="-122"/>
                <a:cs typeface="Times New Roman" pitchFamily="34" charset="-120"/>
              </a:rPr>
              <a:t>Rajarshi Shahu College of Engineering Pune</a:t>
            </a:r>
            <a:endParaRPr lang="en-US" sz="2000" dirty="0"/>
          </a:p>
          <a:p>
            <a:pPr algn="ctr" indent="0" marL="0">
              <a:buNone/>
            </a:pPr>
            <a:r>
              <a:rPr lang="en-US" sz="2000" dirty="0">
                <a:solidFill>
                  <a:schemeClr val="tx2"/>
                </a:solidFill>
                <a:latin typeface="Times New Roman" pitchFamily="34" charset="0"/>
                <a:ea typeface="Times New Roman" pitchFamily="34" charset="-122"/>
                <a:cs typeface="Times New Roman" pitchFamily="34" charset="-120"/>
              </a:rPr>
              <a:t>Department of Computer Science and Business System</a:t>
            </a:r>
            <a:endParaRPr lang="en-US" sz="2000" dirty="0"/>
          </a:p>
          <a:p>
            <a:pPr algn="ctr" indent="0" marL="0">
              <a:buNone/>
            </a:pPr>
            <a:r>
              <a:rPr lang="en-US" sz="1800" dirty="0">
                <a:solidFill>
                  <a:schemeClr val="tx2"/>
                </a:solidFill>
                <a:latin typeface="Times New Roman" pitchFamily="34" charset="0"/>
                <a:ea typeface="Times New Roman" pitchFamily="34" charset="-122"/>
                <a:cs typeface="Times New Roman" pitchFamily="34" charset="-120"/>
              </a:rPr>
              <a:t>Academic Year: 2025-26</a:t>
            </a:r>
            <a:endParaRPr lang="en-US" sz="2000" dirty="0"/>
          </a:p>
        </p:txBody>
      </p:sp>
      <p:sp>
        <p:nvSpPr>
          <p:cNvPr id="5" name="Text 1"/>
          <p:cNvSpPr txBox="1"/>
          <p:nvPr/>
        </p:nvSpPr>
        <p:spPr>
          <a:xfrm>
            <a:off x="548640" y="2194560"/>
            <a:ext cx="11064240" cy="457200"/>
          </a:xfrm>
          <a:prstGeom prst="rect">
            <a:avLst/>
          </a:prstGeom>
          <a:noFill/>
          <a:ln/>
        </p:spPr>
        <p:txBody>
          <a:bodyPr wrap="square" lIns="0" tIns="0" rIns="0" bIns="0" rtlCol="0" anchor="ctr"/>
          <a:lstStyle/>
          <a:p>
            <a:pPr algn="ctr" indent="0" marL="0">
              <a:buNone/>
            </a:pPr>
            <a:r>
              <a:rPr lang="en-US" sz="2000" b="1" dirty="0">
                <a:solidFill>
                  <a:schemeClr val="tx2"/>
                </a:solidFill>
              </a:rPr>
              <a:t>Project:  </a:t>
            </a:r>
            <a:pPr algn="ctr" indent="0" marL="0">
              <a:buNone/>
            </a:pPr>
            <a:r>
              <a:rPr lang="en-US" sz="2000" b="1" dirty="0">
                <a:solidFill>
                  <a:schemeClr val="accent1"/>
                </a:solidFill>
              </a:rPr>
              <a:t>EventAI: Intelligent Event Recording → Content Generation</a:t>
            </a:r>
            <a:endParaRPr lang="en-US" sz="2000" dirty="0"/>
          </a:p>
        </p:txBody>
      </p:sp>
      <p:sp>
        <p:nvSpPr>
          <p:cNvPr id="6" name="Student details card"/>
          <p:cNvSpPr/>
          <p:nvPr/>
        </p:nvSpPr>
        <p:spPr>
          <a:xfrm>
            <a:off x="548640" y="2880360"/>
            <a:ext cx="4754880" cy="3246120"/>
          </a:xfrm>
          <a:prstGeom prst="roundRect">
            <a:avLst>
              <a:gd name="adj" fmla="val 338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7" name="Text 3"/>
          <p:cNvSpPr txBox="1"/>
          <p:nvPr/>
        </p:nvSpPr>
        <p:spPr>
          <a:xfrm>
            <a:off x="822960" y="3063240"/>
            <a:ext cx="4206240" cy="365760"/>
          </a:xfrm>
          <a:prstGeom prst="rect">
            <a:avLst/>
          </a:prstGeom>
          <a:noFill/>
          <a:ln/>
        </p:spPr>
        <p:txBody>
          <a:bodyPr wrap="square" lIns="0" tIns="0" rIns="0" bIns="0" rtlCol="0" anchor="ctr"/>
          <a:lstStyle/>
          <a:p>
            <a:pPr indent="0" marL="0">
              <a:buNone/>
            </a:pPr>
            <a:r>
              <a:rPr lang="en-US" sz="1600" b="1" dirty="0">
                <a:solidFill>
                  <a:schemeClr val="accent1"/>
                </a:solidFill>
              </a:rPr>
              <a:t>STUDENT DETAILS</a:t>
            </a:r>
            <a:endParaRPr lang="en-US" sz="1600" dirty="0"/>
          </a:p>
        </p:txBody>
      </p:sp>
      <p:graphicFrame>
        <p:nvGraphicFramePr>
          <p:cNvPr id="2" name="Student details"/>
          <p:cNvGraphicFramePr>
            <a:graphicFrameLocks noGrp="1"/>
          </p:cNvGraphicFramePr>
          <p:nvPr>
            <p:extLst>
              <p:ext uri="{D42A27DB-BD31-4B8C-83A1-F6EECF244321}">
                <p14:modId xmlns:p14="http://schemas.microsoft.com/office/powerpoint/2010/main" val="1579011935"/>
              </p:ext>
            </p:extLst>
          </p:nvPr>
        </p:nvGraphicFramePr>
        <p:xfrm>
          <a:off x="822960" y="3566160"/>
          <a:ext cx="4297680" cy="914400"/>
        </p:xfrm>
        <a:graphic>
          <a:graphicData uri="http://schemas.openxmlformats.org/drawingml/2006/table">
            <a:tbl>
              <a:tblPr/>
              <a:tblGrid>
                <a:gridCol w="1691640"/>
                <a:gridCol w="2606040"/>
              </a:tblGrid>
              <a:tr h="548640">
                <a:tc>
                  <a:txBody>
                    <a:bodyPr/>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Name of Student</a:t>
                      </a:r>
                      <a:endParaRPr lang="en-US" sz="1500" dirty="0">
                        <a:latin typeface="Times New Roman" charset="0"/>
                        <a:ea typeface="Times New Roman" charset="0"/>
                        <a:cs typeface="Times New Roman"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dirty="0">
                          <a:solidFill>
                            <a:schemeClr val="tx1"/>
                          </a:solidFill>
                          <a:latin typeface="Times New Roman" pitchFamily="34" charset="0"/>
                          <a:ea typeface="Times New Roman" pitchFamily="34" charset="-122"/>
                          <a:cs typeface="Times New Roman" pitchFamily="34" charset="-120"/>
                        </a:rPr>
                        <a:t>: Jadhav Sakshi Tukaram</a:t>
                      </a:r>
                      <a:endParaRPr lang="en-US" sz="1500" dirty="0">
                        <a:latin typeface="Times New Roman" charset="0"/>
                        <a:ea typeface="Times New Roman" charset="0"/>
                        <a:cs typeface="Times New Roman" charset="0"/>
                      </a:endParaRPr>
                    </a:p>
                  </a:txBody>
                  <a:tcPr marL="0" marR="0" marT="0" marB="0" anchor="ctr">
                    <a:lnL w="0" cap="flat" cmpd="sng" algn="ctr">
                      <a:noFill/>
                    </a:lnL>
                    <a:lnR w="0" cap="flat" cmpd="sng" algn="ctr">
                      <a:noFill/>
                    </a:lnR>
                    <a:lnT w="0" cap="flat" cmpd="sng" algn="ctr">
                      <a:noFill/>
                    </a:lnT>
                    <a:lnB w="0" cap="flat" cmpd="sng" algn="ctr">
                      <a:noFill/>
                    </a:lnB>
                  </a:tcPr>
                </a:tc>
              </a:tr>
              <a:tr h="548640">
                <a:tc>
                  <a:txBody>
                    <a:bodyPr/>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PRN No.</a:t>
                      </a:r>
                      <a:endParaRPr lang="en-US" sz="1500" dirty="0">
                        <a:latin typeface="Times New Roman" charset="0"/>
                        <a:ea typeface="Times New Roman" charset="0"/>
                        <a:cs typeface="Times New Roman"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dirty="0">
                          <a:solidFill>
                            <a:schemeClr val="tx1"/>
                          </a:solidFill>
                          <a:latin typeface="Times New Roman" pitchFamily="34" charset="0"/>
                          <a:ea typeface="Times New Roman" pitchFamily="34" charset="-122"/>
                          <a:cs typeface="Times New Roman" pitchFamily="34" charset="-120"/>
                        </a:rPr>
                        <a:t>: RBTL24CB061</a:t>
                      </a:r>
                      <a:endParaRPr lang="en-US" sz="1500" dirty="0">
                        <a:latin typeface="Times New Roman" charset="0"/>
                        <a:ea typeface="Times New Roman" charset="0"/>
                        <a:cs typeface="Times New Roman" charset="0"/>
                      </a:endParaRPr>
                    </a:p>
                  </a:txBody>
                  <a:tcPr marL="0" marR="0" marT="0" marB="0" anchor="ctr">
                    <a:lnL w="0" cap="flat" cmpd="sng" algn="ctr">
                      <a:noFill/>
                    </a:lnL>
                    <a:lnR w="0" cap="flat" cmpd="sng" algn="ctr">
                      <a:noFill/>
                    </a:lnR>
                    <a:lnT w="0" cap="flat" cmpd="sng" algn="ctr">
                      <a:noFill/>
                    </a:lnT>
                    <a:lnB w="0" cap="flat" cmpd="sng" algn="ctr">
                      <a:noFill/>
                    </a:lnB>
                  </a:tcPr>
                </a:tc>
              </a:tr>
              <a:tr h="548640">
                <a:tc>
                  <a:txBody>
                    <a:bodyPr/>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Roll No.</a:t>
                      </a:r>
                      <a:endParaRPr lang="en-US" sz="1500" dirty="0">
                        <a:latin typeface="Times New Roman" charset="0"/>
                        <a:ea typeface="Times New Roman" charset="0"/>
                        <a:cs typeface="Times New Roman"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dirty="0">
                          <a:solidFill>
                            <a:schemeClr val="tx1"/>
                          </a:solidFill>
                          <a:latin typeface="Times New Roman" pitchFamily="34" charset="0"/>
                          <a:ea typeface="Times New Roman" pitchFamily="34" charset="-122"/>
                          <a:cs typeface="Times New Roman" pitchFamily="34" charset="-120"/>
                        </a:rPr>
                        <a:t>: CB302</a:t>
                      </a:r>
                      <a:endParaRPr lang="en-US" sz="1500" dirty="0">
                        <a:latin typeface="Times New Roman" charset="0"/>
                        <a:ea typeface="Times New Roman" charset="0"/>
                        <a:cs typeface="Times New Roman" charset="0"/>
                      </a:endParaRPr>
                    </a:p>
                  </a:txBody>
                  <a:tcPr marL="0" marR="0" marT="0" marB="0" anchor="ctr">
                    <a:lnL w="0" cap="flat" cmpd="sng" algn="ctr">
                      <a:noFill/>
                    </a:lnL>
                    <a:lnR w="0" cap="flat" cmpd="sng" algn="ctr">
                      <a:noFill/>
                    </a:lnR>
                    <a:lnT w="0" cap="flat" cmpd="sng" algn="ctr">
                      <a:noFill/>
                    </a:lnT>
                    <a:lnB w="0" cap="flat" cmpd="sng" algn="ctr">
                      <a:noFill/>
                    </a:lnB>
                  </a:tcPr>
                </a:tc>
              </a:tr>
              <a:tr h="548640">
                <a:tc>
                  <a:txBody>
                    <a:bodyPr/>
                    <a:lstStyle/>
                    <a:p>
                      <a:pPr indent="0" marL="0">
                        <a:buNone/>
                      </a:pPr>
                      <a:r>
                        <a:rPr lang="en-US" sz="1500" b="1" dirty="0">
                          <a:solidFill>
                            <a:schemeClr val="tx2"/>
                          </a:solidFill>
                          <a:latin typeface="Times New Roman" pitchFamily="34" charset="0"/>
                          <a:ea typeface="Times New Roman" pitchFamily="34" charset="-122"/>
                          <a:cs typeface="Times New Roman" pitchFamily="34" charset="-120"/>
                        </a:rPr>
                        <a:t>Subject</a:t>
                      </a:r>
                      <a:endParaRPr lang="en-US" sz="1500" dirty="0">
                        <a:latin typeface="Times New Roman" charset="0"/>
                        <a:ea typeface="Times New Roman" charset="0"/>
                        <a:cs typeface="Times New Roman"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dirty="0">
                          <a:solidFill>
                            <a:schemeClr val="tx1"/>
                          </a:solidFill>
                          <a:latin typeface="Times New Roman" pitchFamily="34" charset="0"/>
                          <a:ea typeface="Times New Roman" pitchFamily="34" charset="-122"/>
                          <a:cs typeface="Times New Roman" pitchFamily="34" charset="-120"/>
                        </a:rPr>
                        <a:t>: CCC</a:t>
                      </a:r>
                      <a:endParaRPr lang="en-US" sz="1500" dirty="0">
                        <a:latin typeface="Times New Roman" charset="0"/>
                        <a:ea typeface="Times New Roman" charset="0"/>
                        <a:cs typeface="Times New Roman" charset="0"/>
                      </a:endParaRPr>
                    </a:p>
                  </a:txBody>
                  <a:tcPr marL="0" marR="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9" name="Problem statement card"/>
          <p:cNvSpPr/>
          <p:nvPr/>
        </p:nvSpPr>
        <p:spPr>
          <a:xfrm>
            <a:off x="5577840" y="2880360"/>
            <a:ext cx="6035040" cy="3246120"/>
          </a:xfrm>
          <a:prstGeom prst="roundRect">
            <a:avLst>
              <a:gd name="adj" fmla="val 3380"/>
            </a:avLst>
          </a:prstGeom>
          <a:solidFill>
            <a:schemeClr val="accent6">
              <a:alpha val="10000"/>
            </a:schemeClr>
          </a:solidFill>
          <a:ln/>
        </p:spPr>
      </p:sp>
      <p:sp>
        <p:nvSpPr>
          <p:cNvPr id="10" name="Problem statement circle"/>
          <p:cNvSpPr/>
          <p:nvPr/>
        </p:nvSpPr>
        <p:spPr>
          <a:xfrm>
            <a:off x="5852160" y="3063240"/>
            <a:ext cx="502920" cy="502920"/>
          </a:xfrm>
          <a:prstGeom prst="ellipse">
            <a:avLst/>
          </a:prstGeom>
          <a:solidFill>
            <a:schemeClr val="accent6"/>
          </a:solidFill>
          <a:ln/>
        </p:spPr>
      </p:sp>
      <p:pic>
        <p:nvPicPr>
          <p:cNvPr id="11" name="Problem statement icon" descr="Problem statement">    </p:cNvPr>
          <p:cNvPicPr>
            <a:picLocks noChangeAspect="1"/>
          </p:cNvPicPr>
          <p:nvPr/>
        </p:nvPicPr>
        <p:blipFill>
          <a:blip r:embed="rId3"/>
          <a:stretch>
            <a:fillRect/>
          </a:stretch>
        </p:blipFill>
        <p:spPr>
          <a:xfrm>
            <a:off x="5977890" y="3188970"/>
            <a:ext cx="251460" cy="251460"/>
          </a:xfrm>
          <a:prstGeom prst="rect">
            <a:avLst/>
          </a:prstGeom>
        </p:spPr>
      </p:pic>
      <p:sp>
        <p:nvSpPr>
          <p:cNvPr id="12" name="Text 6"/>
          <p:cNvSpPr txBox="1"/>
          <p:nvPr/>
        </p:nvSpPr>
        <p:spPr>
          <a:xfrm>
            <a:off x="6492240" y="3063240"/>
            <a:ext cx="4846320" cy="502920"/>
          </a:xfrm>
          <a:prstGeom prst="rect">
            <a:avLst/>
          </a:prstGeom>
          <a:noFill/>
          <a:ln/>
        </p:spPr>
        <p:txBody>
          <a:bodyPr wrap="square" lIns="0" tIns="0" rIns="0" bIns="0" rtlCol="0" anchor="ctr"/>
          <a:lstStyle/>
          <a:p>
            <a:pPr indent="0" marL="0">
              <a:buNone/>
            </a:pPr>
            <a:r>
              <a:rPr lang="en-US" sz="1600" b="1" dirty="0">
                <a:solidFill>
                  <a:schemeClr val="accent6"/>
                </a:solidFill>
              </a:rPr>
              <a:t>PROBLEM STATEMENT</a:t>
            </a:r>
            <a:endParaRPr lang="en-US" sz="1600" dirty="0"/>
          </a:p>
        </p:txBody>
      </p:sp>
      <p:sp>
        <p:nvSpPr>
          <p:cNvPr id="13" name="Text 7"/>
          <p:cNvSpPr txBox="1"/>
          <p:nvPr/>
        </p:nvSpPr>
        <p:spPr>
          <a:xfrm>
            <a:off x="5852160" y="3703320"/>
            <a:ext cx="5532120" cy="2286000"/>
          </a:xfrm>
          <a:prstGeom prst="rect">
            <a:avLst/>
          </a:prstGeom>
          <a:noFill/>
          <a:ln/>
        </p:spPr>
        <p:txBody>
          <a:bodyPr wrap="square" lIns="0" tIns="0" rIns="0" bIns="0" rtlCol="0" anchor="t"/>
          <a:lstStyle/>
          <a:p>
            <a:pPr indent="0" marL="0">
              <a:buNone/>
            </a:pPr>
            <a:r>
              <a:rPr lang="en-US" sz="1600" dirty="0">
                <a:solidFill>
                  <a:schemeClr val="tx1"/>
                </a:solidFill>
              </a:rPr>
              <a:t>After a conference, meetup or talk, content teams spend hours transcribing audio, taking notes and rewriting the session into blogs, newsletters and social posts. This manual process is slow, inconsistent and expensive. EventAI compresses it into a single upload-and-review pass, using a multi-agent AI pipeline to extract topics, highlights and sentiment and generate grounded, publish-ready content.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1097280"/>
            <a:ext cx="6400800" cy="365760"/>
          </a:xfrm>
          <a:prstGeom prst="rect">
            <a:avLst/>
          </a:prstGeom>
          <a:noFill/>
          <a:ln/>
        </p:spPr>
        <p:txBody>
          <a:bodyPr wrap="square" lIns="0" tIns="0" rIns="0" bIns="0" rtlCol="0" anchor="ctr"/>
          <a:lstStyle/>
          <a:p>
            <a:pPr indent="0" marL="0">
              <a:buNone/>
            </a:pPr>
            <a:r>
              <a:rPr lang="en-US" sz="1400" b="1" spc="300" kern="0" dirty="0">
                <a:solidFill>
                  <a:srgbClr val="93C5FD"/>
                </a:solidFill>
              </a:rPr>
              <a:t>FINAL YEAR PROJECT 2026</a:t>
            </a:r>
            <a:endParaRPr lang="en-US" sz="1400" dirty="0"/>
          </a:p>
        </p:txBody>
      </p:sp>
      <p:sp>
        <p:nvSpPr>
          <p:cNvPr id="3" name="Text 1"/>
          <p:cNvSpPr txBox="1"/>
          <p:nvPr/>
        </p:nvSpPr>
        <p:spPr>
          <a:xfrm>
            <a:off x="731520" y="1554480"/>
            <a:ext cx="6858000" cy="1097280"/>
          </a:xfrm>
          <a:prstGeom prst="rect">
            <a:avLst/>
          </a:prstGeom>
          <a:noFill/>
          <a:ln/>
        </p:spPr>
        <p:txBody>
          <a:bodyPr wrap="square" lIns="0" tIns="0" rIns="0" bIns="0" rtlCol="0" anchor="ctr"/>
          <a:lstStyle/>
          <a:p>
            <a:pPr indent="0" marL="0">
              <a:buNone/>
            </a:pPr>
            <a:r>
              <a:rPr lang="en-US" sz="6600" b="1" dirty="0">
                <a:solidFill>
                  <a:schemeClr val="bg1"/>
                </a:solidFill>
              </a:rPr>
              <a:t>EventAI</a:t>
            </a:r>
            <a:endParaRPr lang="en-US" sz="6600" dirty="0"/>
          </a:p>
        </p:txBody>
      </p:sp>
      <p:sp>
        <p:nvSpPr>
          <p:cNvPr id="4" name="Text 2"/>
          <p:cNvSpPr txBox="1"/>
          <p:nvPr/>
        </p:nvSpPr>
        <p:spPr>
          <a:xfrm>
            <a:off x="731520" y="2651760"/>
            <a:ext cx="6858000" cy="548640"/>
          </a:xfrm>
          <a:prstGeom prst="rect">
            <a:avLst/>
          </a:prstGeom>
          <a:noFill/>
          <a:ln/>
        </p:spPr>
        <p:txBody>
          <a:bodyPr wrap="square" lIns="0" tIns="0" rIns="0" bIns="0" rtlCol="0" anchor="ctr"/>
          <a:lstStyle/>
          <a:p>
            <a:pPr indent="0" marL="0">
              <a:buNone/>
            </a:pPr>
            <a:r>
              <a:rPr lang="en-US" sz="2400" dirty="0">
                <a:solidFill>
                  <a:srgbClr val="C7D2FE"/>
                </a:solidFill>
              </a:rPr>
              <a:t>Intelligent Event Recording → Content Generation</a:t>
            </a:r>
            <a:endParaRPr lang="en-US" sz="2400" dirty="0"/>
          </a:p>
        </p:txBody>
      </p:sp>
      <p:sp>
        <p:nvSpPr>
          <p:cNvPr id="5" name="Text 3"/>
          <p:cNvSpPr txBox="1"/>
          <p:nvPr/>
        </p:nvSpPr>
        <p:spPr>
          <a:xfrm>
            <a:off x="731520" y="3474720"/>
            <a:ext cx="6583680" cy="1188720"/>
          </a:xfrm>
          <a:prstGeom prst="rect">
            <a:avLst/>
          </a:prstGeom>
          <a:noFill/>
          <a:ln/>
        </p:spPr>
        <p:txBody>
          <a:bodyPr wrap="square" lIns="0" tIns="0" rIns="0" bIns="0" rtlCol="0" anchor="t"/>
          <a:lstStyle/>
          <a:p>
            <a:pPr indent="0" marL="0">
              <a:buNone/>
            </a:pPr>
            <a:r>
              <a:rPr lang="en-US" sz="1600" dirty="0">
                <a:solidFill>
                  <a:srgbClr val="E2E8F0"/>
                </a:solidFill>
              </a:rPr>
              <a:t>Upload a talk, meetup or conference recording. A LangGraph multi-agent pipeline transcribes, analyses and turns it into publish-ready blogs, social posts, newsletters and flyers, approved by a human before release.</a:t>
            </a:r>
            <a:endParaRPr lang="en-US" sz="1600" dirty="0"/>
          </a:p>
        </p:txBody>
      </p:sp>
      <p:sp>
        <p:nvSpPr>
          <p:cNvPr id="6" name="Text 4"/>
          <p:cNvSpPr txBox="1"/>
          <p:nvPr/>
        </p:nvSpPr>
        <p:spPr>
          <a:xfrm>
            <a:off x="731520" y="5029200"/>
            <a:ext cx="6858000" cy="365760"/>
          </a:xfrm>
          <a:prstGeom prst="rect">
            <a:avLst/>
          </a:prstGeom>
          <a:noFill/>
          <a:ln/>
        </p:spPr>
        <p:txBody>
          <a:bodyPr wrap="square" lIns="0" tIns="0" rIns="0" bIns="0" rtlCol="0" anchor="ctr"/>
          <a:lstStyle/>
          <a:p>
            <a:pPr indent="0" marL="0">
              <a:buNone/>
            </a:pPr>
            <a:r>
              <a:rPr lang="en-US" sz="1400" b="1" dirty="0">
                <a:solidFill>
                  <a:srgbClr val="FCD34D"/>
                </a:solidFill>
              </a:rPr>
              <a:t>LangGraph  •  Multi-Agent AI  •  Selective RAG  •  Human-in-the-Loop</a:t>
            </a:r>
            <a:endParaRPr lang="en-US" sz="1400" dirty="0"/>
          </a:p>
        </p:txBody>
      </p:sp>
      <p:sp>
        <p:nvSpPr>
          <p:cNvPr id="7" name="Text 5"/>
          <p:cNvSpPr txBox="1"/>
          <p:nvPr/>
        </p:nvSpPr>
        <p:spPr>
          <a:xfrm>
            <a:off x="731520" y="5943600"/>
            <a:ext cx="6858000" cy="320040"/>
          </a:xfrm>
          <a:prstGeom prst="rect">
            <a:avLst/>
          </a:prstGeom>
          <a:noFill/>
          <a:ln/>
        </p:spPr>
        <p:txBody>
          <a:bodyPr wrap="square" lIns="0" tIns="0" rIns="0" bIns="0" rtlCol="0" anchor="ctr"/>
          <a:lstStyle/>
          <a:p>
            <a:pPr indent="0" marL="0">
              <a:buNone/>
            </a:pPr>
            <a:r>
              <a:rPr lang="en-US" sz="1200" dirty="0">
                <a:solidFill>
                  <a:srgbClr val="94A3B8"/>
                </a:solidFill>
              </a:rPr>
              <a:t>github.com/sakshijadhav2005/Final_year_project2026</a:t>
            </a:r>
            <a:endParaRPr lang="en-US" sz="1200" dirty="0"/>
          </a:p>
        </p:txBody>
      </p:sp>
      <p:sp>
        <p:nvSpPr>
          <p:cNvPr id="8" name="Event recording circle"/>
          <p:cNvSpPr/>
          <p:nvPr/>
        </p:nvSpPr>
        <p:spPr>
          <a:xfrm>
            <a:off x="8503920" y="1280160"/>
            <a:ext cx="1005840" cy="1005840"/>
          </a:xfrm>
          <a:prstGeom prst="ellipse">
            <a:avLst/>
          </a:prstGeom>
          <a:solidFill>
            <a:schemeClr val="accent1"/>
          </a:solidFill>
          <a:ln/>
        </p:spPr>
      </p:sp>
      <p:pic>
        <p:nvPicPr>
          <p:cNvPr id="9" name="Event recording icon" descr="Event recording">    </p:cNvPr>
          <p:cNvPicPr>
            <a:picLocks noChangeAspect="1"/>
          </p:cNvPicPr>
          <p:nvPr/>
        </p:nvPicPr>
        <p:blipFill>
          <a:blip r:embed="rId1"/>
          <a:stretch>
            <a:fillRect/>
          </a:stretch>
        </p:blipFill>
        <p:spPr>
          <a:xfrm>
            <a:off x="8755380" y="1531620"/>
            <a:ext cx="502920" cy="502920"/>
          </a:xfrm>
          <a:prstGeom prst="rect">
            <a:avLst/>
          </a:prstGeom>
        </p:spPr>
      </p:pic>
      <p:sp>
        <p:nvSpPr>
          <p:cNvPr id="10" name="Text 7"/>
          <p:cNvSpPr txBox="1"/>
          <p:nvPr/>
        </p:nvSpPr>
        <p:spPr>
          <a:xfrm>
            <a:off x="9692640" y="1554480"/>
            <a:ext cx="2194560" cy="457200"/>
          </a:xfrm>
          <a:prstGeom prst="rect">
            <a:avLst/>
          </a:prstGeom>
          <a:noFill/>
          <a:ln/>
        </p:spPr>
        <p:txBody>
          <a:bodyPr wrap="square" lIns="0" tIns="0" rIns="0" bIns="0" rtlCol="0" anchor="ctr"/>
          <a:lstStyle/>
          <a:p>
            <a:pPr indent="0" marL="0">
              <a:buNone/>
            </a:pPr>
            <a:r>
              <a:rPr lang="en-US" sz="1600" b="1" dirty="0">
                <a:solidFill>
                  <a:schemeClr val="bg1"/>
                </a:solidFill>
              </a:rPr>
              <a:t>Event recording</a:t>
            </a:r>
            <a:endParaRPr lang="en-US" sz="1600" dirty="0"/>
          </a:p>
        </p:txBody>
      </p:sp>
      <p:sp>
        <p:nvSpPr>
          <p:cNvPr id="11" name="flow arrow 1"/>
          <p:cNvSpPr/>
          <p:nvPr/>
        </p:nvSpPr>
        <p:spPr>
          <a:xfrm>
            <a:off x="9006840" y="2377440"/>
            <a:ext cx="0" cy="411480"/>
          </a:xfrm>
          <a:prstGeom prst="line">
            <a:avLst/>
          </a:prstGeom>
          <a:noFill/>
          <a:ln w="25400">
            <a:solidFill>
              <a:srgbClr val="64748B"/>
            </a:solidFill>
            <a:prstDash val="solid"/>
            <a:tailEnd type="triangle"/>
          </a:ln>
        </p:spPr>
      </p:sp>
      <p:sp>
        <p:nvSpPr>
          <p:cNvPr id="12" name="Multi-agent pipeline circle"/>
          <p:cNvSpPr/>
          <p:nvPr/>
        </p:nvSpPr>
        <p:spPr>
          <a:xfrm>
            <a:off x="8503920" y="2880360"/>
            <a:ext cx="1005840" cy="1005840"/>
          </a:xfrm>
          <a:prstGeom prst="ellipse">
            <a:avLst/>
          </a:prstGeom>
          <a:solidFill>
            <a:schemeClr val="accent3"/>
          </a:solidFill>
          <a:ln/>
        </p:spPr>
      </p:sp>
      <p:pic>
        <p:nvPicPr>
          <p:cNvPr id="13" name="Multi-agent pipeline icon" descr="Multi-agent pipeline">    </p:cNvPr>
          <p:cNvPicPr>
            <a:picLocks noChangeAspect="1"/>
          </p:cNvPicPr>
          <p:nvPr/>
        </p:nvPicPr>
        <p:blipFill>
          <a:blip r:embed="rId2"/>
          <a:stretch>
            <a:fillRect/>
          </a:stretch>
        </p:blipFill>
        <p:spPr>
          <a:xfrm>
            <a:off x="8755380" y="3131820"/>
            <a:ext cx="502920" cy="502920"/>
          </a:xfrm>
          <a:prstGeom prst="rect">
            <a:avLst/>
          </a:prstGeom>
        </p:spPr>
      </p:pic>
      <p:sp>
        <p:nvSpPr>
          <p:cNvPr id="14" name="Text 10"/>
          <p:cNvSpPr txBox="1"/>
          <p:nvPr/>
        </p:nvSpPr>
        <p:spPr>
          <a:xfrm>
            <a:off x="9692640" y="3154680"/>
            <a:ext cx="2194560" cy="457200"/>
          </a:xfrm>
          <a:prstGeom prst="rect">
            <a:avLst/>
          </a:prstGeom>
          <a:noFill/>
          <a:ln/>
        </p:spPr>
        <p:txBody>
          <a:bodyPr wrap="square" lIns="0" tIns="0" rIns="0" bIns="0" rtlCol="0" anchor="ctr"/>
          <a:lstStyle/>
          <a:p>
            <a:pPr indent="0" marL="0">
              <a:buNone/>
            </a:pPr>
            <a:r>
              <a:rPr lang="en-US" sz="1600" b="1" dirty="0">
                <a:solidFill>
                  <a:schemeClr val="bg1"/>
                </a:solidFill>
              </a:rPr>
              <a:t>Multi-agent pipeline</a:t>
            </a:r>
            <a:endParaRPr lang="en-US" sz="1600" dirty="0"/>
          </a:p>
        </p:txBody>
      </p:sp>
      <p:sp>
        <p:nvSpPr>
          <p:cNvPr id="15" name="flow arrow 2"/>
          <p:cNvSpPr/>
          <p:nvPr/>
        </p:nvSpPr>
        <p:spPr>
          <a:xfrm>
            <a:off x="9006840" y="3977640"/>
            <a:ext cx="0" cy="411480"/>
          </a:xfrm>
          <a:prstGeom prst="line">
            <a:avLst/>
          </a:prstGeom>
          <a:noFill/>
          <a:ln w="25400">
            <a:solidFill>
              <a:srgbClr val="64748B"/>
            </a:solidFill>
            <a:prstDash val="solid"/>
            <a:tailEnd type="triangle"/>
          </a:ln>
        </p:spPr>
      </p:sp>
      <p:sp>
        <p:nvSpPr>
          <p:cNvPr id="16" name="Publish-ready content circle"/>
          <p:cNvSpPr/>
          <p:nvPr/>
        </p:nvSpPr>
        <p:spPr>
          <a:xfrm>
            <a:off x="8503920" y="4480560"/>
            <a:ext cx="1005840" cy="1005840"/>
          </a:xfrm>
          <a:prstGeom prst="ellipse">
            <a:avLst/>
          </a:prstGeom>
          <a:solidFill>
            <a:schemeClr val="accent4"/>
          </a:solidFill>
          <a:ln/>
        </p:spPr>
      </p:sp>
      <p:pic>
        <p:nvPicPr>
          <p:cNvPr id="17" name="Publish-ready content icon" descr="Publish-ready content">    </p:cNvPr>
          <p:cNvPicPr>
            <a:picLocks noChangeAspect="1"/>
          </p:cNvPicPr>
          <p:nvPr/>
        </p:nvPicPr>
        <p:blipFill>
          <a:blip r:embed="rId3"/>
          <a:stretch>
            <a:fillRect/>
          </a:stretch>
        </p:blipFill>
        <p:spPr>
          <a:xfrm>
            <a:off x="8755380" y="4732020"/>
            <a:ext cx="502920" cy="502920"/>
          </a:xfrm>
          <a:prstGeom prst="rect">
            <a:avLst/>
          </a:prstGeom>
        </p:spPr>
      </p:pic>
      <p:sp>
        <p:nvSpPr>
          <p:cNvPr id="18" name="Text 13"/>
          <p:cNvSpPr txBox="1"/>
          <p:nvPr/>
        </p:nvSpPr>
        <p:spPr>
          <a:xfrm>
            <a:off x="9692640" y="4754880"/>
            <a:ext cx="2194560" cy="457200"/>
          </a:xfrm>
          <a:prstGeom prst="rect">
            <a:avLst/>
          </a:prstGeom>
          <a:noFill/>
          <a:ln/>
        </p:spPr>
        <p:txBody>
          <a:bodyPr wrap="square" lIns="0" tIns="0" rIns="0" bIns="0" rtlCol="0" anchor="ctr"/>
          <a:lstStyle/>
          <a:p>
            <a:pPr indent="0" marL="0">
              <a:buNone/>
            </a:pPr>
            <a:r>
              <a:rPr lang="en-US" sz="1600" b="1" dirty="0">
                <a:solidFill>
                  <a:schemeClr val="bg1"/>
                </a:solidFill>
              </a:rPr>
              <a:t>Publish-ready content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Problem, Aim &amp; Objectives</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Why EventAI exists and what it sets out to achieve</a:t>
            </a:r>
            <a:endParaRPr lang="en-US" sz="1400" dirty="0"/>
          </a:p>
        </p:txBody>
      </p:sp>
      <p:sp>
        <p:nvSpPr>
          <p:cNvPr id="4" name="Problem card"/>
          <p:cNvSpPr/>
          <p:nvPr/>
        </p:nvSpPr>
        <p:spPr>
          <a:xfrm>
            <a:off x="548640" y="1554480"/>
            <a:ext cx="5394960" cy="2148840"/>
          </a:xfrm>
          <a:prstGeom prst="roundRect">
            <a:avLst>
              <a:gd name="adj" fmla="val 5106"/>
            </a:avLst>
          </a:prstGeom>
          <a:solidFill>
            <a:schemeClr val="accent6">
              <a:alpha val="10000"/>
            </a:schemeClr>
          </a:solidFill>
          <a:ln/>
        </p:spPr>
      </p:sp>
      <p:sp>
        <p:nvSpPr>
          <p:cNvPr id="5" name="Problem circle"/>
          <p:cNvSpPr/>
          <p:nvPr/>
        </p:nvSpPr>
        <p:spPr>
          <a:xfrm>
            <a:off x="777240" y="1783080"/>
            <a:ext cx="548640" cy="548640"/>
          </a:xfrm>
          <a:prstGeom prst="ellipse">
            <a:avLst/>
          </a:prstGeom>
          <a:solidFill>
            <a:schemeClr val="accent6"/>
          </a:solidFill>
          <a:ln/>
        </p:spPr>
      </p:sp>
      <p:pic>
        <p:nvPicPr>
          <p:cNvPr id="6" name="Problem icon" descr="Problem">    </p:cNvPr>
          <p:cNvPicPr>
            <a:picLocks noChangeAspect="1"/>
          </p:cNvPicPr>
          <p:nvPr/>
        </p:nvPicPr>
        <p:blipFill>
          <a:blip r:embed="rId1"/>
          <a:stretch>
            <a:fillRect/>
          </a:stretch>
        </p:blipFill>
        <p:spPr>
          <a:xfrm>
            <a:off x="914400" y="1920240"/>
            <a:ext cx="274320" cy="274320"/>
          </a:xfrm>
          <a:prstGeom prst="rect">
            <a:avLst/>
          </a:prstGeom>
        </p:spPr>
      </p:pic>
      <p:sp>
        <p:nvSpPr>
          <p:cNvPr id="7" name="Text 4"/>
          <p:cNvSpPr txBox="1"/>
          <p:nvPr/>
        </p:nvSpPr>
        <p:spPr>
          <a:xfrm>
            <a:off x="1463040" y="1783080"/>
            <a:ext cx="4114800" cy="548640"/>
          </a:xfrm>
          <a:prstGeom prst="rect">
            <a:avLst/>
          </a:prstGeom>
          <a:noFill/>
          <a:ln/>
        </p:spPr>
        <p:txBody>
          <a:bodyPr wrap="square" lIns="0" tIns="0" rIns="0" bIns="0" rtlCol="0" anchor="ctr"/>
          <a:lstStyle/>
          <a:p>
            <a:pPr indent="0" marL="0">
              <a:buNone/>
            </a:pPr>
            <a:r>
              <a:rPr lang="en-US" sz="1800" b="1" dirty="0">
                <a:solidFill>
                  <a:schemeClr val="accent6"/>
                </a:solidFill>
              </a:rPr>
              <a:t>PROBLEM</a:t>
            </a:r>
            <a:endParaRPr lang="en-US" sz="1800" dirty="0"/>
          </a:p>
        </p:txBody>
      </p:sp>
      <p:sp>
        <p:nvSpPr>
          <p:cNvPr id="8" name="Text 5"/>
          <p:cNvSpPr txBox="1"/>
          <p:nvPr/>
        </p:nvSpPr>
        <p:spPr>
          <a:xfrm>
            <a:off x="777240" y="2468880"/>
            <a:ext cx="4937760" cy="1143000"/>
          </a:xfrm>
          <a:prstGeom prst="rect">
            <a:avLst/>
          </a:prstGeom>
          <a:noFill/>
          <a:ln/>
        </p:spPr>
        <p:txBody>
          <a:bodyPr wrap="square" lIns="0" tIns="0" rIns="0" bIns="0" rtlCol="0" anchor="t"/>
          <a:lstStyle/>
          <a:p>
            <a:pPr indent="0" marL="0">
              <a:buNone/>
            </a:pPr>
            <a:r>
              <a:rPr lang="en-US" sz="1400" dirty="0">
                <a:solidFill>
                  <a:schemeClr val="tx1"/>
                </a:solidFill>
              </a:rPr>
              <a:t>After a conference or meetup, content teams spend hours transcribing audio, taking notes and rewriting the same talk into blogs, LinkedIn posts and newsletters. The process is slow, inconsistent and expensive.</a:t>
            </a:r>
            <a:endParaRPr lang="en-US" sz="1400" dirty="0"/>
          </a:p>
        </p:txBody>
      </p:sp>
      <p:sp>
        <p:nvSpPr>
          <p:cNvPr id="9" name="Aim card"/>
          <p:cNvSpPr/>
          <p:nvPr/>
        </p:nvSpPr>
        <p:spPr>
          <a:xfrm>
            <a:off x="6263640" y="1554480"/>
            <a:ext cx="5349240" cy="2148840"/>
          </a:xfrm>
          <a:prstGeom prst="roundRect">
            <a:avLst>
              <a:gd name="adj" fmla="val 5106"/>
            </a:avLst>
          </a:prstGeom>
          <a:solidFill>
            <a:schemeClr val="accent1">
              <a:alpha val="10000"/>
            </a:schemeClr>
          </a:solidFill>
          <a:ln/>
        </p:spPr>
      </p:sp>
      <p:sp>
        <p:nvSpPr>
          <p:cNvPr id="10" name="Aim circle"/>
          <p:cNvSpPr/>
          <p:nvPr/>
        </p:nvSpPr>
        <p:spPr>
          <a:xfrm>
            <a:off x="6492240" y="1783080"/>
            <a:ext cx="548640" cy="548640"/>
          </a:xfrm>
          <a:prstGeom prst="ellipse">
            <a:avLst/>
          </a:prstGeom>
          <a:solidFill>
            <a:schemeClr val="accent1"/>
          </a:solidFill>
          <a:ln/>
        </p:spPr>
      </p:sp>
      <p:pic>
        <p:nvPicPr>
          <p:cNvPr id="11" name="Aim icon" descr="Aim">    </p:cNvPr>
          <p:cNvPicPr>
            <a:picLocks noChangeAspect="1"/>
          </p:cNvPicPr>
          <p:nvPr/>
        </p:nvPicPr>
        <p:blipFill>
          <a:blip r:embed="rId2"/>
          <a:stretch>
            <a:fillRect/>
          </a:stretch>
        </p:blipFill>
        <p:spPr>
          <a:xfrm>
            <a:off x="6629400" y="1920240"/>
            <a:ext cx="274320" cy="274320"/>
          </a:xfrm>
          <a:prstGeom prst="rect">
            <a:avLst/>
          </a:prstGeom>
        </p:spPr>
      </p:pic>
      <p:sp>
        <p:nvSpPr>
          <p:cNvPr id="12" name="Text 8"/>
          <p:cNvSpPr txBox="1"/>
          <p:nvPr/>
        </p:nvSpPr>
        <p:spPr>
          <a:xfrm>
            <a:off x="7178040" y="1783080"/>
            <a:ext cx="4114800" cy="548640"/>
          </a:xfrm>
          <a:prstGeom prst="rect">
            <a:avLst/>
          </a:prstGeom>
          <a:noFill/>
          <a:ln/>
        </p:spPr>
        <p:txBody>
          <a:bodyPr wrap="square" lIns="0" tIns="0" rIns="0" bIns="0" rtlCol="0" anchor="ctr"/>
          <a:lstStyle/>
          <a:p>
            <a:pPr indent="0" marL="0">
              <a:buNone/>
            </a:pPr>
            <a:r>
              <a:rPr lang="en-US" sz="1800" b="1" dirty="0">
                <a:solidFill>
                  <a:schemeClr val="accent1"/>
                </a:solidFill>
              </a:rPr>
              <a:t>AIM</a:t>
            </a:r>
            <a:endParaRPr lang="en-US" sz="1800" dirty="0"/>
          </a:p>
        </p:txBody>
      </p:sp>
      <p:sp>
        <p:nvSpPr>
          <p:cNvPr id="13" name="Text 9"/>
          <p:cNvSpPr txBox="1"/>
          <p:nvPr/>
        </p:nvSpPr>
        <p:spPr>
          <a:xfrm>
            <a:off x="6492240" y="2468880"/>
            <a:ext cx="4892040" cy="1143000"/>
          </a:xfrm>
          <a:prstGeom prst="rect">
            <a:avLst/>
          </a:prstGeom>
          <a:noFill/>
          <a:ln/>
        </p:spPr>
        <p:txBody>
          <a:bodyPr wrap="square" lIns="0" tIns="0" rIns="0" bIns="0" rtlCol="0" anchor="t"/>
          <a:lstStyle/>
          <a:p>
            <a:pPr indent="0" marL="0">
              <a:buNone/>
            </a:pPr>
            <a:r>
              <a:rPr lang="en-US" sz="1400" b="1" dirty="0">
                <a:solidFill>
                  <a:schemeClr val="tx2"/>
                </a:solidFill>
              </a:rPr>
              <a:t>Build a job-based AI content factory that compresses the whole post-event workflow into one upload and one human review pass, producing accurate, grounded, publish-ready content.</a:t>
            </a:r>
            <a:endParaRPr lang="en-US" sz="1400" dirty="0"/>
          </a:p>
        </p:txBody>
      </p:sp>
      <p:sp>
        <p:nvSpPr>
          <p:cNvPr id="14" name="Text 10"/>
          <p:cNvSpPr txBox="1"/>
          <p:nvPr/>
        </p:nvSpPr>
        <p:spPr>
          <a:xfrm>
            <a:off x="548640" y="3931920"/>
            <a:ext cx="5486400" cy="365760"/>
          </a:xfrm>
          <a:prstGeom prst="rect">
            <a:avLst/>
          </a:prstGeom>
          <a:noFill/>
          <a:ln/>
        </p:spPr>
        <p:txBody>
          <a:bodyPr wrap="square" lIns="0" tIns="0" rIns="0" bIns="0" rtlCol="0" anchor="ctr"/>
          <a:lstStyle/>
          <a:p>
            <a:pPr indent="0" marL="0">
              <a:buNone/>
            </a:pPr>
            <a:r>
              <a:rPr lang="en-US" sz="1800" b="1" dirty="0">
                <a:solidFill>
                  <a:schemeClr val="accent3"/>
                </a:solidFill>
              </a:rPr>
              <a:t>OBJECTIVES</a:t>
            </a:r>
            <a:endParaRPr lang="en-US" sz="1800" dirty="0"/>
          </a:p>
        </p:txBody>
      </p:sp>
      <p:sp>
        <p:nvSpPr>
          <p:cNvPr id="15" name="Objective 1"/>
          <p:cNvSpPr/>
          <p:nvPr/>
        </p:nvSpPr>
        <p:spPr>
          <a:xfrm>
            <a:off x="548640" y="4389120"/>
            <a:ext cx="2066544" cy="1783080"/>
          </a:xfrm>
          <a:prstGeom prst="roundRect">
            <a:avLst>
              <a:gd name="adj" fmla="val 6154"/>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6" name="Ingest &amp; transcribe circle"/>
          <p:cNvSpPr/>
          <p:nvPr/>
        </p:nvSpPr>
        <p:spPr>
          <a:xfrm>
            <a:off x="731520" y="4572000"/>
            <a:ext cx="457200" cy="457200"/>
          </a:xfrm>
          <a:prstGeom prst="ellipse">
            <a:avLst/>
          </a:prstGeom>
          <a:solidFill>
            <a:schemeClr val="accent1"/>
          </a:solidFill>
          <a:ln/>
        </p:spPr>
      </p:sp>
      <p:pic>
        <p:nvPicPr>
          <p:cNvPr id="17" name="Ingest &amp; transcribe icon" descr="Ingest &amp; transcribe">    </p:cNvPr>
          <p:cNvPicPr>
            <a:picLocks noChangeAspect="1"/>
          </p:cNvPicPr>
          <p:nvPr/>
        </p:nvPicPr>
        <p:blipFill>
          <a:blip r:embed="rId3"/>
          <a:stretch>
            <a:fillRect/>
          </a:stretch>
        </p:blipFill>
        <p:spPr>
          <a:xfrm>
            <a:off x="845820" y="4686300"/>
            <a:ext cx="228600" cy="228600"/>
          </a:xfrm>
          <a:prstGeom prst="rect">
            <a:avLst/>
          </a:prstGeom>
        </p:spPr>
      </p:pic>
      <p:sp>
        <p:nvSpPr>
          <p:cNvPr id="18" name="Text 13"/>
          <p:cNvSpPr txBox="1"/>
          <p:nvPr/>
        </p:nvSpPr>
        <p:spPr>
          <a:xfrm>
            <a:off x="731520" y="5120640"/>
            <a:ext cx="1700784" cy="320040"/>
          </a:xfrm>
          <a:prstGeom prst="rect">
            <a:avLst/>
          </a:prstGeom>
          <a:noFill/>
          <a:ln/>
        </p:spPr>
        <p:txBody>
          <a:bodyPr wrap="square" lIns="0" tIns="0" rIns="0" bIns="0" rtlCol="0" anchor="ctr"/>
          <a:lstStyle/>
          <a:p>
            <a:pPr indent="0" marL="0">
              <a:buNone/>
            </a:pPr>
            <a:r>
              <a:rPr lang="en-US" sz="1400" b="1" dirty="0">
                <a:solidFill>
                  <a:schemeClr val="tx2"/>
                </a:solidFill>
              </a:rPr>
              <a:t>Ingest &amp; transcribe</a:t>
            </a:r>
            <a:endParaRPr lang="en-US" sz="1400" dirty="0"/>
          </a:p>
        </p:txBody>
      </p:sp>
      <p:sp>
        <p:nvSpPr>
          <p:cNvPr id="19" name="Text 14"/>
          <p:cNvSpPr txBox="1"/>
          <p:nvPr/>
        </p:nvSpPr>
        <p:spPr>
          <a:xfrm>
            <a:off x="731520" y="5440680"/>
            <a:ext cx="1700784" cy="640080"/>
          </a:xfrm>
          <a:prstGeom prst="rect">
            <a:avLst/>
          </a:prstGeom>
          <a:noFill/>
          <a:ln/>
        </p:spPr>
        <p:txBody>
          <a:bodyPr wrap="square" lIns="0" tIns="0" rIns="0" bIns="0" rtlCol="0" anchor="t"/>
          <a:lstStyle/>
          <a:p>
            <a:pPr indent="0" marL="0">
              <a:buNone/>
            </a:pPr>
            <a:r>
              <a:rPr lang="en-US" sz="1200" dirty="0">
                <a:solidFill>
                  <a:schemeClr val="tx1"/>
                </a:solidFill>
              </a:rPr>
              <a:t>Validate and transcribe audio, video or text</a:t>
            </a:r>
            <a:endParaRPr lang="en-US" sz="1200" dirty="0"/>
          </a:p>
        </p:txBody>
      </p:sp>
      <p:sp>
        <p:nvSpPr>
          <p:cNvPr id="20" name="Objective 2"/>
          <p:cNvSpPr/>
          <p:nvPr/>
        </p:nvSpPr>
        <p:spPr>
          <a:xfrm>
            <a:off x="2798064" y="4389120"/>
            <a:ext cx="2066544" cy="1783080"/>
          </a:xfrm>
          <a:prstGeom prst="roundRect">
            <a:avLst>
              <a:gd name="adj" fmla="val 6154"/>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21" name="Understand the talk circle"/>
          <p:cNvSpPr/>
          <p:nvPr/>
        </p:nvSpPr>
        <p:spPr>
          <a:xfrm>
            <a:off x="2980944" y="4572000"/>
            <a:ext cx="457200" cy="457200"/>
          </a:xfrm>
          <a:prstGeom prst="ellipse">
            <a:avLst/>
          </a:prstGeom>
          <a:solidFill>
            <a:schemeClr val="accent3"/>
          </a:solidFill>
          <a:ln/>
        </p:spPr>
      </p:sp>
      <p:pic>
        <p:nvPicPr>
          <p:cNvPr id="22" name="Understand the talk icon" descr="Understand the talk">    </p:cNvPr>
          <p:cNvPicPr>
            <a:picLocks noChangeAspect="1"/>
          </p:cNvPicPr>
          <p:nvPr/>
        </p:nvPicPr>
        <p:blipFill>
          <a:blip r:embed="rId4"/>
          <a:stretch>
            <a:fillRect/>
          </a:stretch>
        </p:blipFill>
        <p:spPr>
          <a:xfrm>
            <a:off x="3095244" y="4686300"/>
            <a:ext cx="228600" cy="228600"/>
          </a:xfrm>
          <a:prstGeom prst="rect">
            <a:avLst/>
          </a:prstGeom>
        </p:spPr>
      </p:pic>
      <p:sp>
        <p:nvSpPr>
          <p:cNvPr id="23" name="Text 17"/>
          <p:cNvSpPr txBox="1"/>
          <p:nvPr/>
        </p:nvSpPr>
        <p:spPr>
          <a:xfrm>
            <a:off x="2980944" y="5120640"/>
            <a:ext cx="1700784" cy="320040"/>
          </a:xfrm>
          <a:prstGeom prst="rect">
            <a:avLst/>
          </a:prstGeom>
          <a:noFill/>
          <a:ln/>
        </p:spPr>
        <p:txBody>
          <a:bodyPr wrap="square" lIns="0" tIns="0" rIns="0" bIns="0" rtlCol="0" anchor="ctr"/>
          <a:lstStyle/>
          <a:p>
            <a:pPr indent="0" marL="0">
              <a:buNone/>
            </a:pPr>
            <a:r>
              <a:rPr lang="en-US" sz="1400" b="1" dirty="0">
                <a:solidFill>
                  <a:schemeClr val="tx2"/>
                </a:solidFill>
              </a:rPr>
              <a:t>Understand the talk</a:t>
            </a:r>
            <a:endParaRPr lang="en-US" sz="1400" dirty="0"/>
          </a:p>
        </p:txBody>
      </p:sp>
      <p:sp>
        <p:nvSpPr>
          <p:cNvPr id="24" name="Text 18"/>
          <p:cNvSpPr txBox="1"/>
          <p:nvPr/>
        </p:nvSpPr>
        <p:spPr>
          <a:xfrm>
            <a:off x="2980944" y="5440680"/>
            <a:ext cx="1700784" cy="640080"/>
          </a:xfrm>
          <a:prstGeom prst="rect">
            <a:avLst/>
          </a:prstGeom>
          <a:noFill/>
          <a:ln/>
        </p:spPr>
        <p:txBody>
          <a:bodyPr wrap="square" lIns="0" tIns="0" rIns="0" bIns="0" rtlCol="0" anchor="t"/>
          <a:lstStyle/>
          <a:p>
            <a:pPr indent="0" marL="0">
              <a:buNone/>
            </a:pPr>
            <a:r>
              <a:rPr lang="en-US" sz="1200" dirty="0">
                <a:solidFill>
                  <a:schemeClr val="tx1"/>
                </a:solidFill>
              </a:rPr>
              <a:t>Extract topics, highlights, speakers, sentiment</a:t>
            </a:r>
            <a:endParaRPr lang="en-US" sz="1200" dirty="0"/>
          </a:p>
        </p:txBody>
      </p:sp>
      <p:sp>
        <p:nvSpPr>
          <p:cNvPr id="25" name="Objective 3"/>
          <p:cNvSpPr/>
          <p:nvPr/>
        </p:nvSpPr>
        <p:spPr>
          <a:xfrm>
            <a:off x="5047488" y="4389120"/>
            <a:ext cx="2066544" cy="1783080"/>
          </a:xfrm>
          <a:prstGeom prst="roundRect">
            <a:avLst>
              <a:gd name="adj" fmla="val 6154"/>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26" name="Generate content circle"/>
          <p:cNvSpPr/>
          <p:nvPr/>
        </p:nvSpPr>
        <p:spPr>
          <a:xfrm>
            <a:off x="5230368" y="4572000"/>
            <a:ext cx="457200" cy="457200"/>
          </a:xfrm>
          <a:prstGeom prst="ellipse">
            <a:avLst/>
          </a:prstGeom>
          <a:solidFill>
            <a:schemeClr val="accent2"/>
          </a:solidFill>
          <a:ln/>
        </p:spPr>
      </p:sp>
      <p:pic>
        <p:nvPicPr>
          <p:cNvPr id="27" name="Generate content icon" descr="Generate content">    </p:cNvPr>
          <p:cNvPicPr>
            <a:picLocks noChangeAspect="1"/>
          </p:cNvPicPr>
          <p:nvPr/>
        </p:nvPicPr>
        <p:blipFill>
          <a:blip r:embed="rId5"/>
          <a:stretch>
            <a:fillRect/>
          </a:stretch>
        </p:blipFill>
        <p:spPr>
          <a:xfrm>
            <a:off x="5344668" y="4686300"/>
            <a:ext cx="228600" cy="228600"/>
          </a:xfrm>
          <a:prstGeom prst="rect">
            <a:avLst/>
          </a:prstGeom>
        </p:spPr>
      </p:pic>
      <p:sp>
        <p:nvSpPr>
          <p:cNvPr id="28" name="Text 21"/>
          <p:cNvSpPr txBox="1"/>
          <p:nvPr/>
        </p:nvSpPr>
        <p:spPr>
          <a:xfrm>
            <a:off x="5230368" y="5120640"/>
            <a:ext cx="1700784" cy="320040"/>
          </a:xfrm>
          <a:prstGeom prst="rect">
            <a:avLst/>
          </a:prstGeom>
          <a:noFill/>
          <a:ln/>
        </p:spPr>
        <p:txBody>
          <a:bodyPr wrap="square" lIns="0" tIns="0" rIns="0" bIns="0" rtlCol="0" anchor="ctr"/>
          <a:lstStyle/>
          <a:p>
            <a:pPr indent="0" marL="0">
              <a:buNone/>
            </a:pPr>
            <a:r>
              <a:rPr lang="en-US" sz="1400" b="1" dirty="0">
                <a:solidFill>
                  <a:schemeClr val="tx2"/>
                </a:solidFill>
              </a:rPr>
              <a:t>Generate content</a:t>
            </a:r>
            <a:endParaRPr lang="en-US" sz="1400" dirty="0"/>
          </a:p>
        </p:txBody>
      </p:sp>
      <p:sp>
        <p:nvSpPr>
          <p:cNvPr id="29" name="Text 22"/>
          <p:cNvSpPr txBox="1"/>
          <p:nvPr/>
        </p:nvSpPr>
        <p:spPr>
          <a:xfrm>
            <a:off x="5230368" y="5440680"/>
            <a:ext cx="1700784" cy="640080"/>
          </a:xfrm>
          <a:prstGeom prst="rect">
            <a:avLst/>
          </a:prstGeom>
          <a:noFill/>
          <a:ln/>
        </p:spPr>
        <p:txBody>
          <a:bodyPr wrap="square" lIns="0" tIns="0" rIns="0" bIns="0" rtlCol="0" anchor="t"/>
          <a:lstStyle/>
          <a:p>
            <a:pPr indent="0" marL="0">
              <a:buNone/>
            </a:pPr>
            <a:r>
              <a:rPr lang="en-US" sz="1200" dirty="0">
                <a:solidFill>
                  <a:schemeClr val="tx1"/>
                </a:solidFill>
              </a:rPr>
              <a:t>Six formats from one recording, multilingual</a:t>
            </a:r>
            <a:endParaRPr lang="en-US" sz="1200" dirty="0"/>
          </a:p>
        </p:txBody>
      </p:sp>
      <p:sp>
        <p:nvSpPr>
          <p:cNvPr id="30" name="Objective 4"/>
          <p:cNvSpPr/>
          <p:nvPr/>
        </p:nvSpPr>
        <p:spPr>
          <a:xfrm>
            <a:off x="7296912" y="4389120"/>
            <a:ext cx="2066544" cy="1783080"/>
          </a:xfrm>
          <a:prstGeom prst="roundRect">
            <a:avLst>
              <a:gd name="adj" fmla="val 6154"/>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31" name="Stay grounded circle"/>
          <p:cNvSpPr/>
          <p:nvPr/>
        </p:nvSpPr>
        <p:spPr>
          <a:xfrm>
            <a:off x="7479792" y="4572000"/>
            <a:ext cx="457200" cy="457200"/>
          </a:xfrm>
          <a:prstGeom prst="ellipse">
            <a:avLst/>
          </a:prstGeom>
          <a:solidFill>
            <a:schemeClr val="accent4"/>
          </a:solidFill>
          <a:ln/>
        </p:spPr>
      </p:sp>
      <p:pic>
        <p:nvPicPr>
          <p:cNvPr id="32" name="Stay grounded icon" descr="Stay grounded">    </p:cNvPr>
          <p:cNvPicPr>
            <a:picLocks noChangeAspect="1"/>
          </p:cNvPicPr>
          <p:nvPr/>
        </p:nvPicPr>
        <p:blipFill>
          <a:blip r:embed="rId6"/>
          <a:stretch>
            <a:fillRect/>
          </a:stretch>
        </p:blipFill>
        <p:spPr>
          <a:xfrm>
            <a:off x="7594092" y="4686300"/>
            <a:ext cx="228600" cy="228600"/>
          </a:xfrm>
          <a:prstGeom prst="rect">
            <a:avLst/>
          </a:prstGeom>
        </p:spPr>
      </p:pic>
      <p:sp>
        <p:nvSpPr>
          <p:cNvPr id="33" name="Text 25"/>
          <p:cNvSpPr txBox="1"/>
          <p:nvPr/>
        </p:nvSpPr>
        <p:spPr>
          <a:xfrm>
            <a:off x="7479792" y="5120640"/>
            <a:ext cx="1700784" cy="320040"/>
          </a:xfrm>
          <a:prstGeom prst="rect">
            <a:avLst/>
          </a:prstGeom>
          <a:noFill/>
          <a:ln/>
        </p:spPr>
        <p:txBody>
          <a:bodyPr wrap="square" lIns="0" tIns="0" rIns="0" bIns="0" rtlCol="0" anchor="ctr"/>
          <a:lstStyle/>
          <a:p>
            <a:pPr indent="0" marL="0">
              <a:buNone/>
            </a:pPr>
            <a:r>
              <a:rPr lang="en-US" sz="1400" b="1" dirty="0">
                <a:solidFill>
                  <a:schemeClr val="tx2"/>
                </a:solidFill>
              </a:rPr>
              <a:t>Stay grounded</a:t>
            </a:r>
            <a:endParaRPr lang="en-US" sz="1400" dirty="0"/>
          </a:p>
        </p:txBody>
      </p:sp>
      <p:sp>
        <p:nvSpPr>
          <p:cNvPr id="34" name="Text 26"/>
          <p:cNvSpPr txBox="1"/>
          <p:nvPr/>
        </p:nvSpPr>
        <p:spPr>
          <a:xfrm>
            <a:off x="7479792" y="5440680"/>
            <a:ext cx="1700784" cy="640080"/>
          </a:xfrm>
          <a:prstGeom prst="rect">
            <a:avLst/>
          </a:prstGeom>
          <a:noFill/>
          <a:ln/>
        </p:spPr>
        <p:txBody>
          <a:bodyPr wrap="square" lIns="0" tIns="0" rIns="0" bIns="0" rtlCol="0" anchor="t"/>
          <a:lstStyle/>
          <a:p>
            <a:pPr indent="0" marL="0">
              <a:buNone/>
            </a:pPr>
            <a:r>
              <a:rPr lang="en-US" sz="1200" dirty="0">
                <a:solidFill>
                  <a:schemeClr val="tx1"/>
                </a:solidFill>
              </a:rPr>
              <a:t>Guardrails for moderation and hallucination</a:t>
            </a:r>
            <a:endParaRPr lang="en-US" sz="1200" dirty="0"/>
          </a:p>
        </p:txBody>
      </p:sp>
      <p:sp>
        <p:nvSpPr>
          <p:cNvPr id="35" name="Objective 5"/>
          <p:cNvSpPr/>
          <p:nvPr/>
        </p:nvSpPr>
        <p:spPr>
          <a:xfrm>
            <a:off x="9546336" y="4389120"/>
            <a:ext cx="2066544" cy="1783080"/>
          </a:xfrm>
          <a:prstGeom prst="roundRect">
            <a:avLst>
              <a:gd name="adj" fmla="val 6154"/>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36" name="Human approval circle"/>
          <p:cNvSpPr/>
          <p:nvPr/>
        </p:nvSpPr>
        <p:spPr>
          <a:xfrm>
            <a:off x="9729216" y="4572000"/>
            <a:ext cx="457200" cy="457200"/>
          </a:xfrm>
          <a:prstGeom prst="ellipse">
            <a:avLst/>
          </a:prstGeom>
          <a:solidFill>
            <a:schemeClr val="accent5"/>
          </a:solidFill>
          <a:ln/>
        </p:spPr>
      </p:sp>
      <p:pic>
        <p:nvPicPr>
          <p:cNvPr id="37" name="Human approval icon" descr="Human approval">    </p:cNvPr>
          <p:cNvPicPr>
            <a:picLocks noChangeAspect="1"/>
          </p:cNvPicPr>
          <p:nvPr/>
        </p:nvPicPr>
        <p:blipFill>
          <a:blip r:embed="rId7"/>
          <a:stretch>
            <a:fillRect/>
          </a:stretch>
        </p:blipFill>
        <p:spPr>
          <a:xfrm>
            <a:off x="9843516" y="4686300"/>
            <a:ext cx="228600" cy="228600"/>
          </a:xfrm>
          <a:prstGeom prst="rect">
            <a:avLst/>
          </a:prstGeom>
        </p:spPr>
      </p:pic>
      <p:sp>
        <p:nvSpPr>
          <p:cNvPr id="38" name="Text 29"/>
          <p:cNvSpPr txBox="1"/>
          <p:nvPr/>
        </p:nvSpPr>
        <p:spPr>
          <a:xfrm>
            <a:off x="9729216" y="5120640"/>
            <a:ext cx="1700784" cy="320040"/>
          </a:xfrm>
          <a:prstGeom prst="rect">
            <a:avLst/>
          </a:prstGeom>
          <a:noFill/>
          <a:ln/>
        </p:spPr>
        <p:txBody>
          <a:bodyPr wrap="square" lIns="0" tIns="0" rIns="0" bIns="0" rtlCol="0" anchor="ctr"/>
          <a:lstStyle/>
          <a:p>
            <a:pPr indent="0" marL="0">
              <a:buNone/>
            </a:pPr>
            <a:r>
              <a:rPr lang="en-US" sz="1400" b="1" dirty="0">
                <a:solidFill>
                  <a:schemeClr val="tx2"/>
                </a:solidFill>
              </a:rPr>
              <a:t>Human approval</a:t>
            </a:r>
            <a:endParaRPr lang="en-US" sz="1400" dirty="0"/>
          </a:p>
        </p:txBody>
      </p:sp>
      <p:sp>
        <p:nvSpPr>
          <p:cNvPr id="39" name="Text 30"/>
          <p:cNvSpPr txBox="1"/>
          <p:nvPr/>
        </p:nvSpPr>
        <p:spPr>
          <a:xfrm>
            <a:off x="9729216" y="5440680"/>
            <a:ext cx="1700784" cy="640080"/>
          </a:xfrm>
          <a:prstGeom prst="rect">
            <a:avLst/>
          </a:prstGeom>
          <a:noFill/>
          <a:ln/>
        </p:spPr>
        <p:txBody>
          <a:bodyPr wrap="square" lIns="0" tIns="0" rIns="0" bIns="0" rtlCol="0" anchor="t"/>
          <a:lstStyle/>
          <a:p>
            <a:pPr indent="0" marL="0">
              <a:buNone/>
            </a:pPr>
            <a:r>
              <a:rPr lang="en-US" sz="1200" dirty="0">
                <a:solidFill>
                  <a:schemeClr val="tx1"/>
                </a:solidFill>
              </a:rPr>
              <a:t>Nothing publishes without approval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Who EventAI Is For</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Three roles with JWT-based role-based access control (RBAC)</a:t>
            </a:r>
            <a:endParaRPr lang="en-US" sz="1400" dirty="0"/>
          </a:p>
        </p:txBody>
      </p:sp>
      <p:sp>
        <p:nvSpPr>
          <p:cNvPr id="4" name="Event Organizer card"/>
          <p:cNvSpPr/>
          <p:nvPr/>
        </p:nvSpPr>
        <p:spPr>
          <a:xfrm>
            <a:off x="548640" y="1645920"/>
            <a:ext cx="3474720" cy="4023360"/>
          </a:xfrm>
          <a:prstGeom prst="roundRect">
            <a:avLst>
              <a:gd name="adj" fmla="val 3158"/>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5" name="Event Organizer circle"/>
          <p:cNvSpPr/>
          <p:nvPr/>
        </p:nvSpPr>
        <p:spPr>
          <a:xfrm>
            <a:off x="868680" y="1965960"/>
            <a:ext cx="822960" cy="822960"/>
          </a:xfrm>
          <a:prstGeom prst="ellipse">
            <a:avLst/>
          </a:prstGeom>
          <a:solidFill>
            <a:schemeClr val="accent1"/>
          </a:solidFill>
          <a:ln/>
        </p:spPr>
      </p:sp>
      <p:pic>
        <p:nvPicPr>
          <p:cNvPr id="6" name="Event Organizer icon" descr="Event Organizer">    </p:cNvPr>
          <p:cNvPicPr>
            <a:picLocks noChangeAspect="1"/>
          </p:cNvPicPr>
          <p:nvPr/>
        </p:nvPicPr>
        <p:blipFill>
          <a:blip r:embed="rId1"/>
          <a:stretch>
            <a:fillRect/>
          </a:stretch>
        </p:blipFill>
        <p:spPr>
          <a:xfrm>
            <a:off x="1074420" y="2171700"/>
            <a:ext cx="411480" cy="411480"/>
          </a:xfrm>
          <a:prstGeom prst="rect">
            <a:avLst/>
          </a:prstGeom>
        </p:spPr>
      </p:pic>
      <p:sp>
        <p:nvSpPr>
          <p:cNvPr id="7" name="Text 4"/>
          <p:cNvSpPr txBox="1"/>
          <p:nvPr/>
        </p:nvSpPr>
        <p:spPr>
          <a:xfrm>
            <a:off x="868680" y="2971800"/>
            <a:ext cx="2834640" cy="457200"/>
          </a:xfrm>
          <a:prstGeom prst="rect">
            <a:avLst/>
          </a:prstGeom>
          <a:noFill/>
          <a:ln/>
        </p:spPr>
        <p:txBody>
          <a:bodyPr wrap="square" lIns="0" tIns="0" rIns="0" bIns="0" rtlCol="0" anchor="ctr"/>
          <a:lstStyle/>
          <a:p>
            <a:pPr indent="0" marL="0">
              <a:buNone/>
            </a:pPr>
            <a:r>
              <a:rPr lang="en-US" sz="2200" b="1" dirty="0">
                <a:solidFill>
                  <a:schemeClr val="accent1"/>
                </a:solidFill>
              </a:rPr>
              <a:t>Event Organizer</a:t>
            </a:r>
            <a:endParaRPr lang="en-US" sz="2200" dirty="0"/>
          </a:p>
        </p:txBody>
      </p:sp>
      <p:sp>
        <p:nvSpPr>
          <p:cNvPr id="8" name="Text 5"/>
          <p:cNvSpPr txBox="1"/>
          <p:nvPr/>
        </p:nvSpPr>
        <p:spPr>
          <a:xfrm>
            <a:off x="868680" y="3566160"/>
            <a:ext cx="2926080" cy="23774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Uploads event recordings</a:t>
            </a:r>
            <a:endParaRPr lang="en-US" sz="1500" dirty="0"/>
          </a:p>
          <a:p>
            <a:pPr marL="177800" indent="-177800">
              <a:spcAft>
                <a:spcPts val="800"/>
              </a:spcAft>
              <a:buSzPct val="100000"/>
              <a:buChar char="•"/>
            </a:pPr>
            <a:r>
              <a:rPr lang="en-US" sz="1500" dirty="0">
                <a:solidFill>
                  <a:schemeClr val="tx1"/>
                </a:solidFill>
              </a:rPr>
              <a:t>Owns events and requests content packs</a:t>
            </a:r>
            <a:endParaRPr lang="en-US" sz="1500" dirty="0"/>
          </a:p>
          <a:p>
            <a:pPr marL="177800" indent="-177800">
              <a:spcAft>
                <a:spcPts val="800"/>
              </a:spcAft>
              <a:buSzPct val="100000"/>
              <a:buChar char="•"/>
            </a:pPr>
            <a:r>
              <a:rPr lang="en-US" sz="1500" dirty="0">
                <a:solidFill>
                  <a:schemeClr val="tx1"/>
                </a:solidFill>
              </a:rPr>
              <a:t>Approves public-facing assets</a:t>
            </a:r>
            <a:endParaRPr lang="en-US" sz="1500" dirty="0"/>
          </a:p>
          <a:p>
            <a:pPr marL="177800" indent="-177800">
              <a:spcAft>
                <a:spcPts val="800"/>
              </a:spcAft>
              <a:buSzPct val="100000"/>
              <a:buChar char="•"/>
            </a:pPr>
            <a:r>
              <a:rPr lang="en-US" sz="1500" dirty="0">
                <a:solidFill>
                  <a:schemeClr val="tx1"/>
                </a:solidFill>
              </a:rPr>
              <a:t>Uses the Organizer Co-Pilot chat</a:t>
            </a:r>
            <a:endParaRPr lang="en-US" sz="1500" dirty="0"/>
          </a:p>
        </p:txBody>
      </p:sp>
      <p:sp>
        <p:nvSpPr>
          <p:cNvPr id="9" name="Content Creator card"/>
          <p:cNvSpPr/>
          <p:nvPr/>
        </p:nvSpPr>
        <p:spPr>
          <a:xfrm>
            <a:off x="4343400" y="1645920"/>
            <a:ext cx="3474720" cy="4023360"/>
          </a:xfrm>
          <a:prstGeom prst="roundRect">
            <a:avLst>
              <a:gd name="adj" fmla="val 3158"/>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0" name="Content Creator circle"/>
          <p:cNvSpPr/>
          <p:nvPr/>
        </p:nvSpPr>
        <p:spPr>
          <a:xfrm>
            <a:off x="4663440" y="1965960"/>
            <a:ext cx="822960" cy="822960"/>
          </a:xfrm>
          <a:prstGeom prst="ellipse">
            <a:avLst/>
          </a:prstGeom>
          <a:solidFill>
            <a:schemeClr val="accent2"/>
          </a:solidFill>
          <a:ln/>
        </p:spPr>
      </p:sp>
      <p:pic>
        <p:nvPicPr>
          <p:cNvPr id="11" name="Content Creator icon" descr="Content Creator">    </p:cNvPr>
          <p:cNvPicPr>
            <a:picLocks noChangeAspect="1"/>
          </p:cNvPicPr>
          <p:nvPr/>
        </p:nvPicPr>
        <p:blipFill>
          <a:blip r:embed="rId2"/>
          <a:stretch>
            <a:fillRect/>
          </a:stretch>
        </p:blipFill>
        <p:spPr>
          <a:xfrm>
            <a:off x="4869180" y="2171700"/>
            <a:ext cx="411480" cy="411480"/>
          </a:xfrm>
          <a:prstGeom prst="rect">
            <a:avLst/>
          </a:prstGeom>
        </p:spPr>
      </p:pic>
      <p:sp>
        <p:nvSpPr>
          <p:cNvPr id="12" name="Text 8"/>
          <p:cNvSpPr txBox="1"/>
          <p:nvPr/>
        </p:nvSpPr>
        <p:spPr>
          <a:xfrm>
            <a:off x="4663440" y="2971800"/>
            <a:ext cx="2834640" cy="457200"/>
          </a:xfrm>
          <a:prstGeom prst="rect">
            <a:avLst/>
          </a:prstGeom>
          <a:noFill/>
          <a:ln/>
        </p:spPr>
        <p:txBody>
          <a:bodyPr wrap="square" lIns="0" tIns="0" rIns="0" bIns="0" rtlCol="0" anchor="ctr"/>
          <a:lstStyle/>
          <a:p>
            <a:pPr indent="0" marL="0">
              <a:buNone/>
            </a:pPr>
            <a:r>
              <a:rPr lang="en-US" sz="2200" b="1" dirty="0">
                <a:solidFill>
                  <a:schemeClr val="accent2"/>
                </a:solidFill>
              </a:rPr>
              <a:t>Content Creator</a:t>
            </a:r>
            <a:endParaRPr lang="en-US" sz="2200" dirty="0"/>
          </a:p>
        </p:txBody>
      </p:sp>
      <p:sp>
        <p:nvSpPr>
          <p:cNvPr id="13" name="Text 9"/>
          <p:cNvSpPr txBox="1"/>
          <p:nvPr/>
        </p:nvSpPr>
        <p:spPr>
          <a:xfrm>
            <a:off x="4663440" y="3566160"/>
            <a:ext cx="2926080" cy="23774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Reviews transcripts and drafts</a:t>
            </a:r>
            <a:endParaRPr lang="en-US" sz="1500" dirty="0"/>
          </a:p>
          <a:p>
            <a:pPr marL="177800" indent="-177800">
              <a:spcAft>
                <a:spcPts val="800"/>
              </a:spcAft>
              <a:buSzPct val="100000"/>
              <a:buChar char="•"/>
            </a:pPr>
            <a:r>
              <a:rPr lang="en-US" sz="1500" dirty="0">
                <a:solidFill>
                  <a:schemeClr val="tx1"/>
                </a:solidFill>
              </a:rPr>
              <a:t>Edits copy inline and regenerates</a:t>
            </a:r>
            <a:endParaRPr lang="en-US" sz="1500" dirty="0"/>
          </a:p>
          <a:p>
            <a:pPr marL="177800" indent="-177800">
              <a:spcAft>
                <a:spcPts val="800"/>
              </a:spcAft>
              <a:buSzPct val="100000"/>
              <a:buChar char="•"/>
            </a:pPr>
            <a:r>
              <a:rPr lang="en-US" sz="1500" dirty="0">
                <a:solidFill>
                  <a:schemeClr val="tx1"/>
                </a:solidFill>
              </a:rPr>
              <a:t>Copies and exports publish-ready content</a:t>
            </a:r>
            <a:endParaRPr lang="en-US" sz="1500" dirty="0"/>
          </a:p>
          <a:p>
            <a:pPr marL="177800" indent="-177800">
              <a:spcAft>
                <a:spcPts val="800"/>
              </a:spcAft>
              <a:buSzPct val="100000"/>
              <a:buChar char="•"/>
            </a:pPr>
            <a:r>
              <a:rPr lang="en-US" sz="1500" dirty="0">
                <a:solidFill>
                  <a:schemeClr val="tx1"/>
                </a:solidFill>
              </a:rPr>
              <a:t>Applies brand voice settings</a:t>
            </a:r>
            <a:endParaRPr lang="en-US" sz="1500" dirty="0"/>
          </a:p>
        </p:txBody>
      </p:sp>
      <p:sp>
        <p:nvSpPr>
          <p:cNvPr id="14" name="Admin card"/>
          <p:cNvSpPr/>
          <p:nvPr/>
        </p:nvSpPr>
        <p:spPr>
          <a:xfrm>
            <a:off x="8138160" y="1645920"/>
            <a:ext cx="3474720" cy="4023360"/>
          </a:xfrm>
          <a:prstGeom prst="roundRect">
            <a:avLst>
              <a:gd name="adj" fmla="val 3158"/>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5" name="Admin circle"/>
          <p:cNvSpPr/>
          <p:nvPr/>
        </p:nvSpPr>
        <p:spPr>
          <a:xfrm>
            <a:off x="8458200" y="1965960"/>
            <a:ext cx="822960" cy="822960"/>
          </a:xfrm>
          <a:prstGeom prst="ellipse">
            <a:avLst/>
          </a:prstGeom>
          <a:solidFill>
            <a:schemeClr val="accent3"/>
          </a:solidFill>
          <a:ln/>
        </p:spPr>
      </p:sp>
      <p:pic>
        <p:nvPicPr>
          <p:cNvPr id="16" name="Admin icon" descr="Admin">    </p:cNvPr>
          <p:cNvPicPr>
            <a:picLocks noChangeAspect="1"/>
          </p:cNvPicPr>
          <p:nvPr/>
        </p:nvPicPr>
        <p:blipFill>
          <a:blip r:embed="rId3"/>
          <a:stretch>
            <a:fillRect/>
          </a:stretch>
        </p:blipFill>
        <p:spPr>
          <a:xfrm>
            <a:off x="8663940" y="2171700"/>
            <a:ext cx="411480" cy="411480"/>
          </a:xfrm>
          <a:prstGeom prst="rect">
            <a:avLst/>
          </a:prstGeom>
        </p:spPr>
      </p:pic>
      <p:sp>
        <p:nvSpPr>
          <p:cNvPr id="17" name="Text 12"/>
          <p:cNvSpPr txBox="1"/>
          <p:nvPr/>
        </p:nvSpPr>
        <p:spPr>
          <a:xfrm>
            <a:off x="8458200" y="2971800"/>
            <a:ext cx="2834640" cy="457200"/>
          </a:xfrm>
          <a:prstGeom prst="rect">
            <a:avLst/>
          </a:prstGeom>
          <a:noFill/>
          <a:ln/>
        </p:spPr>
        <p:txBody>
          <a:bodyPr wrap="square" lIns="0" tIns="0" rIns="0" bIns="0" rtlCol="0" anchor="ctr"/>
          <a:lstStyle/>
          <a:p>
            <a:pPr indent="0" marL="0">
              <a:buNone/>
            </a:pPr>
            <a:r>
              <a:rPr lang="en-US" sz="2200" b="1" dirty="0">
                <a:solidFill>
                  <a:schemeClr val="accent3"/>
                </a:solidFill>
              </a:rPr>
              <a:t>Admin</a:t>
            </a:r>
            <a:endParaRPr lang="en-US" sz="2200" dirty="0"/>
          </a:p>
        </p:txBody>
      </p:sp>
      <p:sp>
        <p:nvSpPr>
          <p:cNvPr id="18" name="Text 13"/>
          <p:cNvSpPr txBox="1"/>
          <p:nvPr/>
        </p:nvSpPr>
        <p:spPr>
          <a:xfrm>
            <a:off x="8458200" y="3566160"/>
            <a:ext cx="2926080" cy="23774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Manages users and roles</a:t>
            </a:r>
            <a:endParaRPr lang="en-US" sz="1500" dirty="0"/>
          </a:p>
          <a:p>
            <a:pPr marL="177800" indent="-177800">
              <a:spcAft>
                <a:spcPts val="800"/>
              </a:spcAft>
              <a:buSzPct val="100000"/>
              <a:buChar char="•"/>
            </a:pPr>
            <a:r>
              <a:rPr lang="en-US" sz="1500" dirty="0">
                <a:solidFill>
                  <a:schemeClr val="tx1"/>
                </a:solidFill>
              </a:rPr>
              <a:t>Monitors failed or stuck jobs</a:t>
            </a:r>
            <a:endParaRPr lang="en-US" sz="1500" dirty="0"/>
          </a:p>
          <a:p>
            <a:pPr marL="177800" indent="-177800">
              <a:spcAft>
                <a:spcPts val="800"/>
              </a:spcAft>
              <a:buSzPct val="100000"/>
              <a:buChar char="•"/>
            </a:pPr>
            <a:r>
              <a:rPr lang="en-US" sz="1500" dirty="0">
                <a:solidFill>
                  <a:schemeClr val="tx1"/>
                </a:solidFill>
              </a:rPr>
              <a:t>Controls media retention policies</a:t>
            </a:r>
            <a:endParaRPr lang="en-US" sz="1500" dirty="0"/>
          </a:p>
          <a:p>
            <a:pPr marL="177800" indent="-177800">
              <a:spcAft>
                <a:spcPts val="800"/>
              </a:spcAft>
              <a:buSzPct val="100000"/>
              <a:buChar char="•"/>
            </a:pPr>
            <a:r>
              <a:rPr lang="en-US" sz="1500" dirty="0">
                <a:solidFill>
                  <a:schemeClr val="tx1"/>
                </a:solidFill>
              </a:rPr>
              <a:t>Checks system health and readiness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Technology Stack</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A modern, asynchronous, provider-swappable stack</a:t>
            </a:r>
            <a:endParaRPr lang="en-US" sz="1400" dirty="0"/>
          </a:p>
        </p:txBody>
      </p:sp>
      <p:sp>
        <p:nvSpPr>
          <p:cNvPr id="4" name="Frontend card"/>
          <p:cNvSpPr/>
          <p:nvPr/>
        </p:nvSpPr>
        <p:spPr>
          <a:xfrm>
            <a:off x="548640" y="1600200"/>
            <a:ext cx="2615184" cy="2194560"/>
          </a:xfrm>
          <a:prstGeom prst="roundRect">
            <a:avLst>
              <a:gd name="adj" fmla="val 5000"/>
            </a:avLst>
          </a:prstGeom>
          <a:solidFill>
            <a:schemeClr val="accent1">
              <a:alpha val="10000"/>
            </a:schemeClr>
          </a:solidFill>
          <a:ln/>
        </p:spPr>
      </p:sp>
      <p:sp>
        <p:nvSpPr>
          <p:cNvPr id="5" name="Frontend circle"/>
          <p:cNvSpPr/>
          <p:nvPr/>
        </p:nvSpPr>
        <p:spPr>
          <a:xfrm>
            <a:off x="777240" y="1828800"/>
            <a:ext cx="548640" cy="548640"/>
          </a:xfrm>
          <a:prstGeom prst="ellipse">
            <a:avLst/>
          </a:prstGeom>
          <a:solidFill>
            <a:schemeClr val="accent1"/>
          </a:solidFill>
          <a:ln/>
        </p:spPr>
      </p:sp>
      <p:pic>
        <p:nvPicPr>
          <p:cNvPr id="6" name="Frontend icon" descr="Frontend">    </p:cNvPr>
          <p:cNvPicPr>
            <a:picLocks noChangeAspect="1"/>
          </p:cNvPicPr>
          <p:nvPr/>
        </p:nvPicPr>
        <p:blipFill>
          <a:blip r:embed="rId1"/>
          <a:stretch>
            <a:fillRect/>
          </a:stretch>
        </p:blipFill>
        <p:spPr>
          <a:xfrm>
            <a:off x="914400" y="1965960"/>
            <a:ext cx="274320" cy="274320"/>
          </a:xfrm>
          <a:prstGeom prst="rect">
            <a:avLst/>
          </a:prstGeom>
        </p:spPr>
      </p:pic>
      <p:sp>
        <p:nvSpPr>
          <p:cNvPr id="7" name="Text 4"/>
          <p:cNvSpPr txBox="1"/>
          <p:nvPr/>
        </p:nvSpPr>
        <p:spPr>
          <a:xfrm>
            <a:off x="777240" y="2468880"/>
            <a:ext cx="2157984" cy="365760"/>
          </a:xfrm>
          <a:prstGeom prst="rect">
            <a:avLst/>
          </a:prstGeom>
          <a:noFill/>
          <a:ln/>
        </p:spPr>
        <p:txBody>
          <a:bodyPr wrap="square" lIns="0" tIns="0" rIns="0" bIns="0" rtlCol="0" anchor="ctr"/>
          <a:lstStyle/>
          <a:p>
            <a:pPr indent="0" marL="0">
              <a:buNone/>
            </a:pPr>
            <a:r>
              <a:rPr lang="en-US" sz="1700" b="1" dirty="0">
                <a:solidFill>
                  <a:schemeClr val="accent1"/>
                </a:solidFill>
              </a:rPr>
              <a:t>Frontend</a:t>
            </a:r>
            <a:endParaRPr lang="en-US" sz="1700" dirty="0"/>
          </a:p>
        </p:txBody>
      </p:sp>
      <p:sp>
        <p:nvSpPr>
          <p:cNvPr id="8" name="Text 5"/>
          <p:cNvSpPr txBox="1"/>
          <p:nvPr/>
        </p:nvSpPr>
        <p:spPr>
          <a:xfrm>
            <a:off x="777240" y="2862072"/>
            <a:ext cx="2157984" cy="822960"/>
          </a:xfrm>
          <a:prstGeom prst="rect">
            <a:avLst/>
          </a:prstGeom>
          <a:noFill/>
          <a:ln/>
        </p:spPr>
        <p:txBody>
          <a:bodyPr wrap="square" lIns="0" tIns="0" rIns="0" bIns="0" rtlCol="0" anchor="t"/>
          <a:lstStyle/>
          <a:p>
            <a:pPr indent="0" marL="0">
              <a:buNone/>
            </a:pPr>
            <a:r>
              <a:rPr lang="en-US" sz="1400" dirty="0">
                <a:solidFill>
                  <a:schemeClr val="tx1"/>
                </a:solidFill>
              </a:rPr>
              <a:t>React 19, TypeScript, Vite, TailwindCSS, TanStack Query</a:t>
            </a:r>
            <a:endParaRPr lang="en-US" sz="1400" dirty="0"/>
          </a:p>
        </p:txBody>
      </p:sp>
      <p:sp>
        <p:nvSpPr>
          <p:cNvPr id="9" name="Backend API card"/>
          <p:cNvSpPr/>
          <p:nvPr/>
        </p:nvSpPr>
        <p:spPr>
          <a:xfrm>
            <a:off x="3364992" y="1600200"/>
            <a:ext cx="2615184" cy="2194560"/>
          </a:xfrm>
          <a:prstGeom prst="roundRect">
            <a:avLst>
              <a:gd name="adj" fmla="val 5000"/>
            </a:avLst>
          </a:prstGeom>
          <a:solidFill>
            <a:schemeClr val="accent2">
              <a:alpha val="10000"/>
            </a:schemeClr>
          </a:solidFill>
          <a:ln/>
        </p:spPr>
      </p:sp>
      <p:sp>
        <p:nvSpPr>
          <p:cNvPr id="10" name="Backend API circle"/>
          <p:cNvSpPr/>
          <p:nvPr/>
        </p:nvSpPr>
        <p:spPr>
          <a:xfrm>
            <a:off x="3593592" y="1828800"/>
            <a:ext cx="548640" cy="548640"/>
          </a:xfrm>
          <a:prstGeom prst="ellipse">
            <a:avLst/>
          </a:prstGeom>
          <a:solidFill>
            <a:schemeClr val="accent2"/>
          </a:solidFill>
          <a:ln/>
        </p:spPr>
      </p:sp>
      <p:pic>
        <p:nvPicPr>
          <p:cNvPr id="11" name="Backend API icon" descr="Backend API">    </p:cNvPr>
          <p:cNvPicPr>
            <a:picLocks noChangeAspect="1"/>
          </p:cNvPicPr>
          <p:nvPr/>
        </p:nvPicPr>
        <p:blipFill>
          <a:blip r:embed="rId2"/>
          <a:stretch>
            <a:fillRect/>
          </a:stretch>
        </p:blipFill>
        <p:spPr>
          <a:xfrm>
            <a:off x="3730752" y="1965960"/>
            <a:ext cx="274320" cy="274320"/>
          </a:xfrm>
          <a:prstGeom prst="rect">
            <a:avLst/>
          </a:prstGeom>
        </p:spPr>
      </p:pic>
      <p:sp>
        <p:nvSpPr>
          <p:cNvPr id="12" name="Text 8"/>
          <p:cNvSpPr txBox="1"/>
          <p:nvPr/>
        </p:nvSpPr>
        <p:spPr>
          <a:xfrm>
            <a:off x="3593592" y="2468880"/>
            <a:ext cx="2157984" cy="365760"/>
          </a:xfrm>
          <a:prstGeom prst="rect">
            <a:avLst/>
          </a:prstGeom>
          <a:noFill/>
          <a:ln/>
        </p:spPr>
        <p:txBody>
          <a:bodyPr wrap="square" lIns="0" tIns="0" rIns="0" bIns="0" rtlCol="0" anchor="ctr"/>
          <a:lstStyle/>
          <a:p>
            <a:pPr indent="0" marL="0">
              <a:buNone/>
            </a:pPr>
            <a:r>
              <a:rPr lang="en-US" sz="1700" b="1" dirty="0">
                <a:solidFill>
                  <a:schemeClr val="accent2"/>
                </a:solidFill>
              </a:rPr>
              <a:t>Backend API</a:t>
            </a:r>
            <a:endParaRPr lang="en-US" sz="1700" dirty="0"/>
          </a:p>
        </p:txBody>
      </p:sp>
      <p:sp>
        <p:nvSpPr>
          <p:cNvPr id="13" name="Text 9"/>
          <p:cNvSpPr txBox="1"/>
          <p:nvPr/>
        </p:nvSpPr>
        <p:spPr>
          <a:xfrm>
            <a:off x="3593592" y="2862072"/>
            <a:ext cx="2157984" cy="822960"/>
          </a:xfrm>
          <a:prstGeom prst="rect">
            <a:avLst/>
          </a:prstGeom>
          <a:noFill/>
          <a:ln/>
        </p:spPr>
        <p:txBody>
          <a:bodyPr wrap="square" lIns="0" tIns="0" rIns="0" bIns="0" rtlCol="0" anchor="t"/>
          <a:lstStyle/>
          <a:p>
            <a:pPr indent="0" marL="0">
              <a:buNone/>
            </a:pPr>
            <a:r>
              <a:rPr lang="en-US" sz="1400" dirty="0">
                <a:solidFill>
                  <a:schemeClr val="tx1"/>
                </a:solidFill>
              </a:rPr>
              <a:t>FastAPI, Python 3.11+, Pydantic v2, SSE streaming</a:t>
            </a:r>
            <a:endParaRPr lang="en-US" sz="1400" dirty="0"/>
          </a:p>
        </p:txBody>
      </p:sp>
      <p:sp>
        <p:nvSpPr>
          <p:cNvPr id="14" name="Agent Orchestration card"/>
          <p:cNvSpPr/>
          <p:nvPr/>
        </p:nvSpPr>
        <p:spPr>
          <a:xfrm>
            <a:off x="6181344" y="1600200"/>
            <a:ext cx="2615184" cy="2194560"/>
          </a:xfrm>
          <a:prstGeom prst="roundRect">
            <a:avLst>
              <a:gd name="adj" fmla="val 5000"/>
            </a:avLst>
          </a:prstGeom>
          <a:solidFill>
            <a:schemeClr val="accent3">
              <a:alpha val="10000"/>
            </a:schemeClr>
          </a:solidFill>
          <a:ln/>
        </p:spPr>
      </p:sp>
      <p:sp>
        <p:nvSpPr>
          <p:cNvPr id="15" name="Agent Orchestration circle"/>
          <p:cNvSpPr/>
          <p:nvPr/>
        </p:nvSpPr>
        <p:spPr>
          <a:xfrm>
            <a:off x="6409944" y="1828800"/>
            <a:ext cx="548640" cy="548640"/>
          </a:xfrm>
          <a:prstGeom prst="ellipse">
            <a:avLst/>
          </a:prstGeom>
          <a:solidFill>
            <a:schemeClr val="accent3"/>
          </a:solidFill>
          <a:ln/>
        </p:spPr>
      </p:sp>
      <p:pic>
        <p:nvPicPr>
          <p:cNvPr id="16" name="Agent Orchestration icon" descr="Agent Orchestration">    </p:cNvPr>
          <p:cNvPicPr>
            <a:picLocks noChangeAspect="1"/>
          </p:cNvPicPr>
          <p:nvPr/>
        </p:nvPicPr>
        <p:blipFill>
          <a:blip r:embed="rId3"/>
          <a:stretch>
            <a:fillRect/>
          </a:stretch>
        </p:blipFill>
        <p:spPr>
          <a:xfrm>
            <a:off x="6547104" y="1965960"/>
            <a:ext cx="274320" cy="274320"/>
          </a:xfrm>
          <a:prstGeom prst="rect">
            <a:avLst/>
          </a:prstGeom>
        </p:spPr>
      </p:pic>
      <p:sp>
        <p:nvSpPr>
          <p:cNvPr id="17" name="Text 12"/>
          <p:cNvSpPr txBox="1"/>
          <p:nvPr/>
        </p:nvSpPr>
        <p:spPr>
          <a:xfrm>
            <a:off x="6409944" y="2468880"/>
            <a:ext cx="2157984" cy="365760"/>
          </a:xfrm>
          <a:prstGeom prst="rect">
            <a:avLst/>
          </a:prstGeom>
          <a:noFill/>
          <a:ln/>
        </p:spPr>
        <p:txBody>
          <a:bodyPr wrap="square" lIns="0" tIns="0" rIns="0" bIns="0" rtlCol="0" anchor="ctr"/>
          <a:lstStyle/>
          <a:p>
            <a:pPr indent="0" marL="0">
              <a:buNone/>
            </a:pPr>
            <a:r>
              <a:rPr lang="en-US" sz="1700" b="1" dirty="0">
                <a:solidFill>
                  <a:schemeClr val="accent3"/>
                </a:solidFill>
              </a:rPr>
              <a:t>Agent Orchestration</a:t>
            </a:r>
            <a:endParaRPr lang="en-US" sz="1700" dirty="0"/>
          </a:p>
        </p:txBody>
      </p:sp>
      <p:sp>
        <p:nvSpPr>
          <p:cNvPr id="18" name="Text 13"/>
          <p:cNvSpPr txBox="1"/>
          <p:nvPr/>
        </p:nvSpPr>
        <p:spPr>
          <a:xfrm>
            <a:off x="6409944" y="2862072"/>
            <a:ext cx="2157984" cy="822960"/>
          </a:xfrm>
          <a:prstGeom prst="rect">
            <a:avLst/>
          </a:prstGeom>
          <a:noFill/>
          <a:ln/>
        </p:spPr>
        <p:txBody>
          <a:bodyPr wrap="square" lIns="0" tIns="0" rIns="0" bIns="0" rtlCol="0" anchor="t"/>
          <a:lstStyle/>
          <a:p>
            <a:pPr indent="0" marL="0">
              <a:buNone/>
            </a:pPr>
            <a:r>
              <a:rPr lang="en-US" sz="1400" dirty="0">
                <a:solidFill>
                  <a:schemeClr val="tx1"/>
                </a:solidFill>
              </a:rPr>
              <a:t>LangGraph StateGraph with parallel fan-out and conditional routing</a:t>
            </a:r>
            <a:endParaRPr lang="en-US" sz="1400" dirty="0"/>
          </a:p>
        </p:txBody>
      </p:sp>
      <p:sp>
        <p:nvSpPr>
          <p:cNvPr id="19" name="LLM Providers card"/>
          <p:cNvSpPr/>
          <p:nvPr/>
        </p:nvSpPr>
        <p:spPr>
          <a:xfrm>
            <a:off x="8997696" y="1600200"/>
            <a:ext cx="2615184" cy="2194560"/>
          </a:xfrm>
          <a:prstGeom prst="roundRect">
            <a:avLst>
              <a:gd name="adj" fmla="val 5000"/>
            </a:avLst>
          </a:prstGeom>
          <a:solidFill>
            <a:schemeClr val="accent4">
              <a:alpha val="10000"/>
            </a:schemeClr>
          </a:solidFill>
          <a:ln/>
        </p:spPr>
      </p:sp>
      <p:sp>
        <p:nvSpPr>
          <p:cNvPr id="20" name="LLM Providers circle"/>
          <p:cNvSpPr/>
          <p:nvPr/>
        </p:nvSpPr>
        <p:spPr>
          <a:xfrm>
            <a:off x="9226296" y="1828800"/>
            <a:ext cx="548640" cy="548640"/>
          </a:xfrm>
          <a:prstGeom prst="ellipse">
            <a:avLst/>
          </a:prstGeom>
          <a:solidFill>
            <a:schemeClr val="accent4"/>
          </a:solidFill>
          <a:ln/>
        </p:spPr>
      </p:sp>
      <p:pic>
        <p:nvPicPr>
          <p:cNvPr id="21" name="LLM Providers icon" descr="LLM Providers">    </p:cNvPr>
          <p:cNvPicPr>
            <a:picLocks noChangeAspect="1"/>
          </p:cNvPicPr>
          <p:nvPr/>
        </p:nvPicPr>
        <p:blipFill>
          <a:blip r:embed="rId4"/>
          <a:stretch>
            <a:fillRect/>
          </a:stretch>
        </p:blipFill>
        <p:spPr>
          <a:xfrm>
            <a:off x="9363456" y="1965960"/>
            <a:ext cx="274320" cy="274320"/>
          </a:xfrm>
          <a:prstGeom prst="rect">
            <a:avLst/>
          </a:prstGeom>
        </p:spPr>
      </p:pic>
      <p:sp>
        <p:nvSpPr>
          <p:cNvPr id="22" name="Text 16"/>
          <p:cNvSpPr txBox="1"/>
          <p:nvPr/>
        </p:nvSpPr>
        <p:spPr>
          <a:xfrm>
            <a:off x="9226296" y="2468880"/>
            <a:ext cx="2157984" cy="365760"/>
          </a:xfrm>
          <a:prstGeom prst="rect">
            <a:avLst/>
          </a:prstGeom>
          <a:noFill/>
          <a:ln/>
        </p:spPr>
        <p:txBody>
          <a:bodyPr wrap="square" lIns="0" tIns="0" rIns="0" bIns="0" rtlCol="0" anchor="ctr"/>
          <a:lstStyle/>
          <a:p>
            <a:pPr indent="0" marL="0">
              <a:buNone/>
            </a:pPr>
            <a:r>
              <a:rPr lang="en-US" sz="1700" b="1" dirty="0">
                <a:solidFill>
                  <a:schemeClr val="accent4"/>
                </a:solidFill>
              </a:rPr>
              <a:t>LLM Providers</a:t>
            </a:r>
            <a:endParaRPr lang="en-US" sz="1700" dirty="0"/>
          </a:p>
        </p:txBody>
      </p:sp>
      <p:sp>
        <p:nvSpPr>
          <p:cNvPr id="23" name="Text 17"/>
          <p:cNvSpPr txBox="1"/>
          <p:nvPr/>
        </p:nvSpPr>
        <p:spPr>
          <a:xfrm>
            <a:off x="9226296" y="2862072"/>
            <a:ext cx="2157984" cy="822960"/>
          </a:xfrm>
          <a:prstGeom prst="rect">
            <a:avLst/>
          </a:prstGeom>
          <a:noFill/>
          <a:ln/>
        </p:spPr>
        <p:txBody>
          <a:bodyPr wrap="square" lIns="0" tIns="0" rIns="0" bIns="0" rtlCol="0" anchor="t"/>
          <a:lstStyle/>
          <a:p>
            <a:pPr indent="0" marL="0">
              <a:buNone/>
            </a:pPr>
            <a:r>
              <a:rPr lang="en-US" sz="1400" dirty="0">
                <a:solidFill>
                  <a:schemeClr val="tx1"/>
                </a:solidFill>
              </a:rPr>
              <a:t>Google Gemini with OpenAI, Groq, Anthropic and Vertex fallback</a:t>
            </a:r>
            <a:endParaRPr lang="en-US" sz="1400" dirty="0"/>
          </a:p>
        </p:txBody>
      </p:sp>
      <p:sp>
        <p:nvSpPr>
          <p:cNvPr id="24" name="Speech-to-Text card"/>
          <p:cNvSpPr/>
          <p:nvPr/>
        </p:nvSpPr>
        <p:spPr>
          <a:xfrm>
            <a:off x="548640" y="4069080"/>
            <a:ext cx="2615184" cy="2194560"/>
          </a:xfrm>
          <a:prstGeom prst="roundRect">
            <a:avLst>
              <a:gd name="adj" fmla="val 5000"/>
            </a:avLst>
          </a:prstGeom>
          <a:solidFill>
            <a:schemeClr val="accent6">
              <a:alpha val="10000"/>
            </a:schemeClr>
          </a:solidFill>
          <a:ln/>
        </p:spPr>
      </p:sp>
      <p:sp>
        <p:nvSpPr>
          <p:cNvPr id="25" name="Speech-to-Text circle"/>
          <p:cNvSpPr/>
          <p:nvPr/>
        </p:nvSpPr>
        <p:spPr>
          <a:xfrm>
            <a:off x="777240" y="4297680"/>
            <a:ext cx="548640" cy="548640"/>
          </a:xfrm>
          <a:prstGeom prst="ellipse">
            <a:avLst/>
          </a:prstGeom>
          <a:solidFill>
            <a:schemeClr val="accent6"/>
          </a:solidFill>
          <a:ln/>
        </p:spPr>
      </p:sp>
      <p:pic>
        <p:nvPicPr>
          <p:cNvPr id="26" name="Speech-to-Text icon" descr="Speech-to-Text">    </p:cNvPr>
          <p:cNvPicPr>
            <a:picLocks noChangeAspect="1"/>
          </p:cNvPicPr>
          <p:nvPr/>
        </p:nvPicPr>
        <p:blipFill>
          <a:blip r:embed="rId5"/>
          <a:stretch>
            <a:fillRect/>
          </a:stretch>
        </p:blipFill>
        <p:spPr>
          <a:xfrm>
            <a:off x="914400" y="4434840"/>
            <a:ext cx="274320" cy="274320"/>
          </a:xfrm>
          <a:prstGeom prst="rect">
            <a:avLst/>
          </a:prstGeom>
        </p:spPr>
      </p:pic>
      <p:sp>
        <p:nvSpPr>
          <p:cNvPr id="27" name="Text 20"/>
          <p:cNvSpPr txBox="1"/>
          <p:nvPr/>
        </p:nvSpPr>
        <p:spPr>
          <a:xfrm>
            <a:off x="777240" y="4937760"/>
            <a:ext cx="2157984" cy="365760"/>
          </a:xfrm>
          <a:prstGeom prst="rect">
            <a:avLst/>
          </a:prstGeom>
          <a:noFill/>
          <a:ln/>
        </p:spPr>
        <p:txBody>
          <a:bodyPr wrap="square" lIns="0" tIns="0" rIns="0" bIns="0" rtlCol="0" anchor="ctr"/>
          <a:lstStyle/>
          <a:p>
            <a:pPr indent="0" marL="0">
              <a:buNone/>
            </a:pPr>
            <a:r>
              <a:rPr lang="en-US" sz="1700" b="1" dirty="0">
                <a:solidFill>
                  <a:schemeClr val="accent6"/>
                </a:solidFill>
              </a:rPr>
              <a:t>Speech-to-Text</a:t>
            </a:r>
            <a:endParaRPr lang="en-US" sz="1700" dirty="0"/>
          </a:p>
        </p:txBody>
      </p:sp>
      <p:sp>
        <p:nvSpPr>
          <p:cNvPr id="28" name="Text 21"/>
          <p:cNvSpPr txBox="1"/>
          <p:nvPr/>
        </p:nvSpPr>
        <p:spPr>
          <a:xfrm>
            <a:off x="777240" y="5330952"/>
            <a:ext cx="2157984" cy="822960"/>
          </a:xfrm>
          <a:prstGeom prst="rect">
            <a:avLst/>
          </a:prstGeom>
          <a:noFill/>
          <a:ln/>
        </p:spPr>
        <p:txBody>
          <a:bodyPr wrap="square" lIns="0" tIns="0" rIns="0" bIns="0" rtlCol="0" anchor="t"/>
          <a:lstStyle/>
          <a:p>
            <a:pPr indent="0" marL="0">
              <a:buNone/>
            </a:pPr>
            <a:r>
              <a:rPr lang="en-US" sz="1400" dirty="0">
                <a:solidFill>
                  <a:schemeClr val="tx1"/>
                </a:solidFill>
              </a:rPr>
              <a:t>VideoDB and Gemini STT, offline fallback provider</a:t>
            </a:r>
            <a:endParaRPr lang="en-US" sz="1400" dirty="0"/>
          </a:p>
        </p:txBody>
      </p:sp>
      <p:sp>
        <p:nvSpPr>
          <p:cNvPr id="29" name="Database card"/>
          <p:cNvSpPr/>
          <p:nvPr/>
        </p:nvSpPr>
        <p:spPr>
          <a:xfrm>
            <a:off x="3364992" y="4069080"/>
            <a:ext cx="2615184" cy="2194560"/>
          </a:xfrm>
          <a:prstGeom prst="roundRect">
            <a:avLst>
              <a:gd name="adj" fmla="val 5000"/>
            </a:avLst>
          </a:prstGeom>
          <a:solidFill>
            <a:schemeClr val="accent1">
              <a:alpha val="10000"/>
            </a:schemeClr>
          </a:solidFill>
          <a:ln/>
        </p:spPr>
      </p:sp>
      <p:sp>
        <p:nvSpPr>
          <p:cNvPr id="30" name="Database circle"/>
          <p:cNvSpPr/>
          <p:nvPr/>
        </p:nvSpPr>
        <p:spPr>
          <a:xfrm>
            <a:off x="3593592" y="4297680"/>
            <a:ext cx="548640" cy="548640"/>
          </a:xfrm>
          <a:prstGeom prst="ellipse">
            <a:avLst/>
          </a:prstGeom>
          <a:solidFill>
            <a:schemeClr val="accent1"/>
          </a:solidFill>
          <a:ln/>
        </p:spPr>
      </p:sp>
      <p:pic>
        <p:nvPicPr>
          <p:cNvPr id="31" name="Database icon" descr="Database">    </p:cNvPr>
          <p:cNvPicPr>
            <a:picLocks noChangeAspect="1"/>
          </p:cNvPicPr>
          <p:nvPr/>
        </p:nvPicPr>
        <p:blipFill>
          <a:blip r:embed="rId6"/>
          <a:stretch>
            <a:fillRect/>
          </a:stretch>
        </p:blipFill>
        <p:spPr>
          <a:xfrm>
            <a:off x="3730752" y="4434840"/>
            <a:ext cx="274320" cy="274320"/>
          </a:xfrm>
          <a:prstGeom prst="rect">
            <a:avLst/>
          </a:prstGeom>
        </p:spPr>
      </p:pic>
      <p:sp>
        <p:nvSpPr>
          <p:cNvPr id="32" name="Text 24"/>
          <p:cNvSpPr txBox="1"/>
          <p:nvPr/>
        </p:nvSpPr>
        <p:spPr>
          <a:xfrm>
            <a:off x="3593592" y="4937760"/>
            <a:ext cx="2157984" cy="365760"/>
          </a:xfrm>
          <a:prstGeom prst="rect">
            <a:avLst/>
          </a:prstGeom>
          <a:noFill/>
          <a:ln/>
        </p:spPr>
        <p:txBody>
          <a:bodyPr wrap="square" lIns="0" tIns="0" rIns="0" bIns="0" rtlCol="0" anchor="ctr"/>
          <a:lstStyle/>
          <a:p>
            <a:pPr indent="0" marL="0">
              <a:buNone/>
            </a:pPr>
            <a:r>
              <a:rPr lang="en-US" sz="1700" b="1" dirty="0">
                <a:solidFill>
                  <a:schemeClr val="accent1"/>
                </a:solidFill>
              </a:rPr>
              <a:t>Database</a:t>
            </a:r>
            <a:endParaRPr lang="en-US" sz="1700" dirty="0"/>
          </a:p>
        </p:txBody>
      </p:sp>
      <p:sp>
        <p:nvSpPr>
          <p:cNvPr id="33" name="Text 25"/>
          <p:cNvSpPr txBox="1"/>
          <p:nvPr/>
        </p:nvSpPr>
        <p:spPr>
          <a:xfrm>
            <a:off x="3593592" y="5330952"/>
            <a:ext cx="2157984" cy="822960"/>
          </a:xfrm>
          <a:prstGeom prst="rect">
            <a:avLst/>
          </a:prstGeom>
          <a:noFill/>
          <a:ln/>
        </p:spPr>
        <p:txBody>
          <a:bodyPr wrap="square" lIns="0" tIns="0" rIns="0" bIns="0" rtlCol="0" anchor="t"/>
          <a:lstStyle/>
          <a:p>
            <a:pPr indent="0" marL="0">
              <a:buNone/>
            </a:pPr>
            <a:r>
              <a:rPr lang="en-US" sz="1400" dirty="0">
                <a:solidFill>
                  <a:schemeClr val="tx1"/>
                </a:solidFill>
              </a:rPr>
              <a:t>PostgreSQL (SQLite for dev), transcript chunks for RAG</a:t>
            </a:r>
            <a:endParaRPr lang="en-US" sz="1400" dirty="0"/>
          </a:p>
        </p:txBody>
      </p:sp>
      <p:sp>
        <p:nvSpPr>
          <p:cNvPr id="34" name="Queue &amp; Cache card"/>
          <p:cNvSpPr/>
          <p:nvPr/>
        </p:nvSpPr>
        <p:spPr>
          <a:xfrm>
            <a:off x="6181344" y="4069080"/>
            <a:ext cx="2615184" cy="2194560"/>
          </a:xfrm>
          <a:prstGeom prst="roundRect">
            <a:avLst>
              <a:gd name="adj" fmla="val 5000"/>
            </a:avLst>
          </a:prstGeom>
          <a:solidFill>
            <a:schemeClr val="accent5">
              <a:alpha val="10000"/>
            </a:schemeClr>
          </a:solidFill>
          <a:ln/>
        </p:spPr>
      </p:sp>
      <p:sp>
        <p:nvSpPr>
          <p:cNvPr id="35" name="Queue &amp; Cache circle"/>
          <p:cNvSpPr/>
          <p:nvPr/>
        </p:nvSpPr>
        <p:spPr>
          <a:xfrm>
            <a:off x="6409944" y="4297680"/>
            <a:ext cx="548640" cy="548640"/>
          </a:xfrm>
          <a:prstGeom prst="ellipse">
            <a:avLst/>
          </a:prstGeom>
          <a:solidFill>
            <a:schemeClr val="accent5"/>
          </a:solidFill>
          <a:ln/>
        </p:spPr>
      </p:sp>
      <p:pic>
        <p:nvPicPr>
          <p:cNvPr id="36" name="Queue &amp; Cache icon" descr="Queue &amp; Cache">    </p:cNvPr>
          <p:cNvPicPr>
            <a:picLocks noChangeAspect="1"/>
          </p:cNvPicPr>
          <p:nvPr/>
        </p:nvPicPr>
        <p:blipFill>
          <a:blip r:embed="rId7"/>
          <a:stretch>
            <a:fillRect/>
          </a:stretch>
        </p:blipFill>
        <p:spPr>
          <a:xfrm>
            <a:off x="6547104" y="4434840"/>
            <a:ext cx="274320" cy="274320"/>
          </a:xfrm>
          <a:prstGeom prst="rect">
            <a:avLst/>
          </a:prstGeom>
        </p:spPr>
      </p:pic>
      <p:sp>
        <p:nvSpPr>
          <p:cNvPr id="37" name="Text 28"/>
          <p:cNvSpPr txBox="1"/>
          <p:nvPr/>
        </p:nvSpPr>
        <p:spPr>
          <a:xfrm>
            <a:off x="6409944" y="4937760"/>
            <a:ext cx="2157984" cy="365760"/>
          </a:xfrm>
          <a:prstGeom prst="rect">
            <a:avLst/>
          </a:prstGeom>
          <a:noFill/>
          <a:ln/>
        </p:spPr>
        <p:txBody>
          <a:bodyPr wrap="square" lIns="0" tIns="0" rIns="0" bIns="0" rtlCol="0" anchor="ctr"/>
          <a:lstStyle/>
          <a:p>
            <a:pPr indent="0" marL="0">
              <a:buNone/>
            </a:pPr>
            <a:r>
              <a:rPr lang="en-US" sz="1700" b="1" dirty="0">
                <a:solidFill>
                  <a:schemeClr val="accent5"/>
                </a:solidFill>
              </a:rPr>
              <a:t>Queue &amp; Cache</a:t>
            </a:r>
            <a:endParaRPr lang="en-US" sz="1700" dirty="0"/>
          </a:p>
        </p:txBody>
      </p:sp>
      <p:sp>
        <p:nvSpPr>
          <p:cNvPr id="38" name="Text 29"/>
          <p:cNvSpPr txBox="1"/>
          <p:nvPr/>
        </p:nvSpPr>
        <p:spPr>
          <a:xfrm>
            <a:off x="6409944" y="5330952"/>
            <a:ext cx="2157984" cy="822960"/>
          </a:xfrm>
          <a:prstGeom prst="rect">
            <a:avLst/>
          </a:prstGeom>
          <a:noFill/>
          <a:ln/>
        </p:spPr>
        <p:txBody>
          <a:bodyPr wrap="square" lIns="0" tIns="0" rIns="0" bIns="0" rtlCol="0" anchor="t"/>
          <a:lstStyle/>
          <a:p>
            <a:pPr indent="0" marL="0">
              <a:buNone/>
            </a:pPr>
            <a:r>
              <a:rPr lang="en-US" sz="1400" dirty="0">
                <a:solidFill>
                  <a:schemeClr val="tx1"/>
                </a:solidFill>
              </a:rPr>
              <a:t>Redis, Celery workers or in-process background tasks</a:t>
            </a:r>
            <a:endParaRPr lang="en-US" sz="1400" dirty="0"/>
          </a:p>
        </p:txBody>
      </p:sp>
      <p:sp>
        <p:nvSpPr>
          <p:cNvPr id="39" name="Storage &amp; DevOps card"/>
          <p:cNvSpPr/>
          <p:nvPr/>
        </p:nvSpPr>
        <p:spPr>
          <a:xfrm>
            <a:off x="8997696" y="4069080"/>
            <a:ext cx="2615184" cy="2194560"/>
          </a:xfrm>
          <a:prstGeom prst="roundRect">
            <a:avLst>
              <a:gd name="adj" fmla="val 5000"/>
            </a:avLst>
          </a:prstGeom>
          <a:solidFill>
            <a:schemeClr val="accent2">
              <a:alpha val="10000"/>
            </a:schemeClr>
          </a:solidFill>
          <a:ln/>
        </p:spPr>
      </p:sp>
      <p:sp>
        <p:nvSpPr>
          <p:cNvPr id="40" name="Storage &amp; DevOps circle"/>
          <p:cNvSpPr/>
          <p:nvPr/>
        </p:nvSpPr>
        <p:spPr>
          <a:xfrm>
            <a:off x="9226296" y="4297680"/>
            <a:ext cx="548640" cy="548640"/>
          </a:xfrm>
          <a:prstGeom prst="ellipse">
            <a:avLst/>
          </a:prstGeom>
          <a:solidFill>
            <a:schemeClr val="accent2"/>
          </a:solidFill>
          <a:ln/>
        </p:spPr>
      </p:sp>
      <p:pic>
        <p:nvPicPr>
          <p:cNvPr id="41" name="Storage &amp; DevOps icon" descr="Storage &amp; DevOps">    </p:cNvPr>
          <p:cNvPicPr>
            <a:picLocks noChangeAspect="1"/>
          </p:cNvPicPr>
          <p:nvPr/>
        </p:nvPicPr>
        <p:blipFill>
          <a:blip r:embed="rId8"/>
          <a:stretch>
            <a:fillRect/>
          </a:stretch>
        </p:blipFill>
        <p:spPr>
          <a:xfrm>
            <a:off x="9363456" y="4434840"/>
            <a:ext cx="274320" cy="274320"/>
          </a:xfrm>
          <a:prstGeom prst="rect">
            <a:avLst/>
          </a:prstGeom>
        </p:spPr>
      </p:pic>
      <p:sp>
        <p:nvSpPr>
          <p:cNvPr id="42" name="Text 32"/>
          <p:cNvSpPr txBox="1"/>
          <p:nvPr/>
        </p:nvSpPr>
        <p:spPr>
          <a:xfrm>
            <a:off x="9226296" y="4937760"/>
            <a:ext cx="2157984" cy="365760"/>
          </a:xfrm>
          <a:prstGeom prst="rect">
            <a:avLst/>
          </a:prstGeom>
          <a:noFill/>
          <a:ln/>
        </p:spPr>
        <p:txBody>
          <a:bodyPr wrap="square" lIns="0" tIns="0" rIns="0" bIns="0" rtlCol="0" anchor="ctr"/>
          <a:lstStyle/>
          <a:p>
            <a:pPr indent="0" marL="0">
              <a:buNone/>
            </a:pPr>
            <a:r>
              <a:rPr lang="en-US" sz="1700" b="1" dirty="0">
                <a:solidFill>
                  <a:schemeClr val="accent2"/>
                </a:solidFill>
              </a:rPr>
              <a:t>Storage &amp; DevOps</a:t>
            </a:r>
            <a:endParaRPr lang="en-US" sz="1700" dirty="0"/>
          </a:p>
        </p:txBody>
      </p:sp>
      <p:sp>
        <p:nvSpPr>
          <p:cNvPr id="43" name="Text 33"/>
          <p:cNvSpPr txBox="1"/>
          <p:nvPr/>
        </p:nvSpPr>
        <p:spPr>
          <a:xfrm>
            <a:off x="9226296" y="5330952"/>
            <a:ext cx="2157984" cy="822960"/>
          </a:xfrm>
          <a:prstGeom prst="rect">
            <a:avLst/>
          </a:prstGeom>
          <a:noFill/>
          <a:ln/>
        </p:spPr>
        <p:txBody>
          <a:bodyPr wrap="square" lIns="0" tIns="0" rIns="0" bIns="0" rtlCol="0" anchor="t"/>
          <a:lstStyle/>
          <a:p>
            <a:pPr indent="0" marL="0">
              <a:buNone/>
            </a:pPr>
            <a:r>
              <a:rPr lang="en-US" sz="1400" dirty="0">
                <a:solidFill>
                  <a:schemeClr val="tx1"/>
                </a:solidFill>
              </a:rPr>
              <a:t>Cloudflare R2 / AWS S3, Docker Compose, pytest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Decoupled client-server design: UI → API → agent orchestration → services and data</a:t>
            </a:r>
            <a:endParaRPr lang="en-US" sz="1400" dirty="0"/>
          </a:p>
        </p:txBody>
      </p:sp>
      <p:sp>
        <p:nvSpPr>
          <p:cNvPr id="4" name="FRONTEND tier"/>
          <p:cNvSpPr/>
          <p:nvPr/>
        </p:nvSpPr>
        <p:spPr>
          <a:xfrm>
            <a:off x="868680" y="1554480"/>
            <a:ext cx="3291840" cy="960120"/>
          </a:xfrm>
          <a:prstGeom prst="roundRect">
            <a:avLst>
              <a:gd name="adj" fmla="val 11429"/>
            </a:avLst>
          </a:prstGeom>
          <a:solidFill>
            <a:schemeClr val="accent1">
              <a:alpha val="12000"/>
            </a:schemeClr>
          </a:solidFill>
          <a:ln w="19050">
            <a:solidFill>
              <a:schemeClr val="accent1"/>
            </a:solidFill>
            <a:prstDash val="solid"/>
          </a:ln>
        </p:spPr>
      </p:sp>
      <p:sp>
        <p:nvSpPr>
          <p:cNvPr id="5" name="Text 3"/>
          <p:cNvSpPr txBox="1"/>
          <p:nvPr/>
        </p:nvSpPr>
        <p:spPr>
          <a:xfrm>
            <a:off x="868680" y="1645920"/>
            <a:ext cx="3291840" cy="365760"/>
          </a:xfrm>
          <a:prstGeom prst="rect">
            <a:avLst/>
          </a:prstGeom>
          <a:noFill/>
          <a:ln/>
        </p:spPr>
        <p:txBody>
          <a:bodyPr wrap="square" lIns="0" tIns="0" rIns="0" bIns="0" rtlCol="0" anchor="ctr"/>
          <a:lstStyle/>
          <a:p>
            <a:pPr algn="ctr" indent="0" marL="0">
              <a:buNone/>
            </a:pPr>
            <a:r>
              <a:rPr lang="en-US" sz="1600" b="1" dirty="0">
                <a:solidFill>
                  <a:schemeClr val="accent1"/>
                </a:solidFill>
              </a:rPr>
              <a:t>FRONTEND</a:t>
            </a:r>
            <a:endParaRPr lang="en-US" sz="1600" dirty="0"/>
          </a:p>
        </p:txBody>
      </p:sp>
      <p:sp>
        <p:nvSpPr>
          <p:cNvPr id="6" name="Text 4"/>
          <p:cNvSpPr txBox="1"/>
          <p:nvPr/>
        </p:nvSpPr>
        <p:spPr>
          <a:xfrm>
            <a:off x="868680" y="2011680"/>
            <a:ext cx="3291840" cy="365760"/>
          </a:xfrm>
          <a:prstGeom prst="rect">
            <a:avLst/>
          </a:prstGeom>
          <a:noFill/>
          <a:ln/>
        </p:spPr>
        <p:txBody>
          <a:bodyPr wrap="square" lIns="0" tIns="0" rIns="0" bIns="0" rtlCol="0" anchor="ctr"/>
          <a:lstStyle/>
          <a:p>
            <a:pPr algn="ctr" indent="0" marL="0">
              <a:buNone/>
            </a:pPr>
            <a:r>
              <a:rPr lang="en-US" sz="1200" dirty="0">
                <a:solidFill>
                  <a:schemeClr val="tx1"/>
                </a:solidFill>
              </a:rPr>
              <a:t>React • TypeScript • Content Studio • Live SSE</a:t>
            </a:r>
            <a:endParaRPr lang="en-US" sz="1200" dirty="0"/>
          </a:p>
        </p:txBody>
      </p:sp>
      <p:sp>
        <p:nvSpPr>
          <p:cNvPr id="7" name="tier arrow 1"/>
          <p:cNvSpPr/>
          <p:nvPr/>
        </p:nvSpPr>
        <p:spPr>
          <a:xfrm>
            <a:off x="4251960" y="2029968"/>
            <a:ext cx="411480" cy="0"/>
          </a:xfrm>
          <a:prstGeom prst="line">
            <a:avLst/>
          </a:prstGeom>
          <a:noFill/>
          <a:ln w="25400">
            <a:solidFill>
              <a:srgbClr val="64748B"/>
            </a:solidFill>
            <a:prstDash val="solid"/>
            <a:tailEnd type="triangle"/>
          </a:ln>
        </p:spPr>
      </p:sp>
      <p:sp>
        <p:nvSpPr>
          <p:cNvPr id="8" name="BACKEND API tier"/>
          <p:cNvSpPr/>
          <p:nvPr/>
        </p:nvSpPr>
        <p:spPr>
          <a:xfrm>
            <a:off x="4754880" y="1554480"/>
            <a:ext cx="3291840" cy="960120"/>
          </a:xfrm>
          <a:prstGeom prst="roundRect">
            <a:avLst>
              <a:gd name="adj" fmla="val 11429"/>
            </a:avLst>
          </a:prstGeom>
          <a:solidFill>
            <a:schemeClr val="accent2">
              <a:alpha val="12000"/>
            </a:schemeClr>
          </a:solidFill>
          <a:ln w="19050">
            <a:solidFill>
              <a:schemeClr val="accent2"/>
            </a:solidFill>
            <a:prstDash val="solid"/>
          </a:ln>
        </p:spPr>
      </p:sp>
      <p:sp>
        <p:nvSpPr>
          <p:cNvPr id="9" name="Text 7"/>
          <p:cNvSpPr txBox="1"/>
          <p:nvPr/>
        </p:nvSpPr>
        <p:spPr>
          <a:xfrm>
            <a:off x="4754880" y="1645920"/>
            <a:ext cx="3291840" cy="365760"/>
          </a:xfrm>
          <a:prstGeom prst="rect">
            <a:avLst/>
          </a:prstGeom>
          <a:noFill/>
          <a:ln/>
        </p:spPr>
        <p:txBody>
          <a:bodyPr wrap="square" lIns="0" tIns="0" rIns="0" bIns="0" rtlCol="0" anchor="ctr"/>
          <a:lstStyle/>
          <a:p>
            <a:pPr algn="ctr" indent="0" marL="0">
              <a:buNone/>
            </a:pPr>
            <a:r>
              <a:rPr lang="en-US" sz="1600" b="1" dirty="0">
                <a:solidFill>
                  <a:schemeClr val="accent2"/>
                </a:solidFill>
              </a:rPr>
              <a:t>BACKEND API</a:t>
            </a:r>
            <a:endParaRPr lang="en-US" sz="1600" dirty="0"/>
          </a:p>
        </p:txBody>
      </p:sp>
      <p:sp>
        <p:nvSpPr>
          <p:cNvPr id="10" name="Text 8"/>
          <p:cNvSpPr txBox="1"/>
          <p:nvPr/>
        </p:nvSpPr>
        <p:spPr>
          <a:xfrm>
            <a:off x="4754880" y="2011680"/>
            <a:ext cx="3291840" cy="365760"/>
          </a:xfrm>
          <a:prstGeom prst="rect">
            <a:avLst/>
          </a:prstGeom>
          <a:noFill/>
          <a:ln/>
        </p:spPr>
        <p:txBody>
          <a:bodyPr wrap="square" lIns="0" tIns="0" rIns="0" bIns="0" rtlCol="0" anchor="ctr"/>
          <a:lstStyle/>
          <a:p>
            <a:pPr algn="ctr" indent="0" marL="0">
              <a:buNone/>
            </a:pPr>
            <a:r>
              <a:rPr lang="en-US" sz="1200" dirty="0">
                <a:solidFill>
                  <a:schemeClr val="tx1"/>
                </a:solidFill>
              </a:rPr>
              <a:t>FastAPI • JWT Auth • RBAC • REST endpoints</a:t>
            </a:r>
            <a:endParaRPr lang="en-US" sz="1200" dirty="0"/>
          </a:p>
        </p:txBody>
      </p:sp>
      <p:sp>
        <p:nvSpPr>
          <p:cNvPr id="11" name="tier arrow 2"/>
          <p:cNvSpPr/>
          <p:nvPr/>
        </p:nvSpPr>
        <p:spPr>
          <a:xfrm>
            <a:off x="8138160" y="2029968"/>
            <a:ext cx="411480" cy="0"/>
          </a:xfrm>
          <a:prstGeom prst="line">
            <a:avLst/>
          </a:prstGeom>
          <a:noFill/>
          <a:ln w="25400">
            <a:solidFill>
              <a:srgbClr val="64748B"/>
            </a:solidFill>
            <a:prstDash val="solid"/>
            <a:tailEnd type="triangle"/>
          </a:ln>
        </p:spPr>
      </p:sp>
      <p:sp>
        <p:nvSpPr>
          <p:cNvPr id="12" name="LANGGRAPH PIPELINE tier"/>
          <p:cNvSpPr/>
          <p:nvPr/>
        </p:nvSpPr>
        <p:spPr>
          <a:xfrm>
            <a:off x="8641080" y="1554480"/>
            <a:ext cx="3291840" cy="960120"/>
          </a:xfrm>
          <a:prstGeom prst="roundRect">
            <a:avLst>
              <a:gd name="adj" fmla="val 11429"/>
            </a:avLst>
          </a:prstGeom>
          <a:solidFill>
            <a:schemeClr val="accent3">
              <a:alpha val="12000"/>
            </a:schemeClr>
          </a:solidFill>
          <a:ln w="19050">
            <a:solidFill>
              <a:schemeClr val="accent3"/>
            </a:solidFill>
            <a:prstDash val="solid"/>
          </a:ln>
        </p:spPr>
      </p:sp>
      <p:sp>
        <p:nvSpPr>
          <p:cNvPr id="13" name="Text 11"/>
          <p:cNvSpPr txBox="1"/>
          <p:nvPr/>
        </p:nvSpPr>
        <p:spPr>
          <a:xfrm>
            <a:off x="8641080" y="1645920"/>
            <a:ext cx="3291840" cy="365760"/>
          </a:xfrm>
          <a:prstGeom prst="rect">
            <a:avLst/>
          </a:prstGeom>
          <a:noFill/>
          <a:ln/>
        </p:spPr>
        <p:txBody>
          <a:bodyPr wrap="square" lIns="0" tIns="0" rIns="0" bIns="0" rtlCol="0" anchor="ctr"/>
          <a:lstStyle/>
          <a:p>
            <a:pPr algn="ctr" indent="0" marL="0">
              <a:buNone/>
            </a:pPr>
            <a:r>
              <a:rPr lang="en-US" sz="1600" b="1" dirty="0">
                <a:solidFill>
                  <a:schemeClr val="accent3"/>
                </a:solidFill>
              </a:rPr>
              <a:t>LANGGRAPH PIPELINE</a:t>
            </a:r>
            <a:endParaRPr lang="en-US" sz="1600" dirty="0"/>
          </a:p>
        </p:txBody>
      </p:sp>
      <p:sp>
        <p:nvSpPr>
          <p:cNvPr id="14" name="Text 12"/>
          <p:cNvSpPr txBox="1"/>
          <p:nvPr/>
        </p:nvSpPr>
        <p:spPr>
          <a:xfrm>
            <a:off x="8641080" y="2011680"/>
            <a:ext cx="3291840" cy="365760"/>
          </a:xfrm>
          <a:prstGeom prst="rect">
            <a:avLst/>
          </a:prstGeom>
          <a:noFill/>
          <a:ln/>
        </p:spPr>
        <p:txBody>
          <a:bodyPr wrap="square" lIns="0" tIns="0" rIns="0" bIns="0" rtlCol="0" anchor="ctr"/>
          <a:lstStyle/>
          <a:p>
            <a:pPr algn="ctr" indent="0" marL="0">
              <a:buNone/>
            </a:pPr>
            <a:r>
              <a:rPr lang="en-US" sz="1200" dirty="0">
                <a:solidFill>
                  <a:schemeClr val="tx1"/>
                </a:solidFill>
              </a:rPr>
              <a:t>Quality • Analysis • Planning • Generation</a:t>
            </a:r>
            <a:endParaRPr lang="en-US" sz="1200" dirty="0"/>
          </a:p>
        </p:txBody>
      </p:sp>
      <p:sp>
        <p:nvSpPr>
          <p:cNvPr id="15" name="Text 13"/>
          <p:cNvSpPr txBox="1"/>
          <p:nvPr/>
        </p:nvSpPr>
        <p:spPr>
          <a:xfrm>
            <a:off x="548640" y="2743200"/>
            <a:ext cx="5486400" cy="320040"/>
          </a:xfrm>
          <a:prstGeom prst="rect">
            <a:avLst/>
          </a:prstGeom>
          <a:noFill/>
          <a:ln/>
        </p:spPr>
        <p:txBody>
          <a:bodyPr wrap="square" lIns="0" tIns="0" rIns="0" bIns="0" rtlCol="0" anchor="ctr"/>
          <a:lstStyle/>
          <a:p>
            <a:pPr indent="0" marL="0">
              <a:buNone/>
            </a:pPr>
            <a:r>
              <a:rPr lang="en-US" sz="1300" b="1" dirty="0">
                <a:solidFill>
                  <a:schemeClr val="tx2"/>
                </a:solidFill>
              </a:rPr>
              <a:t>AI SERVICES &amp; INTEGRATIONS</a:t>
            </a:r>
            <a:endParaRPr lang="en-US" sz="1300" dirty="0"/>
          </a:p>
        </p:txBody>
      </p:sp>
      <p:sp>
        <p:nvSpPr>
          <p:cNvPr id="16" name="Transcription card"/>
          <p:cNvSpPr/>
          <p:nvPr/>
        </p:nvSpPr>
        <p:spPr>
          <a:xfrm>
            <a:off x="548640" y="3108960"/>
            <a:ext cx="2633472" cy="1371600"/>
          </a:xfrm>
          <a:prstGeom prst="roundRect">
            <a:avLst>
              <a:gd name="adj" fmla="val 80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7" name="Transcription circle"/>
          <p:cNvSpPr/>
          <p:nvPr/>
        </p:nvSpPr>
        <p:spPr>
          <a:xfrm>
            <a:off x="731520" y="3291840"/>
            <a:ext cx="457200" cy="457200"/>
          </a:xfrm>
          <a:prstGeom prst="ellipse">
            <a:avLst/>
          </a:prstGeom>
          <a:solidFill>
            <a:schemeClr val="accent6"/>
          </a:solidFill>
          <a:ln/>
        </p:spPr>
      </p:sp>
      <p:pic>
        <p:nvPicPr>
          <p:cNvPr id="18" name="Transcription icon" descr="Transcription">    </p:cNvPr>
          <p:cNvPicPr>
            <a:picLocks noChangeAspect="1"/>
          </p:cNvPicPr>
          <p:nvPr/>
        </p:nvPicPr>
        <p:blipFill>
          <a:blip r:embed="rId1"/>
          <a:stretch>
            <a:fillRect/>
          </a:stretch>
        </p:blipFill>
        <p:spPr>
          <a:xfrm>
            <a:off x="845820" y="3406140"/>
            <a:ext cx="228600" cy="228600"/>
          </a:xfrm>
          <a:prstGeom prst="rect">
            <a:avLst/>
          </a:prstGeom>
        </p:spPr>
      </p:pic>
      <p:sp>
        <p:nvSpPr>
          <p:cNvPr id="19" name="Text 16"/>
          <p:cNvSpPr txBox="1"/>
          <p:nvPr/>
        </p:nvSpPr>
        <p:spPr>
          <a:xfrm>
            <a:off x="1325880" y="3291840"/>
            <a:ext cx="1719072" cy="457200"/>
          </a:xfrm>
          <a:prstGeom prst="rect">
            <a:avLst/>
          </a:prstGeom>
          <a:noFill/>
          <a:ln/>
        </p:spPr>
        <p:txBody>
          <a:bodyPr wrap="square" lIns="0" tIns="0" rIns="0" bIns="0" rtlCol="0" anchor="ctr"/>
          <a:lstStyle/>
          <a:p>
            <a:pPr indent="0" marL="0">
              <a:buNone/>
            </a:pPr>
            <a:r>
              <a:rPr lang="en-US" sz="1500" b="1" dirty="0">
                <a:solidFill>
                  <a:schemeClr val="tx2"/>
                </a:solidFill>
              </a:rPr>
              <a:t>Transcription</a:t>
            </a:r>
            <a:endParaRPr lang="en-US" sz="1500" dirty="0"/>
          </a:p>
        </p:txBody>
      </p:sp>
      <p:sp>
        <p:nvSpPr>
          <p:cNvPr id="20" name="Text 17"/>
          <p:cNvSpPr txBox="1"/>
          <p:nvPr/>
        </p:nvSpPr>
        <p:spPr>
          <a:xfrm>
            <a:off x="731520" y="3840480"/>
            <a:ext cx="2267712" cy="548640"/>
          </a:xfrm>
          <a:prstGeom prst="rect">
            <a:avLst/>
          </a:prstGeom>
          <a:noFill/>
          <a:ln/>
        </p:spPr>
        <p:txBody>
          <a:bodyPr wrap="square" lIns="0" tIns="0" rIns="0" bIns="0" rtlCol="0" anchor="t"/>
          <a:lstStyle/>
          <a:p>
            <a:pPr indent="0" marL="0">
              <a:buNone/>
            </a:pPr>
            <a:r>
              <a:rPr lang="en-US" sz="1200" dirty="0">
                <a:solidFill>
                  <a:schemeClr val="tx1"/>
                </a:solidFill>
              </a:rPr>
              <a:t>VideoDB / Gemini STT with offline fallback</a:t>
            </a:r>
            <a:endParaRPr lang="en-US" sz="1200" dirty="0"/>
          </a:p>
        </p:txBody>
      </p:sp>
      <p:sp>
        <p:nvSpPr>
          <p:cNvPr id="21" name="LLM Gateway card"/>
          <p:cNvSpPr/>
          <p:nvPr/>
        </p:nvSpPr>
        <p:spPr>
          <a:xfrm>
            <a:off x="3355848" y="3108960"/>
            <a:ext cx="2633472" cy="1371600"/>
          </a:xfrm>
          <a:prstGeom prst="roundRect">
            <a:avLst>
              <a:gd name="adj" fmla="val 80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22" name="LLM Gateway circle"/>
          <p:cNvSpPr/>
          <p:nvPr/>
        </p:nvSpPr>
        <p:spPr>
          <a:xfrm>
            <a:off x="3538728" y="3291840"/>
            <a:ext cx="457200" cy="457200"/>
          </a:xfrm>
          <a:prstGeom prst="ellipse">
            <a:avLst/>
          </a:prstGeom>
          <a:solidFill>
            <a:schemeClr val="accent4"/>
          </a:solidFill>
          <a:ln/>
        </p:spPr>
      </p:sp>
      <p:pic>
        <p:nvPicPr>
          <p:cNvPr id="23" name="LLM Gateway icon" descr="LLM Gateway">    </p:cNvPr>
          <p:cNvPicPr>
            <a:picLocks noChangeAspect="1"/>
          </p:cNvPicPr>
          <p:nvPr/>
        </p:nvPicPr>
        <p:blipFill>
          <a:blip r:embed="rId2"/>
          <a:stretch>
            <a:fillRect/>
          </a:stretch>
        </p:blipFill>
        <p:spPr>
          <a:xfrm>
            <a:off x="3653028" y="3406140"/>
            <a:ext cx="228600" cy="228600"/>
          </a:xfrm>
          <a:prstGeom prst="rect">
            <a:avLst/>
          </a:prstGeom>
        </p:spPr>
      </p:pic>
      <p:sp>
        <p:nvSpPr>
          <p:cNvPr id="24" name="Text 20"/>
          <p:cNvSpPr txBox="1"/>
          <p:nvPr/>
        </p:nvSpPr>
        <p:spPr>
          <a:xfrm>
            <a:off x="4133088" y="3291840"/>
            <a:ext cx="1719072" cy="457200"/>
          </a:xfrm>
          <a:prstGeom prst="rect">
            <a:avLst/>
          </a:prstGeom>
          <a:noFill/>
          <a:ln/>
        </p:spPr>
        <p:txBody>
          <a:bodyPr wrap="square" lIns="0" tIns="0" rIns="0" bIns="0" rtlCol="0" anchor="ctr"/>
          <a:lstStyle/>
          <a:p>
            <a:pPr indent="0" marL="0">
              <a:buNone/>
            </a:pPr>
            <a:r>
              <a:rPr lang="en-US" sz="1500" b="1" dirty="0">
                <a:solidFill>
                  <a:schemeClr val="tx2"/>
                </a:solidFill>
              </a:rPr>
              <a:t>LLM Gateway</a:t>
            </a:r>
            <a:endParaRPr lang="en-US" sz="1500" dirty="0"/>
          </a:p>
        </p:txBody>
      </p:sp>
      <p:sp>
        <p:nvSpPr>
          <p:cNvPr id="25" name="Text 21"/>
          <p:cNvSpPr txBox="1"/>
          <p:nvPr/>
        </p:nvSpPr>
        <p:spPr>
          <a:xfrm>
            <a:off x="3538728" y="3840480"/>
            <a:ext cx="2267712" cy="548640"/>
          </a:xfrm>
          <a:prstGeom prst="rect">
            <a:avLst/>
          </a:prstGeom>
          <a:noFill/>
          <a:ln/>
        </p:spPr>
        <p:txBody>
          <a:bodyPr wrap="square" lIns="0" tIns="0" rIns="0" bIns="0" rtlCol="0" anchor="t"/>
          <a:lstStyle/>
          <a:p>
            <a:pPr indent="0" marL="0">
              <a:buNone/>
            </a:pPr>
            <a:r>
              <a:rPr lang="en-US" sz="1200" dirty="0">
                <a:solidFill>
                  <a:schemeClr val="tx1"/>
                </a:solidFill>
              </a:rPr>
              <a:t>Gemini plus multi-provider fallback routing</a:t>
            </a:r>
            <a:endParaRPr lang="en-US" sz="1200" dirty="0"/>
          </a:p>
        </p:txBody>
      </p:sp>
      <p:sp>
        <p:nvSpPr>
          <p:cNvPr id="26" name="Selective RAG card"/>
          <p:cNvSpPr/>
          <p:nvPr/>
        </p:nvSpPr>
        <p:spPr>
          <a:xfrm>
            <a:off x="6163056" y="3108960"/>
            <a:ext cx="2633472" cy="1371600"/>
          </a:xfrm>
          <a:prstGeom prst="roundRect">
            <a:avLst>
              <a:gd name="adj" fmla="val 80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27" name="Selective RAG circle"/>
          <p:cNvSpPr/>
          <p:nvPr/>
        </p:nvSpPr>
        <p:spPr>
          <a:xfrm>
            <a:off x="6345936" y="3291840"/>
            <a:ext cx="457200" cy="457200"/>
          </a:xfrm>
          <a:prstGeom prst="ellipse">
            <a:avLst/>
          </a:prstGeom>
          <a:solidFill>
            <a:schemeClr val="accent2"/>
          </a:solidFill>
          <a:ln/>
        </p:spPr>
      </p:sp>
      <p:pic>
        <p:nvPicPr>
          <p:cNvPr id="28" name="Selective RAG icon" descr="Selective RAG">    </p:cNvPr>
          <p:cNvPicPr>
            <a:picLocks noChangeAspect="1"/>
          </p:cNvPicPr>
          <p:nvPr/>
        </p:nvPicPr>
        <p:blipFill>
          <a:blip r:embed="rId3"/>
          <a:stretch>
            <a:fillRect/>
          </a:stretch>
        </p:blipFill>
        <p:spPr>
          <a:xfrm>
            <a:off x="6460236" y="3406140"/>
            <a:ext cx="228600" cy="228600"/>
          </a:xfrm>
          <a:prstGeom prst="rect">
            <a:avLst/>
          </a:prstGeom>
        </p:spPr>
      </p:pic>
      <p:sp>
        <p:nvSpPr>
          <p:cNvPr id="29" name="Text 24"/>
          <p:cNvSpPr txBox="1"/>
          <p:nvPr/>
        </p:nvSpPr>
        <p:spPr>
          <a:xfrm>
            <a:off x="6940296" y="3291840"/>
            <a:ext cx="1719072" cy="457200"/>
          </a:xfrm>
          <a:prstGeom prst="rect">
            <a:avLst/>
          </a:prstGeom>
          <a:noFill/>
          <a:ln/>
        </p:spPr>
        <p:txBody>
          <a:bodyPr wrap="square" lIns="0" tIns="0" rIns="0" bIns="0" rtlCol="0" anchor="ctr"/>
          <a:lstStyle/>
          <a:p>
            <a:pPr indent="0" marL="0">
              <a:buNone/>
            </a:pPr>
            <a:r>
              <a:rPr lang="en-US" sz="1500" b="1" dirty="0">
                <a:solidFill>
                  <a:schemeClr val="tx2"/>
                </a:solidFill>
              </a:rPr>
              <a:t>Selective RAG</a:t>
            </a:r>
            <a:endParaRPr lang="en-US" sz="1500" dirty="0"/>
          </a:p>
        </p:txBody>
      </p:sp>
      <p:sp>
        <p:nvSpPr>
          <p:cNvPr id="30" name="Text 25"/>
          <p:cNvSpPr txBox="1"/>
          <p:nvPr/>
        </p:nvSpPr>
        <p:spPr>
          <a:xfrm>
            <a:off x="6345936" y="3840480"/>
            <a:ext cx="2267712" cy="548640"/>
          </a:xfrm>
          <a:prstGeom prst="rect">
            <a:avLst/>
          </a:prstGeom>
          <a:noFill/>
          <a:ln/>
        </p:spPr>
        <p:txBody>
          <a:bodyPr wrap="square" lIns="0" tIns="0" rIns="0" bIns="0" rtlCol="0" anchor="t"/>
          <a:lstStyle/>
          <a:p>
            <a:pPr indent="0" marL="0">
              <a:buNone/>
            </a:pPr>
            <a:r>
              <a:rPr lang="en-US" sz="1200" dirty="0">
                <a:solidFill>
                  <a:schemeClr val="tx1"/>
                </a:solidFill>
              </a:rPr>
              <a:t>Cosine-ranked transcript chunks on demand</a:t>
            </a:r>
            <a:endParaRPr lang="en-US" sz="1200" dirty="0"/>
          </a:p>
        </p:txBody>
      </p:sp>
      <p:sp>
        <p:nvSpPr>
          <p:cNvPr id="31" name="Guardrails card"/>
          <p:cNvSpPr/>
          <p:nvPr/>
        </p:nvSpPr>
        <p:spPr>
          <a:xfrm>
            <a:off x="8970264" y="3108960"/>
            <a:ext cx="2633472" cy="1371600"/>
          </a:xfrm>
          <a:prstGeom prst="roundRect">
            <a:avLst>
              <a:gd name="adj" fmla="val 80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32" name="Guardrails circle"/>
          <p:cNvSpPr/>
          <p:nvPr/>
        </p:nvSpPr>
        <p:spPr>
          <a:xfrm>
            <a:off x="9153144" y="3291840"/>
            <a:ext cx="457200" cy="457200"/>
          </a:xfrm>
          <a:prstGeom prst="ellipse">
            <a:avLst/>
          </a:prstGeom>
          <a:solidFill>
            <a:schemeClr val="accent5"/>
          </a:solidFill>
          <a:ln/>
        </p:spPr>
      </p:sp>
      <p:pic>
        <p:nvPicPr>
          <p:cNvPr id="33" name="Guardrails icon" descr="Guardrails">    </p:cNvPr>
          <p:cNvPicPr>
            <a:picLocks noChangeAspect="1"/>
          </p:cNvPicPr>
          <p:nvPr/>
        </p:nvPicPr>
        <p:blipFill>
          <a:blip r:embed="rId4"/>
          <a:stretch>
            <a:fillRect/>
          </a:stretch>
        </p:blipFill>
        <p:spPr>
          <a:xfrm>
            <a:off x="9267444" y="3406140"/>
            <a:ext cx="228600" cy="228600"/>
          </a:xfrm>
          <a:prstGeom prst="rect">
            <a:avLst/>
          </a:prstGeom>
        </p:spPr>
      </p:pic>
      <p:sp>
        <p:nvSpPr>
          <p:cNvPr id="34" name="Text 28"/>
          <p:cNvSpPr txBox="1"/>
          <p:nvPr/>
        </p:nvSpPr>
        <p:spPr>
          <a:xfrm>
            <a:off x="9747504" y="3291840"/>
            <a:ext cx="1719072" cy="457200"/>
          </a:xfrm>
          <a:prstGeom prst="rect">
            <a:avLst/>
          </a:prstGeom>
          <a:noFill/>
          <a:ln/>
        </p:spPr>
        <p:txBody>
          <a:bodyPr wrap="square" lIns="0" tIns="0" rIns="0" bIns="0" rtlCol="0" anchor="ctr"/>
          <a:lstStyle/>
          <a:p>
            <a:pPr indent="0" marL="0">
              <a:buNone/>
            </a:pPr>
            <a:r>
              <a:rPr lang="en-US" sz="1500" b="1" dirty="0">
                <a:solidFill>
                  <a:schemeClr val="tx2"/>
                </a:solidFill>
              </a:rPr>
              <a:t>Guardrails</a:t>
            </a:r>
            <a:endParaRPr lang="en-US" sz="1500" dirty="0"/>
          </a:p>
        </p:txBody>
      </p:sp>
      <p:sp>
        <p:nvSpPr>
          <p:cNvPr id="35" name="Text 29"/>
          <p:cNvSpPr txBox="1"/>
          <p:nvPr/>
        </p:nvSpPr>
        <p:spPr>
          <a:xfrm>
            <a:off x="9153144" y="3840480"/>
            <a:ext cx="2267712" cy="548640"/>
          </a:xfrm>
          <a:prstGeom prst="rect">
            <a:avLst/>
          </a:prstGeom>
          <a:noFill/>
          <a:ln/>
        </p:spPr>
        <p:txBody>
          <a:bodyPr wrap="square" lIns="0" tIns="0" rIns="0" bIns="0" rtlCol="0" anchor="t"/>
          <a:lstStyle/>
          <a:p>
            <a:pPr indent="0" marL="0">
              <a:buNone/>
            </a:pPr>
            <a:r>
              <a:rPr lang="en-US" sz="1200" dirty="0">
                <a:solidFill>
                  <a:schemeClr val="tx1"/>
                </a:solidFill>
              </a:rPr>
              <a:t>Moderation, schema and grounding checks</a:t>
            </a:r>
            <a:endParaRPr lang="en-US" sz="1200" dirty="0"/>
          </a:p>
        </p:txBody>
      </p:sp>
      <p:sp>
        <p:nvSpPr>
          <p:cNvPr id="36" name="Text 30"/>
          <p:cNvSpPr txBox="1"/>
          <p:nvPr/>
        </p:nvSpPr>
        <p:spPr>
          <a:xfrm>
            <a:off x="548640" y="4663440"/>
            <a:ext cx="5486400" cy="320040"/>
          </a:xfrm>
          <a:prstGeom prst="rect">
            <a:avLst/>
          </a:prstGeom>
          <a:noFill/>
          <a:ln/>
        </p:spPr>
        <p:txBody>
          <a:bodyPr wrap="square" lIns="0" tIns="0" rIns="0" bIns="0" rtlCol="0" anchor="ctr"/>
          <a:lstStyle/>
          <a:p>
            <a:pPr indent="0" marL="0">
              <a:buNone/>
            </a:pPr>
            <a:r>
              <a:rPr lang="en-US" sz="1300" b="1" dirty="0">
                <a:solidFill>
                  <a:schemeClr val="tx2"/>
                </a:solidFill>
              </a:rPr>
              <a:t>DATA &amp; OPERATIONS</a:t>
            </a:r>
            <a:endParaRPr lang="en-US" sz="1300" dirty="0"/>
          </a:p>
        </p:txBody>
      </p:sp>
      <p:sp>
        <p:nvSpPr>
          <p:cNvPr id="37" name="PostgreSQL card"/>
          <p:cNvSpPr/>
          <p:nvPr/>
        </p:nvSpPr>
        <p:spPr>
          <a:xfrm>
            <a:off x="548640" y="5029200"/>
            <a:ext cx="3566160" cy="1143000"/>
          </a:xfrm>
          <a:prstGeom prst="roundRect">
            <a:avLst>
              <a:gd name="adj" fmla="val 96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38" name="PostgreSQL circle"/>
          <p:cNvSpPr/>
          <p:nvPr/>
        </p:nvSpPr>
        <p:spPr>
          <a:xfrm>
            <a:off x="731520" y="5212080"/>
            <a:ext cx="457200" cy="457200"/>
          </a:xfrm>
          <a:prstGeom prst="ellipse">
            <a:avLst/>
          </a:prstGeom>
          <a:solidFill>
            <a:schemeClr val="accent1"/>
          </a:solidFill>
          <a:ln/>
        </p:spPr>
      </p:sp>
      <p:pic>
        <p:nvPicPr>
          <p:cNvPr id="39" name="PostgreSQL icon" descr="PostgreSQL">    </p:cNvPr>
          <p:cNvPicPr>
            <a:picLocks noChangeAspect="1"/>
          </p:cNvPicPr>
          <p:nvPr/>
        </p:nvPicPr>
        <p:blipFill>
          <a:blip r:embed="rId5"/>
          <a:stretch>
            <a:fillRect/>
          </a:stretch>
        </p:blipFill>
        <p:spPr>
          <a:xfrm>
            <a:off x="845820" y="5326380"/>
            <a:ext cx="228600" cy="228600"/>
          </a:xfrm>
          <a:prstGeom prst="rect">
            <a:avLst/>
          </a:prstGeom>
        </p:spPr>
      </p:pic>
      <p:sp>
        <p:nvSpPr>
          <p:cNvPr id="40" name="Text 33"/>
          <p:cNvSpPr txBox="1"/>
          <p:nvPr/>
        </p:nvSpPr>
        <p:spPr>
          <a:xfrm>
            <a:off x="1325880" y="5138928"/>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PostgreSQL</a:t>
            </a:r>
            <a:endParaRPr lang="en-US" sz="1500" dirty="0"/>
          </a:p>
        </p:txBody>
      </p:sp>
      <p:sp>
        <p:nvSpPr>
          <p:cNvPr id="41" name="Text 34"/>
          <p:cNvSpPr txBox="1"/>
          <p:nvPr/>
        </p:nvSpPr>
        <p:spPr>
          <a:xfrm>
            <a:off x="1325880" y="5504688"/>
            <a:ext cx="2651760" cy="502920"/>
          </a:xfrm>
          <a:prstGeom prst="rect">
            <a:avLst/>
          </a:prstGeom>
          <a:noFill/>
          <a:ln/>
        </p:spPr>
        <p:txBody>
          <a:bodyPr wrap="square" lIns="0" tIns="0" rIns="0" bIns="0" rtlCol="0" anchor="t"/>
          <a:lstStyle/>
          <a:p>
            <a:pPr indent="0" marL="0">
              <a:buNone/>
            </a:pPr>
            <a:r>
              <a:rPr lang="en-US" sz="1200" dirty="0">
                <a:solidFill>
                  <a:schemeClr val="tx1"/>
                </a:solidFill>
              </a:rPr>
              <a:t>Users, events, jobs, content, audit logs</a:t>
            </a:r>
            <a:endParaRPr lang="en-US" sz="1200" dirty="0"/>
          </a:p>
        </p:txBody>
      </p:sp>
      <p:sp>
        <p:nvSpPr>
          <p:cNvPr id="42" name="Redis / Celery card"/>
          <p:cNvSpPr/>
          <p:nvPr/>
        </p:nvSpPr>
        <p:spPr>
          <a:xfrm>
            <a:off x="4297680" y="5029200"/>
            <a:ext cx="3566160" cy="1143000"/>
          </a:xfrm>
          <a:prstGeom prst="roundRect">
            <a:avLst>
              <a:gd name="adj" fmla="val 96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43" name="Redis / Celery circle"/>
          <p:cNvSpPr/>
          <p:nvPr/>
        </p:nvSpPr>
        <p:spPr>
          <a:xfrm>
            <a:off x="4480560" y="5212080"/>
            <a:ext cx="457200" cy="457200"/>
          </a:xfrm>
          <a:prstGeom prst="ellipse">
            <a:avLst/>
          </a:prstGeom>
          <a:solidFill>
            <a:schemeClr val="accent5"/>
          </a:solidFill>
          <a:ln/>
        </p:spPr>
      </p:sp>
      <p:pic>
        <p:nvPicPr>
          <p:cNvPr id="44" name="Redis / Celery icon" descr="Redis / Celery">    </p:cNvPr>
          <p:cNvPicPr>
            <a:picLocks noChangeAspect="1"/>
          </p:cNvPicPr>
          <p:nvPr/>
        </p:nvPicPr>
        <p:blipFill>
          <a:blip r:embed="rId6"/>
          <a:stretch>
            <a:fillRect/>
          </a:stretch>
        </p:blipFill>
        <p:spPr>
          <a:xfrm>
            <a:off x="4594860" y="5326380"/>
            <a:ext cx="228600" cy="228600"/>
          </a:xfrm>
          <a:prstGeom prst="rect">
            <a:avLst/>
          </a:prstGeom>
        </p:spPr>
      </p:pic>
      <p:sp>
        <p:nvSpPr>
          <p:cNvPr id="45" name="Text 37"/>
          <p:cNvSpPr txBox="1"/>
          <p:nvPr/>
        </p:nvSpPr>
        <p:spPr>
          <a:xfrm>
            <a:off x="5074920" y="5138928"/>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Redis / Celery</a:t>
            </a:r>
            <a:endParaRPr lang="en-US" sz="1500" dirty="0"/>
          </a:p>
        </p:txBody>
      </p:sp>
      <p:sp>
        <p:nvSpPr>
          <p:cNvPr id="46" name="Text 38"/>
          <p:cNvSpPr txBox="1"/>
          <p:nvPr/>
        </p:nvSpPr>
        <p:spPr>
          <a:xfrm>
            <a:off x="5074920" y="5504688"/>
            <a:ext cx="2651760" cy="502920"/>
          </a:xfrm>
          <a:prstGeom prst="rect">
            <a:avLst/>
          </a:prstGeom>
          <a:noFill/>
          <a:ln/>
        </p:spPr>
        <p:txBody>
          <a:bodyPr wrap="square" lIns="0" tIns="0" rIns="0" bIns="0" rtlCol="0" anchor="t"/>
          <a:lstStyle/>
          <a:p>
            <a:pPr indent="0" marL="0">
              <a:buNone/>
            </a:pPr>
            <a:r>
              <a:rPr lang="en-US" sz="1200" dirty="0">
                <a:solidFill>
                  <a:schemeClr val="tx1"/>
                </a:solidFill>
              </a:rPr>
              <a:t>Async jobs, caching, scheduled purge</a:t>
            </a:r>
            <a:endParaRPr lang="en-US" sz="1200" dirty="0"/>
          </a:p>
        </p:txBody>
      </p:sp>
      <p:sp>
        <p:nvSpPr>
          <p:cNvPr id="47" name="Cloudflare R2 / S3 card"/>
          <p:cNvSpPr/>
          <p:nvPr/>
        </p:nvSpPr>
        <p:spPr>
          <a:xfrm>
            <a:off x="8046720" y="5029200"/>
            <a:ext cx="3566160" cy="1143000"/>
          </a:xfrm>
          <a:prstGeom prst="roundRect">
            <a:avLst>
              <a:gd name="adj" fmla="val 96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48" name="Cloudflare R2 / S3 circle"/>
          <p:cNvSpPr/>
          <p:nvPr/>
        </p:nvSpPr>
        <p:spPr>
          <a:xfrm>
            <a:off x="8229600" y="5212080"/>
            <a:ext cx="457200" cy="457200"/>
          </a:xfrm>
          <a:prstGeom prst="ellipse">
            <a:avLst/>
          </a:prstGeom>
          <a:solidFill>
            <a:schemeClr val="accent2"/>
          </a:solidFill>
          <a:ln/>
        </p:spPr>
      </p:sp>
      <p:pic>
        <p:nvPicPr>
          <p:cNvPr id="49" name="Cloudflare R2 / S3 icon" descr="Cloudflare R2 / S3">    </p:cNvPr>
          <p:cNvPicPr>
            <a:picLocks noChangeAspect="1"/>
          </p:cNvPicPr>
          <p:nvPr/>
        </p:nvPicPr>
        <p:blipFill>
          <a:blip r:embed="rId7"/>
          <a:stretch>
            <a:fillRect/>
          </a:stretch>
        </p:blipFill>
        <p:spPr>
          <a:xfrm>
            <a:off x="8343900" y="5326380"/>
            <a:ext cx="228600" cy="228600"/>
          </a:xfrm>
          <a:prstGeom prst="rect">
            <a:avLst/>
          </a:prstGeom>
        </p:spPr>
      </p:pic>
      <p:sp>
        <p:nvSpPr>
          <p:cNvPr id="50" name="Text 41"/>
          <p:cNvSpPr txBox="1"/>
          <p:nvPr/>
        </p:nvSpPr>
        <p:spPr>
          <a:xfrm>
            <a:off x="8823960" y="5138928"/>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Cloudflare R2 / S3</a:t>
            </a:r>
            <a:endParaRPr lang="en-US" sz="1500" dirty="0"/>
          </a:p>
        </p:txBody>
      </p:sp>
      <p:sp>
        <p:nvSpPr>
          <p:cNvPr id="51" name="Text 42"/>
          <p:cNvSpPr txBox="1"/>
          <p:nvPr/>
        </p:nvSpPr>
        <p:spPr>
          <a:xfrm>
            <a:off x="8823960" y="5504688"/>
            <a:ext cx="2651760" cy="502920"/>
          </a:xfrm>
          <a:prstGeom prst="rect">
            <a:avLst/>
          </a:prstGeom>
          <a:noFill/>
          <a:ln/>
        </p:spPr>
        <p:txBody>
          <a:bodyPr wrap="square" lIns="0" tIns="0" rIns="0" bIns="0" rtlCol="0" anchor="t"/>
          <a:lstStyle/>
          <a:p>
            <a:pPr indent="0" marL="0">
              <a:buNone/>
            </a:pPr>
            <a:r>
              <a:rPr lang="en-US" sz="1200" dirty="0">
                <a:solidFill>
                  <a:schemeClr val="tx1"/>
                </a:solidFill>
              </a:rPr>
              <a:t>Media storage with local disk fallback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LangGraph Multi-Agent Pipeline</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A stateful StateGraph, not a linear script: parallel nodes, dynamic fan-out and conditional routing</a:t>
            </a:r>
            <a:endParaRPr lang="en-US" sz="1400" dirty="0"/>
          </a:p>
        </p:txBody>
      </p:sp>
      <p:sp>
        <p:nvSpPr>
          <p:cNvPr id="4" name="Step 1"/>
          <p:cNvSpPr/>
          <p:nvPr/>
        </p:nvSpPr>
        <p:spPr>
          <a:xfrm>
            <a:off x="548640" y="1600200"/>
            <a:ext cx="1463040" cy="2148840"/>
          </a:xfrm>
          <a:prstGeom prst="roundRect">
            <a:avLst>
              <a:gd name="adj" fmla="val 75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5" name="Step number 1"/>
          <p:cNvSpPr/>
          <p:nvPr/>
        </p:nvSpPr>
        <p:spPr>
          <a:xfrm>
            <a:off x="1005840" y="1755648"/>
            <a:ext cx="548640" cy="548640"/>
          </a:xfrm>
          <a:prstGeom prst="ellipse">
            <a:avLst/>
          </a:prstGeom>
          <a:solidFill>
            <a:schemeClr val="accent1"/>
          </a:solidFill>
          <a:ln/>
        </p:spPr>
      </p:sp>
      <p:sp>
        <p:nvSpPr>
          <p:cNvPr id="6" name="Text 4"/>
          <p:cNvSpPr txBox="1"/>
          <p:nvPr/>
        </p:nvSpPr>
        <p:spPr>
          <a:xfrm>
            <a:off x="1005840" y="1755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640080" y="2395728"/>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Quality Check</a:t>
            </a:r>
            <a:endParaRPr lang="en-US" sz="1400" dirty="0"/>
          </a:p>
        </p:txBody>
      </p:sp>
      <p:sp>
        <p:nvSpPr>
          <p:cNvPr id="8" name="Text 6"/>
          <p:cNvSpPr txBox="1"/>
          <p:nvPr/>
        </p:nvSpPr>
        <p:spPr>
          <a:xfrm>
            <a:off x="640080" y="2926080"/>
            <a:ext cx="1280160" cy="731520"/>
          </a:xfrm>
          <a:prstGeom prst="rect">
            <a:avLst/>
          </a:prstGeom>
          <a:noFill/>
          <a:ln/>
        </p:spPr>
        <p:txBody>
          <a:bodyPr wrap="square" lIns="0" tIns="0" rIns="0" bIns="0" rtlCol="0" anchor="t"/>
          <a:lstStyle/>
          <a:p>
            <a:pPr algn="ctr" indent="0" marL="0">
              <a:buNone/>
            </a:pPr>
            <a:r>
              <a:rPr lang="en-US" sz="1100" dirty="0">
                <a:solidFill>
                  <a:schemeClr val="tx1"/>
                </a:solidFill>
              </a:rPr>
              <a:t>Silence ratio, duration and confidence gate</a:t>
            </a:r>
            <a:endParaRPr lang="en-US" sz="1100" dirty="0"/>
          </a:p>
        </p:txBody>
      </p:sp>
      <p:sp>
        <p:nvSpPr>
          <p:cNvPr id="9" name="Step 2"/>
          <p:cNvSpPr/>
          <p:nvPr/>
        </p:nvSpPr>
        <p:spPr>
          <a:xfrm>
            <a:off x="2148840" y="1600200"/>
            <a:ext cx="1463040" cy="2148840"/>
          </a:xfrm>
          <a:prstGeom prst="roundRect">
            <a:avLst>
              <a:gd name="adj" fmla="val 75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0" name="Step number 2"/>
          <p:cNvSpPr/>
          <p:nvPr/>
        </p:nvSpPr>
        <p:spPr>
          <a:xfrm>
            <a:off x="2606040" y="1755648"/>
            <a:ext cx="548640" cy="548640"/>
          </a:xfrm>
          <a:prstGeom prst="ellipse">
            <a:avLst/>
          </a:prstGeom>
          <a:solidFill>
            <a:schemeClr val="accent3"/>
          </a:solidFill>
          <a:ln/>
        </p:spPr>
      </p:sp>
      <p:sp>
        <p:nvSpPr>
          <p:cNvPr id="11" name="Text 9"/>
          <p:cNvSpPr txBox="1"/>
          <p:nvPr/>
        </p:nvSpPr>
        <p:spPr>
          <a:xfrm>
            <a:off x="2606040" y="1755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2240280" y="2395728"/>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Parallel Analysis</a:t>
            </a:r>
            <a:endParaRPr lang="en-US" sz="1400" dirty="0"/>
          </a:p>
        </p:txBody>
      </p:sp>
      <p:sp>
        <p:nvSpPr>
          <p:cNvPr id="13" name="Text 11"/>
          <p:cNvSpPr txBox="1"/>
          <p:nvPr/>
        </p:nvSpPr>
        <p:spPr>
          <a:xfrm>
            <a:off x="2240280" y="2926080"/>
            <a:ext cx="1280160" cy="731520"/>
          </a:xfrm>
          <a:prstGeom prst="rect">
            <a:avLst/>
          </a:prstGeom>
          <a:noFill/>
          <a:ln/>
        </p:spPr>
        <p:txBody>
          <a:bodyPr wrap="square" lIns="0" tIns="0" rIns="0" bIns="0" rtlCol="0" anchor="t"/>
          <a:lstStyle/>
          <a:p>
            <a:pPr algn="ctr" indent="0" marL="0">
              <a:buNone/>
            </a:pPr>
            <a:r>
              <a:rPr lang="en-US" sz="1100" dirty="0">
                <a:solidFill>
                  <a:schemeClr val="tx1"/>
                </a:solidFill>
              </a:rPr>
              <a:t>Topics, highlights, speakers, sentiment</a:t>
            </a:r>
            <a:endParaRPr lang="en-US" sz="1100" dirty="0"/>
          </a:p>
        </p:txBody>
      </p:sp>
      <p:sp>
        <p:nvSpPr>
          <p:cNvPr id="14" name="Step 3"/>
          <p:cNvSpPr/>
          <p:nvPr/>
        </p:nvSpPr>
        <p:spPr>
          <a:xfrm>
            <a:off x="3749040" y="1600200"/>
            <a:ext cx="1463040" cy="2148840"/>
          </a:xfrm>
          <a:prstGeom prst="roundRect">
            <a:avLst>
              <a:gd name="adj" fmla="val 75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5" name="Step number 3"/>
          <p:cNvSpPr/>
          <p:nvPr/>
        </p:nvSpPr>
        <p:spPr>
          <a:xfrm>
            <a:off x="4206240" y="1755648"/>
            <a:ext cx="548640" cy="548640"/>
          </a:xfrm>
          <a:prstGeom prst="ellipse">
            <a:avLst/>
          </a:prstGeom>
          <a:solidFill>
            <a:schemeClr val="accent2"/>
          </a:solidFill>
          <a:ln/>
        </p:spPr>
      </p:sp>
      <p:sp>
        <p:nvSpPr>
          <p:cNvPr id="16" name="Text 14"/>
          <p:cNvSpPr txBox="1"/>
          <p:nvPr/>
        </p:nvSpPr>
        <p:spPr>
          <a:xfrm>
            <a:off x="4206240" y="1755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3840480" y="2395728"/>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Content Planner</a:t>
            </a:r>
            <a:endParaRPr lang="en-US" sz="1400" dirty="0"/>
          </a:p>
        </p:txBody>
      </p:sp>
      <p:sp>
        <p:nvSpPr>
          <p:cNvPr id="18" name="Text 16"/>
          <p:cNvSpPr txBox="1"/>
          <p:nvPr/>
        </p:nvSpPr>
        <p:spPr>
          <a:xfrm>
            <a:off x="3840480" y="2926080"/>
            <a:ext cx="1280160" cy="731520"/>
          </a:xfrm>
          <a:prstGeom prst="rect">
            <a:avLst/>
          </a:prstGeom>
          <a:noFill/>
          <a:ln/>
        </p:spPr>
        <p:txBody>
          <a:bodyPr wrap="square" lIns="0" tIns="0" rIns="0" bIns="0" rtlCol="0" anchor="t"/>
          <a:lstStyle/>
          <a:p>
            <a:pPr algn="ctr" indent="0" marL="0">
              <a:buNone/>
            </a:pPr>
            <a:r>
              <a:rPr lang="en-US" sz="1100" dirty="0">
                <a:solidFill>
                  <a:schemeClr val="tx1"/>
                </a:solidFill>
              </a:rPr>
              <a:t>Master brief + optional selective RAG</a:t>
            </a:r>
            <a:endParaRPr lang="en-US" sz="1100" dirty="0"/>
          </a:p>
        </p:txBody>
      </p:sp>
      <p:sp>
        <p:nvSpPr>
          <p:cNvPr id="19" name="Step 4"/>
          <p:cNvSpPr/>
          <p:nvPr/>
        </p:nvSpPr>
        <p:spPr>
          <a:xfrm>
            <a:off x="5349240" y="1600200"/>
            <a:ext cx="1463040" cy="2148840"/>
          </a:xfrm>
          <a:prstGeom prst="roundRect">
            <a:avLst>
              <a:gd name="adj" fmla="val 75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20" name="Step number 4"/>
          <p:cNvSpPr/>
          <p:nvPr/>
        </p:nvSpPr>
        <p:spPr>
          <a:xfrm>
            <a:off x="5806440" y="1755648"/>
            <a:ext cx="548640" cy="548640"/>
          </a:xfrm>
          <a:prstGeom prst="ellipse">
            <a:avLst/>
          </a:prstGeom>
          <a:solidFill>
            <a:schemeClr val="accent4"/>
          </a:solidFill>
          <a:ln/>
        </p:spPr>
      </p:sp>
      <p:sp>
        <p:nvSpPr>
          <p:cNvPr id="21" name="Text 19"/>
          <p:cNvSpPr txBox="1"/>
          <p:nvPr/>
        </p:nvSpPr>
        <p:spPr>
          <a:xfrm>
            <a:off x="5806440" y="1755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20"/>
          <p:cNvSpPr txBox="1"/>
          <p:nvPr/>
        </p:nvSpPr>
        <p:spPr>
          <a:xfrm>
            <a:off x="5440680" y="2395728"/>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Creator Agents</a:t>
            </a:r>
            <a:endParaRPr lang="en-US" sz="1400" dirty="0"/>
          </a:p>
        </p:txBody>
      </p:sp>
      <p:sp>
        <p:nvSpPr>
          <p:cNvPr id="23" name="Text 21"/>
          <p:cNvSpPr txBox="1"/>
          <p:nvPr/>
        </p:nvSpPr>
        <p:spPr>
          <a:xfrm>
            <a:off x="5440680" y="2926080"/>
            <a:ext cx="1280160" cy="731520"/>
          </a:xfrm>
          <a:prstGeom prst="rect">
            <a:avLst/>
          </a:prstGeom>
          <a:noFill/>
          <a:ln/>
        </p:spPr>
        <p:txBody>
          <a:bodyPr wrap="square" lIns="0" tIns="0" rIns="0" bIns="0" rtlCol="0" anchor="t"/>
          <a:lstStyle/>
          <a:p>
            <a:pPr algn="ctr" indent="0" marL="0">
              <a:buNone/>
            </a:pPr>
            <a:r>
              <a:rPr lang="en-US" sz="1100" dirty="0">
                <a:solidFill>
                  <a:schemeClr val="tx1"/>
                </a:solidFill>
              </a:rPr>
              <a:t>Send API spawns one agent per format</a:t>
            </a:r>
            <a:endParaRPr lang="en-US" sz="1100" dirty="0"/>
          </a:p>
        </p:txBody>
      </p:sp>
      <p:sp>
        <p:nvSpPr>
          <p:cNvPr id="24" name="Step 5"/>
          <p:cNvSpPr/>
          <p:nvPr/>
        </p:nvSpPr>
        <p:spPr>
          <a:xfrm>
            <a:off x="6949440" y="1600200"/>
            <a:ext cx="1463040" cy="2148840"/>
          </a:xfrm>
          <a:prstGeom prst="roundRect">
            <a:avLst>
              <a:gd name="adj" fmla="val 75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25" name="Step number 5"/>
          <p:cNvSpPr/>
          <p:nvPr/>
        </p:nvSpPr>
        <p:spPr>
          <a:xfrm>
            <a:off x="7406640" y="1755648"/>
            <a:ext cx="548640" cy="548640"/>
          </a:xfrm>
          <a:prstGeom prst="ellipse">
            <a:avLst/>
          </a:prstGeom>
          <a:solidFill>
            <a:schemeClr val="accent5"/>
          </a:solidFill>
          <a:ln/>
        </p:spPr>
      </p:sp>
      <p:sp>
        <p:nvSpPr>
          <p:cNvPr id="26" name="Text 24"/>
          <p:cNvSpPr txBox="1"/>
          <p:nvPr/>
        </p:nvSpPr>
        <p:spPr>
          <a:xfrm>
            <a:off x="7406640" y="1755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5"/>
          <p:cNvSpPr txBox="1"/>
          <p:nvPr/>
        </p:nvSpPr>
        <p:spPr>
          <a:xfrm>
            <a:off x="7040880" y="2395728"/>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Guardrails</a:t>
            </a:r>
            <a:endParaRPr lang="en-US" sz="1400" dirty="0"/>
          </a:p>
        </p:txBody>
      </p:sp>
      <p:sp>
        <p:nvSpPr>
          <p:cNvPr id="28" name="Text 26"/>
          <p:cNvSpPr txBox="1"/>
          <p:nvPr/>
        </p:nvSpPr>
        <p:spPr>
          <a:xfrm>
            <a:off x="7040880" y="2926080"/>
            <a:ext cx="1280160" cy="731520"/>
          </a:xfrm>
          <a:prstGeom prst="rect">
            <a:avLst/>
          </a:prstGeom>
          <a:noFill/>
          <a:ln/>
        </p:spPr>
        <p:txBody>
          <a:bodyPr wrap="square" lIns="0" tIns="0" rIns="0" bIns="0" rtlCol="0" anchor="t"/>
          <a:lstStyle/>
          <a:p>
            <a:pPr algn="ctr" indent="0" marL="0">
              <a:buNone/>
            </a:pPr>
            <a:r>
              <a:rPr lang="en-US" sz="1100" dirty="0">
                <a:solidFill>
                  <a:schemeClr val="tx1"/>
                </a:solidFill>
              </a:rPr>
              <a:t>Moderation and transcript grounding</a:t>
            </a:r>
            <a:endParaRPr lang="en-US" sz="1100" dirty="0"/>
          </a:p>
        </p:txBody>
      </p:sp>
      <p:sp>
        <p:nvSpPr>
          <p:cNvPr id="29" name="Step 6"/>
          <p:cNvSpPr/>
          <p:nvPr/>
        </p:nvSpPr>
        <p:spPr>
          <a:xfrm>
            <a:off x="8549640" y="1600200"/>
            <a:ext cx="1463040" cy="2148840"/>
          </a:xfrm>
          <a:prstGeom prst="roundRect">
            <a:avLst>
              <a:gd name="adj" fmla="val 75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30" name="Step number 6"/>
          <p:cNvSpPr/>
          <p:nvPr/>
        </p:nvSpPr>
        <p:spPr>
          <a:xfrm>
            <a:off x="9006840" y="1755648"/>
            <a:ext cx="548640" cy="548640"/>
          </a:xfrm>
          <a:prstGeom prst="ellipse">
            <a:avLst/>
          </a:prstGeom>
          <a:solidFill>
            <a:schemeClr val="accent6"/>
          </a:solidFill>
          <a:ln/>
        </p:spPr>
      </p:sp>
      <p:sp>
        <p:nvSpPr>
          <p:cNvPr id="31" name="Text 29"/>
          <p:cNvSpPr txBox="1"/>
          <p:nvPr/>
        </p:nvSpPr>
        <p:spPr>
          <a:xfrm>
            <a:off x="9006840" y="1755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2" name="Text 30"/>
          <p:cNvSpPr txBox="1"/>
          <p:nvPr/>
        </p:nvSpPr>
        <p:spPr>
          <a:xfrm>
            <a:off x="8641080" y="2395728"/>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Translation</a:t>
            </a:r>
            <a:endParaRPr lang="en-US" sz="1400" dirty="0"/>
          </a:p>
        </p:txBody>
      </p:sp>
      <p:sp>
        <p:nvSpPr>
          <p:cNvPr id="33" name="Text 31"/>
          <p:cNvSpPr txBox="1"/>
          <p:nvPr/>
        </p:nvSpPr>
        <p:spPr>
          <a:xfrm>
            <a:off x="8641080" y="2926080"/>
            <a:ext cx="1280160" cy="731520"/>
          </a:xfrm>
          <a:prstGeom prst="rect">
            <a:avLst/>
          </a:prstGeom>
          <a:noFill/>
          <a:ln/>
        </p:spPr>
        <p:txBody>
          <a:bodyPr wrap="square" lIns="0" tIns="0" rIns="0" bIns="0" rtlCol="0" anchor="t"/>
          <a:lstStyle/>
          <a:p>
            <a:pPr algn="ctr" indent="0" marL="0">
              <a:buNone/>
            </a:pPr>
            <a:r>
              <a:rPr lang="en-US" sz="1100" dirty="0">
                <a:solidFill>
                  <a:schemeClr val="tx1"/>
                </a:solidFill>
              </a:rPr>
              <a:t>Localise approved drafts</a:t>
            </a:r>
            <a:endParaRPr lang="en-US" sz="1100" dirty="0"/>
          </a:p>
        </p:txBody>
      </p:sp>
      <p:sp>
        <p:nvSpPr>
          <p:cNvPr id="34" name="Step 7"/>
          <p:cNvSpPr/>
          <p:nvPr/>
        </p:nvSpPr>
        <p:spPr>
          <a:xfrm>
            <a:off x="10149840" y="1600200"/>
            <a:ext cx="1463040" cy="2148840"/>
          </a:xfrm>
          <a:prstGeom prst="roundRect">
            <a:avLst>
              <a:gd name="adj" fmla="val 75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35" name="Step number 7"/>
          <p:cNvSpPr/>
          <p:nvPr/>
        </p:nvSpPr>
        <p:spPr>
          <a:xfrm>
            <a:off x="10607040" y="1755648"/>
            <a:ext cx="548640" cy="548640"/>
          </a:xfrm>
          <a:prstGeom prst="ellipse">
            <a:avLst/>
          </a:prstGeom>
          <a:solidFill>
            <a:schemeClr val="accent1"/>
          </a:solidFill>
          <a:ln/>
        </p:spPr>
      </p:sp>
      <p:sp>
        <p:nvSpPr>
          <p:cNvPr id="36" name="Text 34"/>
          <p:cNvSpPr txBox="1"/>
          <p:nvPr/>
        </p:nvSpPr>
        <p:spPr>
          <a:xfrm>
            <a:off x="10607040" y="1755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7" name="Text 35"/>
          <p:cNvSpPr txBox="1"/>
          <p:nvPr/>
        </p:nvSpPr>
        <p:spPr>
          <a:xfrm>
            <a:off x="10241280" y="2395728"/>
            <a:ext cx="1280160" cy="502920"/>
          </a:xfrm>
          <a:prstGeom prst="rect">
            <a:avLst/>
          </a:prstGeom>
          <a:noFill/>
          <a:ln/>
        </p:spPr>
        <p:txBody>
          <a:bodyPr wrap="square" lIns="0" tIns="0" rIns="0" bIns="0" rtlCol="0" anchor="ctr"/>
          <a:lstStyle/>
          <a:p>
            <a:pPr algn="ctr" indent="0" marL="0">
              <a:buNone/>
            </a:pPr>
            <a:r>
              <a:rPr lang="en-US" sz="1400" b="1" dirty="0">
                <a:solidFill>
                  <a:schemeClr val="tx2"/>
                </a:solidFill>
              </a:rPr>
              <a:t>Human Review</a:t>
            </a:r>
            <a:endParaRPr lang="en-US" sz="1400" dirty="0"/>
          </a:p>
        </p:txBody>
      </p:sp>
      <p:sp>
        <p:nvSpPr>
          <p:cNvPr id="38" name="Text 36"/>
          <p:cNvSpPr txBox="1"/>
          <p:nvPr/>
        </p:nvSpPr>
        <p:spPr>
          <a:xfrm>
            <a:off x="10241280" y="2926080"/>
            <a:ext cx="1280160" cy="731520"/>
          </a:xfrm>
          <a:prstGeom prst="rect">
            <a:avLst/>
          </a:prstGeom>
          <a:noFill/>
          <a:ln/>
        </p:spPr>
        <p:txBody>
          <a:bodyPr wrap="square" lIns="0" tIns="0" rIns="0" bIns="0" rtlCol="0" anchor="t"/>
          <a:lstStyle/>
          <a:p>
            <a:pPr algn="ctr" indent="0" marL="0">
              <a:buNone/>
            </a:pPr>
            <a:r>
              <a:rPr lang="en-US" sz="1100" dirty="0">
                <a:solidFill>
                  <a:schemeClr val="tx1"/>
                </a:solidFill>
              </a:rPr>
              <a:t>Approve → ready to publish</a:t>
            </a:r>
            <a:endParaRPr lang="en-US" sz="1100" dirty="0"/>
          </a:p>
        </p:txBody>
      </p:sp>
      <p:sp>
        <p:nvSpPr>
          <p:cNvPr id="39" name="Parallel fan-out note"/>
          <p:cNvSpPr/>
          <p:nvPr/>
        </p:nvSpPr>
        <p:spPr>
          <a:xfrm>
            <a:off x="548640" y="4023360"/>
            <a:ext cx="3566160" cy="2194560"/>
          </a:xfrm>
          <a:prstGeom prst="roundRect">
            <a:avLst>
              <a:gd name="adj" fmla="val 5000"/>
            </a:avLst>
          </a:prstGeom>
          <a:solidFill>
            <a:schemeClr val="accent3">
              <a:alpha val="10000"/>
            </a:schemeClr>
          </a:solidFill>
          <a:ln/>
        </p:spPr>
      </p:sp>
      <p:sp>
        <p:nvSpPr>
          <p:cNvPr id="40" name="Parallel fan-out circle"/>
          <p:cNvSpPr/>
          <p:nvPr/>
        </p:nvSpPr>
        <p:spPr>
          <a:xfrm>
            <a:off x="777240" y="4206240"/>
            <a:ext cx="457200" cy="457200"/>
          </a:xfrm>
          <a:prstGeom prst="ellipse">
            <a:avLst/>
          </a:prstGeom>
          <a:solidFill>
            <a:schemeClr val="accent3"/>
          </a:solidFill>
          <a:ln/>
        </p:spPr>
      </p:sp>
      <p:pic>
        <p:nvPicPr>
          <p:cNvPr id="41" name="Parallel fan-out icon" descr="Parallel fan-out">    </p:cNvPr>
          <p:cNvPicPr>
            <a:picLocks noChangeAspect="1"/>
          </p:cNvPicPr>
          <p:nvPr/>
        </p:nvPicPr>
        <p:blipFill>
          <a:blip r:embed="rId1"/>
          <a:stretch>
            <a:fillRect/>
          </a:stretch>
        </p:blipFill>
        <p:spPr>
          <a:xfrm>
            <a:off x="891540" y="4320540"/>
            <a:ext cx="228600" cy="228600"/>
          </a:xfrm>
          <a:prstGeom prst="rect">
            <a:avLst/>
          </a:prstGeom>
        </p:spPr>
      </p:pic>
      <p:sp>
        <p:nvSpPr>
          <p:cNvPr id="42" name="Text 39"/>
          <p:cNvSpPr txBox="1"/>
          <p:nvPr/>
        </p:nvSpPr>
        <p:spPr>
          <a:xfrm>
            <a:off x="1371600" y="4206240"/>
            <a:ext cx="2560320" cy="457200"/>
          </a:xfrm>
          <a:prstGeom prst="rect">
            <a:avLst/>
          </a:prstGeom>
          <a:noFill/>
          <a:ln/>
        </p:spPr>
        <p:txBody>
          <a:bodyPr wrap="square" lIns="0" tIns="0" rIns="0" bIns="0" rtlCol="0" anchor="ctr"/>
          <a:lstStyle/>
          <a:p>
            <a:pPr indent="0" marL="0">
              <a:buNone/>
            </a:pPr>
            <a:r>
              <a:rPr lang="en-US" sz="1600" b="1" dirty="0">
                <a:solidFill>
                  <a:schemeClr val="accent3"/>
                </a:solidFill>
              </a:rPr>
              <a:t>Parallel fan-out</a:t>
            </a:r>
            <a:endParaRPr lang="en-US" sz="1600" dirty="0"/>
          </a:p>
        </p:txBody>
      </p:sp>
      <p:sp>
        <p:nvSpPr>
          <p:cNvPr id="43" name="Text 40"/>
          <p:cNvSpPr txBox="1"/>
          <p:nvPr/>
        </p:nvSpPr>
        <p:spPr>
          <a:xfrm>
            <a:off x="777240" y="4754880"/>
            <a:ext cx="3108960" cy="1371600"/>
          </a:xfrm>
          <a:prstGeom prst="rect">
            <a:avLst/>
          </a:prstGeom>
          <a:noFill/>
          <a:ln/>
        </p:spPr>
        <p:txBody>
          <a:bodyPr wrap="square" lIns="0" tIns="0" rIns="0" bIns="0" rtlCol="0" anchor="t"/>
          <a:lstStyle/>
          <a:p>
            <a:pPr indent="0" marL="0">
              <a:buNone/>
            </a:pPr>
            <a:r>
              <a:rPr lang="en-US" sz="1200" dirty="0">
                <a:solidFill>
                  <a:schemeClr val="tx1"/>
                </a:solidFill>
              </a:rPr>
              <a:t>Four analysis agents run concurrently to cut latency. LangGraph's Send API then spawns only the creator agents the user requested (summary, blog, LinkedIn, newsletter, Instagram, flyer).</a:t>
            </a:r>
            <a:endParaRPr lang="en-US" sz="1200" dirty="0"/>
          </a:p>
        </p:txBody>
      </p:sp>
      <p:sp>
        <p:nvSpPr>
          <p:cNvPr id="44" name="Selective RAG note"/>
          <p:cNvSpPr/>
          <p:nvPr/>
        </p:nvSpPr>
        <p:spPr>
          <a:xfrm>
            <a:off x="4297680" y="4023360"/>
            <a:ext cx="3566160" cy="2194560"/>
          </a:xfrm>
          <a:prstGeom prst="roundRect">
            <a:avLst>
              <a:gd name="adj" fmla="val 5000"/>
            </a:avLst>
          </a:prstGeom>
          <a:solidFill>
            <a:schemeClr val="accent2">
              <a:alpha val="10000"/>
            </a:schemeClr>
          </a:solidFill>
          <a:ln/>
        </p:spPr>
      </p:sp>
      <p:sp>
        <p:nvSpPr>
          <p:cNvPr id="45" name="Selective RAG circle"/>
          <p:cNvSpPr/>
          <p:nvPr/>
        </p:nvSpPr>
        <p:spPr>
          <a:xfrm>
            <a:off x="4526280" y="4206240"/>
            <a:ext cx="457200" cy="457200"/>
          </a:xfrm>
          <a:prstGeom prst="ellipse">
            <a:avLst/>
          </a:prstGeom>
          <a:solidFill>
            <a:schemeClr val="accent2"/>
          </a:solidFill>
          <a:ln/>
        </p:spPr>
      </p:sp>
      <p:pic>
        <p:nvPicPr>
          <p:cNvPr id="46" name="Selective RAG icon" descr="Selective RAG">    </p:cNvPr>
          <p:cNvPicPr>
            <a:picLocks noChangeAspect="1"/>
          </p:cNvPicPr>
          <p:nvPr/>
        </p:nvPicPr>
        <p:blipFill>
          <a:blip r:embed="rId2"/>
          <a:stretch>
            <a:fillRect/>
          </a:stretch>
        </p:blipFill>
        <p:spPr>
          <a:xfrm>
            <a:off x="4640580" y="4320540"/>
            <a:ext cx="228600" cy="228600"/>
          </a:xfrm>
          <a:prstGeom prst="rect">
            <a:avLst/>
          </a:prstGeom>
        </p:spPr>
      </p:pic>
      <p:sp>
        <p:nvSpPr>
          <p:cNvPr id="47" name="Text 43"/>
          <p:cNvSpPr txBox="1"/>
          <p:nvPr/>
        </p:nvSpPr>
        <p:spPr>
          <a:xfrm>
            <a:off x="5120640" y="4206240"/>
            <a:ext cx="2560320" cy="457200"/>
          </a:xfrm>
          <a:prstGeom prst="rect">
            <a:avLst/>
          </a:prstGeom>
          <a:noFill/>
          <a:ln/>
        </p:spPr>
        <p:txBody>
          <a:bodyPr wrap="square" lIns="0" tIns="0" rIns="0" bIns="0" rtlCol="0" anchor="ctr"/>
          <a:lstStyle/>
          <a:p>
            <a:pPr indent="0" marL="0">
              <a:buNone/>
            </a:pPr>
            <a:r>
              <a:rPr lang="en-US" sz="1600" b="1" dirty="0">
                <a:solidFill>
                  <a:schemeClr val="accent2"/>
                </a:solidFill>
              </a:rPr>
              <a:t>Selective RAG</a:t>
            </a:r>
            <a:endParaRPr lang="en-US" sz="1600" dirty="0"/>
          </a:p>
        </p:txBody>
      </p:sp>
      <p:sp>
        <p:nvSpPr>
          <p:cNvPr id="48" name="Text 44"/>
          <p:cNvSpPr txBox="1"/>
          <p:nvPr/>
        </p:nvSpPr>
        <p:spPr>
          <a:xfrm>
            <a:off x="4526280" y="4754880"/>
            <a:ext cx="3108960" cy="1371600"/>
          </a:xfrm>
          <a:prstGeom prst="rect">
            <a:avLst/>
          </a:prstGeom>
          <a:noFill/>
          <a:ln/>
        </p:spPr>
        <p:txBody>
          <a:bodyPr wrap="square" lIns="0" tIns="0" rIns="0" bIns="0" rtlCol="0" anchor="t"/>
          <a:lstStyle/>
          <a:p>
            <a:pPr indent="0" marL="0">
              <a:buNone/>
            </a:pPr>
            <a:r>
              <a:rPr lang="en-US" sz="1200" dirty="0">
                <a:solidFill>
                  <a:schemeClr val="tx1"/>
                </a:solidFill>
              </a:rPr>
              <a:t>Retrieval runs only when the transcript exceeds a token threshold or org memory is on. Chunks use hashed bag-of-words vectors ranked by cosine similarity, so no vector extension is needed.</a:t>
            </a:r>
            <a:endParaRPr lang="en-US" sz="1200" dirty="0"/>
          </a:p>
        </p:txBody>
      </p:sp>
      <p:sp>
        <p:nvSpPr>
          <p:cNvPr id="49" name="Smart routing &amp; retry note"/>
          <p:cNvSpPr/>
          <p:nvPr/>
        </p:nvSpPr>
        <p:spPr>
          <a:xfrm>
            <a:off x="8046720" y="4023360"/>
            <a:ext cx="3566160" cy="2194560"/>
          </a:xfrm>
          <a:prstGeom prst="roundRect">
            <a:avLst>
              <a:gd name="adj" fmla="val 5000"/>
            </a:avLst>
          </a:prstGeom>
          <a:solidFill>
            <a:schemeClr val="accent4">
              <a:alpha val="10000"/>
            </a:schemeClr>
          </a:solidFill>
          <a:ln/>
        </p:spPr>
      </p:sp>
      <p:sp>
        <p:nvSpPr>
          <p:cNvPr id="50" name="Smart routing &amp; retry circle"/>
          <p:cNvSpPr/>
          <p:nvPr/>
        </p:nvSpPr>
        <p:spPr>
          <a:xfrm>
            <a:off x="8275320" y="4206240"/>
            <a:ext cx="457200" cy="457200"/>
          </a:xfrm>
          <a:prstGeom prst="ellipse">
            <a:avLst/>
          </a:prstGeom>
          <a:solidFill>
            <a:schemeClr val="accent4"/>
          </a:solidFill>
          <a:ln/>
        </p:spPr>
      </p:sp>
      <p:pic>
        <p:nvPicPr>
          <p:cNvPr id="51" name="Smart routing &amp; retry icon" descr="Smart routing &amp; retry">    </p:cNvPr>
          <p:cNvPicPr>
            <a:picLocks noChangeAspect="1"/>
          </p:cNvPicPr>
          <p:nvPr/>
        </p:nvPicPr>
        <p:blipFill>
          <a:blip r:embed="rId3"/>
          <a:stretch>
            <a:fillRect/>
          </a:stretch>
        </p:blipFill>
        <p:spPr>
          <a:xfrm>
            <a:off x="8389620" y="4320540"/>
            <a:ext cx="228600" cy="228600"/>
          </a:xfrm>
          <a:prstGeom prst="rect">
            <a:avLst/>
          </a:prstGeom>
        </p:spPr>
      </p:pic>
      <p:sp>
        <p:nvSpPr>
          <p:cNvPr id="52" name="Text 47"/>
          <p:cNvSpPr txBox="1"/>
          <p:nvPr/>
        </p:nvSpPr>
        <p:spPr>
          <a:xfrm>
            <a:off x="8869680" y="4206240"/>
            <a:ext cx="2560320" cy="457200"/>
          </a:xfrm>
          <a:prstGeom prst="rect">
            <a:avLst/>
          </a:prstGeom>
          <a:noFill/>
          <a:ln/>
        </p:spPr>
        <p:txBody>
          <a:bodyPr wrap="square" lIns="0" tIns="0" rIns="0" bIns="0" rtlCol="0" anchor="ctr"/>
          <a:lstStyle/>
          <a:p>
            <a:pPr indent="0" marL="0">
              <a:buNone/>
            </a:pPr>
            <a:r>
              <a:rPr lang="en-US" sz="1600" b="1" dirty="0">
                <a:solidFill>
                  <a:schemeClr val="accent4"/>
                </a:solidFill>
              </a:rPr>
              <a:t>Smart routing &amp; retry</a:t>
            </a:r>
            <a:endParaRPr lang="en-US" sz="1600" dirty="0"/>
          </a:p>
        </p:txBody>
      </p:sp>
      <p:sp>
        <p:nvSpPr>
          <p:cNvPr id="53" name="Text 48"/>
          <p:cNvSpPr txBox="1"/>
          <p:nvPr/>
        </p:nvSpPr>
        <p:spPr>
          <a:xfrm>
            <a:off x="8275320" y="4754880"/>
            <a:ext cx="3108960" cy="1371600"/>
          </a:xfrm>
          <a:prstGeom prst="rect">
            <a:avLst/>
          </a:prstGeom>
          <a:noFill/>
          <a:ln/>
        </p:spPr>
        <p:txBody>
          <a:bodyPr wrap="square" lIns="0" tIns="0" rIns="0" bIns="0" rtlCol="0" anchor="t"/>
          <a:lstStyle/>
          <a:p>
            <a:pPr indent="0" marL="0">
              <a:buNone/>
            </a:pPr>
            <a:r>
              <a:rPr lang="en-US" sz="1200" dirty="0">
                <a:solidFill>
                  <a:schemeClr val="tx1"/>
                </a:solidFill>
              </a:rPr>
              <a:t>Low-quality media is routed to re-upload. When guardrails fail, only the failed drafts are regenerated; anything still failing is parked for human review instead of being published.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Content Formats from One Recording</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Generated by six specialised creator agents and previewed in the Content Studio</a:t>
            </a:r>
            <a:endParaRPr lang="en-US" sz="1400" dirty="0"/>
          </a:p>
        </p:txBody>
      </p:sp>
      <p:sp>
        <p:nvSpPr>
          <p:cNvPr id="4" name="Executive Summary card"/>
          <p:cNvSpPr/>
          <p:nvPr/>
        </p:nvSpPr>
        <p:spPr>
          <a:xfrm>
            <a:off x="548640" y="1600200"/>
            <a:ext cx="2423160" cy="2103120"/>
          </a:xfrm>
          <a:prstGeom prst="roundRect">
            <a:avLst>
              <a:gd name="adj" fmla="val 5217"/>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5" name="Executive Summary circle"/>
          <p:cNvSpPr/>
          <p:nvPr/>
        </p:nvSpPr>
        <p:spPr>
          <a:xfrm>
            <a:off x="777240" y="1828800"/>
            <a:ext cx="548640" cy="548640"/>
          </a:xfrm>
          <a:prstGeom prst="ellipse">
            <a:avLst/>
          </a:prstGeom>
          <a:solidFill>
            <a:schemeClr val="accent1"/>
          </a:solidFill>
          <a:ln/>
        </p:spPr>
      </p:sp>
      <p:pic>
        <p:nvPicPr>
          <p:cNvPr id="6" name="Executive Summary icon" descr="Executive Summary">    </p:cNvPr>
          <p:cNvPicPr>
            <a:picLocks noChangeAspect="1"/>
          </p:cNvPicPr>
          <p:nvPr/>
        </p:nvPicPr>
        <p:blipFill>
          <a:blip r:embed="rId1"/>
          <a:stretch>
            <a:fillRect/>
          </a:stretch>
        </p:blipFill>
        <p:spPr>
          <a:xfrm>
            <a:off x="914400" y="1965960"/>
            <a:ext cx="274320" cy="274320"/>
          </a:xfrm>
          <a:prstGeom prst="rect">
            <a:avLst/>
          </a:prstGeom>
        </p:spPr>
      </p:pic>
      <p:sp>
        <p:nvSpPr>
          <p:cNvPr id="7" name="Text 4"/>
          <p:cNvSpPr txBox="1"/>
          <p:nvPr/>
        </p:nvSpPr>
        <p:spPr>
          <a:xfrm>
            <a:off x="777240" y="2468880"/>
            <a:ext cx="1965960" cy="365760"/>
          </a:xfrm>
          <a:prstGeom prst="rect">
            <a:avLst/>
          </a:prstGeom>
          <a:noFill/>
          <a:ln/>
        </p:spPr>
        <p:txBody>
          <a:bodyPr wrap="square" lIns="0" tIns="0" rIns="0" bIns="0" rtlCol="0" anchor="ctr"/>
          <a:lstStyle/>
          <a:p>
            <a:pPr indent="0" marL="0">
              <a:buNone/>
            </a:pPr>
            <a:r>
              <a:rPr lang="en-US" sz="1600" b="1" dirty="0">
                <a:solidFill>
                  <a:schemeClr val="tx2"/>
                </a:solidFill>
              </a:rPr>
              <a:t>Executive Summary</a:t>
            </a:r>
            <a:endParaRPr lang="en-US" sz="1600" dirty="0"/>
          </a:p>
        </p:txBody>
      </p:sp>
      <p:sp>
        <p:nvSpPr>
          <p:cNvPr id="8" name="Text 5"/>
          <p:cNvSpPr txBox="1"/>
          <p:nvPr/>
        </p:nvSpPr>
        <p:spPr>
          <a:xfrm>
            <a:off x="777240" y="2834640"/>
            <a:ext cx="1965960" cy="548640"/>
          </a:xfrm>
          <a:prstGeom prst="rect">
            <a:avLst/>
          </a:prstGeom>
          <a:noFill/>
          <a:ln/>
        </p:spPr>
        <p:txBody>
          <a:bodyPr wrap="square" lIns="0" tIns="0" rIns="0" bIns="0" rtlCol="0" anchor="t"/>
          <a:lstStyle/>
          <a:p>
            <a:pPr indent="0" marL="0">
              <a:buNone/>
            </a:pPr>
            <a:r>
              <a:rPr lang="en-US" sz="1300" dirty="0">
                <a:solidFill>
                  <a:schemeClr val="tx1"/>
                </a:solidFill>
              </a:rPr>
              <a:t>High-level takeaways and key metrics</a:t>
            </a:r>
            <a:endParaRPr lang="en-US" sz="1300" dirty="0"/>
          </a:p>
        </p:txBody>
      </p:sp>
      <p:sp>
        <p:nvSpPr>
          <p:cNvPr id="9" name="Blog Article card"/>
          <p:cNvSpPr/>
          <p:nvPr/>
        </p:nvSpPr>
        <p:spPr>
          <a:xfrm>
            <a:off x="3200400" y="1600200"/>
            <a:ext cx="2423160" cy="2103120"/>
          </a:xfrm>
          <a:prstGeom prst="roundRect">
            <a:avLst>
              <a:gd name="adj" fmla="val 5217"/>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0" name="Blog Article circle"/>
          <p:cNvSpPr/>
          <p:nvPr/>
        </p:nvSpPr>
        <p:spPr>
          <a:xfrm>
            <a:off x="3429000" y="1828800"/>
            <a:ext cx="548640" cy="548640"/>
          </a:xfrm>
          <a:prstGeom prst="ellipse">
            <a:avLst/>
          </a:prstGeom>
          <a:solidFill>
            <a:schemeClr val="accent3"/>
          </a:solidFill>
          <a:ln/>
        </p:spPr>
      </p:sp>
      <p:pic>
        <p:nvPicPr>
          <p:cNvPr id="11" name="Blog Article icon" descr="Blog Article">    </p:cNvPr>
          <p:cNvPicPr>
            <a:picLocks noChangeAspect="1"/>
          </p:cNvPicPr>
          <p:nvPr/>
        </p:nvPicPr>
        <p:blipFill>
          <a:blip r:embed="rId2"/>
          <a:stretch>
            <a:fillRect/>
          </a:stretch>
        </p:blipFill>
        <p:spPr>
          <a:xfrm>
            <a:off x="3566160" y="1965960"/>
            <a:ext cx="274320" cy="274320"/>
          </a:xfrm>
          <a:prstGeom prst="rect">
            <a:avLst/>
          </a:prstGeom>
        </p:spPr>
      </p:pic>
      <p:sp>
        <p:nvSpPr>
          <p:cNvPr id="12" name="Text 8"/>
          <p:cNvSpPr txBox="1"/>
          <p:nvPr/>
        </p:nvSpPr>
        <p:spPr>
          <a:xfrm>
            <a:off x="3429000" y="2468880"/>
            <a:ext cx="1965960" cy="365760"/>
          </a:xfrm>
          <a:prstGeom prst="rect">
            <a:avLst/>
          </a:prstGeom>
          <a:noFill/>
          <a:ln/>
        </p:spPr>
        <p:txBody>
          <a:bodyPr wrap="square" lIns="0" tIns="0" rIns="0" bIns="0" rtlCol="0" anchor="ctr"/>
          <a:lstStyle/>
          <a:p>
            <a:pPr indent="0" marL="0">
              <a:buNone/>
            </a:pPr>
            <a:r>
              <a:rPr lang="en-US" sz="1600" b="1" dirty="0">
                <a:solidFill>
                  <a:schemeClr val="tx2"/>
                </a:solidFill>
              </a:rPr>
              <a:t>Blog Article</a:t>
            </a:r>
            <a:endParaRPr lang="en-US" sz="1600" dirty="0"/>
          </a:p>
        </p:txBody>
      </p:sp>
      <p:sp>
        <p:nvSpPr>
          <p:cNvPr id="13" name="Text 9"/>
          <p:cNvSpPr txBox="1"/>
          <p:nvPr/>
        </p:nvSpPr>
        <p:spPr>
          <a:xfrm>
            <a:off x="3429000" y="2834640"/>
            <a:ext cx="1965960" cy="548640"/>
          </a:xfrm>
          <a:prstGeom prst="rect">
            <a:avLst/>
          </a:prstGeom>
          <a:noFill/>
          <a:ln/>
        </p:spPr>
        <p:txBody>
          <a:bodyPr wrap="square" lIns="0" tIns="0" rIns="0" bIns="0" rtlCol="0" anchor="t"/>
          <a:lstStyle/>
          <a:p>
            <a:pPr indent="0" marL="0">
              <a:buNone/>
            </a:pPr>
            <a:r>
              <a:rPr lang="en-US" sz="1300" dirty="0">
                <a:solidFill>
                  <a:schemeClr val="tx1"/>
                </a:solidFill>
              </a:rPr>
              <a:t>Deep-dive editorial with reading time</a:t>
            </a:r>
            <a:endParaRPr lang="en-US" sz="1300" dirty="0"/>
          </a:p>
        </p:txBody>
      </p:sp>
      <p:sp>
        <p:nvSpPr>
          <p:cNvPr id="14" name="LinkedIn Post card"/>
          <p:cNvSpPr/>
          <p:nvPr/>
        </p:nvSpPr>
        <p:spPr>
          <a:xfrm>
            <a:off x="5852160" y="1600200"/>
            <a:ext cx="2423160" cy="2103120"/>
          </a:xfrm>
          <a:prstGeom prst="roundRect">
            <a:avLst>
              <a:gd name="adj" fmla="val 5217"/>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5" name="LinkedIn Post circle"/>
          <p:cNvSpPr/>
          <p:nvPr/>
        </p:nvSpPr>
        <p:spPr>
          <a:xfrm>
            <a:off x="6080760" y="1828800"/>
            <a:ext cx="548640" cy="548640"/>
          </a:xfrm>
          <a:prstGeom prst="ellipse">
            <a:avLst/>
          </a:prstGeom>
          <a:solidFill>
            <a:schemeClr val="accent1"/>
          </a:solidFill>
          <a:ln/>
        </p:spPr>
      </p:sp>
      <p:pic>
        <p:nvPicPr>
          <p:cNvPr id="16" name="LinkedIn Post icon" descr="LinkedIn Post">    </p:cNvPr>
          <p:cNvPicPr>
            <a:picLocks noChangeAspect="1"/>
          </p:cNvPicPr>
          <p:nvPr/>
        </p:nvPicPr>
        <p:blipFill>
          <a:blip r:embed="rId3"/>
          <a:stretch>
            <a:fillRect/>
          </a:stretch>
        </p:blipFill>
        <p:spPr>
          <a:xfrm>
            <a:off x="6217920" y="1965960"/>
            <a:ext cx="274320" cy="274320"/>
          </a:xfrm>
          <a:prstGeom prst="rect">
            <a:avLst/>
          </a:prstGeom>
        </p:spPr>
      </p:pic>
      <p:sp>
        <p:nvSpPr>
          <p:cNvPr id="17" name="Text 12"/>
          <p:cNvSpPr txBox="1"/>
          <p:nvPr/>
        </p:nvSpPr>
        <p:spPr>
          <a:xfrm>
            <a:off x="6080760" y="2468880"/>
            <a:ext cx="1965960" cy="365760"/>
          </a:xfrm>
          <a:prstGeom prst="rect">
            <a:avLst/>
          </a:prstGeom>
          <a:noFill/>
          <a:ln/>
        </p:spPr>
        <p:txBody>
          <a:bodyPr wrap="square" lIns="0" tIns="0" rIns="0" bIns="0" rtlCol="0" anchor="ctr"/>
          <a:lstStyle/>
          <a:p>
            <a:pPr indent="0" marL="0">
              <a:buNone/>
            </a:pPr>
            <a:r>
              <a:rPr lang="en-US" sz="1600" b="1" dirty="0">
                <a:solidFill>
                  <a:schemeClr val="tx2"/>
                </a:solidFill>
              </a:rPr>
              <a:t>LinkedIn Post</a:t>
            </a:r>
            <a:endParaRPr lang="en-US" sz="1600" dirty="0"/>
          </a:p>
        </p:txBody>
      </p:sp>
      <p:sp>
        <p:nvSpPr>
          <p:cNvPr id="18" name="Text 13"/>
          <p:cNvSpPr txBox="1"/>
          <p:nvPr/>
        </p:nvSpPr>
        <p:spPr>
          <a:xfrm>
            <a:off x="6080760" y="2834640"/>
            <a:ext cx="1965960" cy="548640"/>
          </a:xfrm>
          <a:prstGeom prst="rect">
            <a:avLst/>
          </a:prstGeom>
          <a:noFill/>
          <a:ln/>
        </p:spPr>
        <p:txBody>
          <a:bodyPr wrap="square" lIns="0" tIns="0" rIns="0" bIns="0" rtlCol="0" anchor="t"/>
          <a:lstStyle/>
          <a:p>
            <a:pPr indent="0" marL="0">
              <a:buNone/>
            </a:pPr>
            <a:r>
              <a:rPr lang="en-US" sz="1300" dirty="0">
                <a:solidFill>
                  <a:schemeClr val="tx1"/>
                </a:solidFill>
              </a:rPr>
              <a:t>Hook, insights and hashtag cloud</a:t>
            </a:r>
            <a:endParaRPr lang="en-US" sz="1300" dirty="0"/>
          </a:p>
        </p:txBody>
      </p:sp>
      <p:sp>
        <p:nvSpPr>
          <p:cNvPr id="19" name="Newsletter card"/>
          <p:cNvSpPr/>
          <p:nvPr/>
        </p:nvSpPr>
        <p:spPr>
          <a:xfrm>
            <a:off x="548640" y="3977640"/>
            <a:ext cx="2423160" cy="2103120"/>
          </a:xfrm>
          <a:prstGeom prst="roundRect">
            <a:avLst>
              <a:gd name="adj" fmla="val 5217"/>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20" name="Newsletter circle"/>
          <p:cNvSpPr/>
          <p:nvPr/>
        </p:nvSpPr>
        <p:spPr>
          <a:xfrm>
            <a:off x="777240" y="4206240"/>
            <a:ext cx="548640" cy="548640"/>
          </a:xfrm>
          <a:prstGeom prst="ellipse">
            <a:avLst/>
          </a:prstGeom>
          <a:solidFill>
            <a:schemeClr val="accent2"/>
          </a:solidFill>
          <a:ln/>
        </p:spPr>
      </p:sp>
      <p:pic>
        <p:nvPicPr>
          <p:cNvPr id="21" name="Newsletter icon" descr="Newsletter">    </p:cNvPr>
          <p:cNvPicPr>
            <a:picLocks noChangeAspect="1"/>
          </p:cNvPicPr>
          <p:nvPr/>
        </p:nvPicPr>
        <p:blipFill>
          <a:blip r:embed="rId4"/>
          <a:stretch>
            <a:fillRect/>
          </a:stretch>
        </p:blipFill>
        <p:spPr>
          <a:xfrm>
            <a:off x="914400" y="4343400"/>
            <a:ext cx="274320" cy="274320"/>
          </a:xfrm>
          <a:prstGeom prst="rect">
            <a:avLst/>
          </a:prstGeom>
        </p:spPr>
      </p:pic>
      <p:sp>
        <p:nvSpPr>
          <p:cNvPr id="22" name="Text 16"/>
          <p:cNvSpPr txBox="1"/>
          <p:nvPr/>
        </p:nvSpPr>
        <p:spPr>
          <a:xfrm>
            <a:off x="777240" y="4846320"/>
            <a:ext cx="1965960" cy="365760"/>
          </a:xfrm>
          <a:prstGeom prst="rect">
            <a:avLst/>
          </a:prstGeom>
          <a:noFill/>
          <a:ln/>
        </p:spPr>
        <p:txBody>
          <a:bodyPr wrap="square" lIns="0" tIns="0" rIns="0" bIns="0" rtlCol="0" anchor="ctr"/>
          <a:lstStyle/>
          <a:p>
            <a:pPr indent="0" marL="0">
              <a:buNone/>
            </a:pPr>
            <a:r>
              <a:rPr lang="en-US" sz="1600" b="1" dirty="0">
                <a:solidFill>
                  <a:schemeClr val="tx2"/>
                </a:solidFill>
              </a:rPr>
              <a:t>Newsletter</a:t>
            </a:r>
            <a:endParaRPr lang="en-US" sz="1600" dirty="0"/>
          </a:p>
        </p:txBody>
      </p:sp>
      <p:sp>
        <p:nvSpPr>
          <p:cNvPr id="23" name="Text 17"/>
          <p:cNvSpPr txBox="1"/>
          <p:nvPr/>
        </p:nvSpPr>
        <p:spPr>
          <a:xfrm>
            <a:off x="777240" y="5212080"/>
            <a:ext cx="1965960" cy="548640"/>
          </a:xfrm>
          <a:prstGeom prst="rect">
            <a:avLst/>
          </a:prstGeom>
          <a:noFill/>
          <a:ln/>
        </p:spPr>
        <p:txBody>
          <a:bodyPr wrap="square" lIns="0" tIns="0" rIns="0" bIns="0" rtlCol="0" anchor="t"/>
          <a:lstStyle/>
          <a:p>
            <a:pPr indent="0" marL="0">
              <a:buNone/>
            </a:pPr>
            <a:r>
              <a:rPr lang="en-US" sz="1300" dirty="0">
                <a:solidFill>
                  <a:schemeClr val="tx1"/>
                </a:solidFill>
              </a:rPr>
              <a:t>TL;DR recap with a call to action</a:t>
            </a:r>
            <a:endParaRPr lang="en-US" sz="1300" dirty="0"/>
          </a:p>
        </p:txBody>
      </p:sp>
      <p:sp>
        <p:nvSpPr>
          <p:cNvPr id="24" name="Instagram Caption card"/>
          <p:cNvSpPr/>
          <p:nvPr/>
        </p:nvSpPr>
        <p:spPr>
          <a:xfrm>
            <a:off x="3200400" y="3977640"/>
            <a:ext cx="2423160" cy="2103120"/>
          </a:xfrm>
          <a:prstGeom prst="roundRect">
            <a:avLst>
              <a:gd name="adj" fmla="val 5217"/>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25" name="Instagram Caption circle"/>
          <p:cNvSpPr/>
          <p:nvPr/>
        </p:nvSpPr>
        <p:spPr>
          <a:xfrm>
            <a:off x="3429000" y="4206240"/>
            <a:ext cx="548640" cy="548640"/>
          </a:xfrm>
          <a:prstGeom prst="ellipse">
            <a:avLst/>
          </a:prstGeom>
          <a:solidFill>
            <a:schemeClr val="accent6"/>
          </a:solidFill>
          <a:ln/>
        </p:spPr>
      </p:sp>
      <p:pic>
        <p:nvPicPr>
          <p:cNvPr id="26" name="Instagram Caption icon" descr="Instagram Caption">    </p:cNvPr>
          <p:cNvPicPr>
            <a:picLocks noChangeAspect="1"/>
          </p:cNvPicPr>
          <p:nvPr/>
        </p:nvPicPr>
        <p:blipFill>
          <a:blip r:embed="rId5"/>
          <a:stretch>
            <a:fillRect/>
          </a:stretch>
        </p:blipFill>
        <p:spPr>
          <a:xfrm>
            <a:off x="3566160" y="4343400"/>
            <a:ext cx="274320" cy="274320"/>
          </a:xfrm>
          <a:prstGeom prst="rect">
            <a:avLst/>
          </a:prstGeom>
        </p:spPr>
      </p:pic>
      <p:sp>
        <p:nvSpPr>
          <p:cNvPr id="27" name="Text 20"/>
          <p:cNvSpPr txBox="1"/>
          <p:nvPr/>
        </p:nvSpPr>
        <p:spPr>
          <a:xfrm>
            <a:off x="3429000" y="4846320"/>
            <a:ext cx="1965960" cy="365760"/>
          </a:xfrm>
          <a:prstGeom prst="rect">
            <a:avLst/>
          </a:prstGeom>
          <a:noFill/>
          <a:ln/>
        </p:spPr>
        <p:txBody>
          <a:bodyPr wrap="square" lIns="0" tIns="0" rIns="0" bIns="0" rtlCol="0" anchor="ctr"/>
          <a:lstStyle/>
          <a:p>
            <a:pPr indent="0" marL="0">
              <a:buNone/>
            </a:pPr>
            <a:r>
              <a:rPr lang="en-US" sz="1600" b="1" dirty="0">
                <a:solidFill>
                  <a:schemeClr val="tx2"/>
                </a:solidFill>
              </a:rPr>
              <a:t>Instagram Caption</a:t>
            </a:r>
            <a:endParaRPr lang="en-US" sz="1600" dirty="0"/>
          </a:p>
        </p:txBody>
      </p:sp>
      <p:sp>
        <p:nvSpPr>
          <p:cNvPr id="28" name="Text 21"/>
          <p:cNvSpPr txBox="1"/>
          <p:nvPr/>
        </p:nvSpPr>
        <p:spPr>
          <a:xfrm>
            <a:off x="3429000" y="5212080"/>
            <a:ext cx="1965960" cy="548640"/>
          </a:xfrm>
          <a:prstGeom prst="rect">
            <a:avLst/>
          </a:prstGeom>
          <a:noFill/>
          <a:ln/>
        </p:spPr>
        <p:txBody>
          <a:bodyPr wrap="square" lIns="0" tIns="0" rIns="0" bIns="0" rtlCol="0" anchor="t"/>
          <a:lstStyle/>
          <a:p>
            <a:pPr indent="0" marL="0">
              <a:buNone/>
            </a:pPr>
            <a:r>
              <a:rPr lang="en-US" sz="1300" dirty="0">
                <a:solidFill>
                  <a:schemeClr val="tx1"/>
                </a:solidFill>
              </a:rPr>
              <a:t>Carousel copy with emojis</a:t>
            </a:r>
            <a:endParaRPr lang="en-US" sz="1300" dirty="0"/>
          </a:p>
        </p:txBody>
      </p:sp>
      <p:sp>
        <p:nvSpPr>
          <p:cNvPr id="29" name="Event Flyer card"/>
          <p:cNvSpPr/>
          <p:nvPr/>
        </p:nvSpPr>
        <p:spPr>
          <a:xfrm>
            <a:off x="5852160" y="3977640"/>
            <a:ext cx="2423160" cy="2103120"/>
          </a:xfrm>
          <a:prstGeom prst="roundRect">
            <a:avLst>
              <a:gd name="adj" fmla="val 5217"/>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30" name="Event Flyer circle"/>
          <p:cNvSpPr/>
          <p:nvPr/>
        </p:nvSpPr>
        <p:spPr>
          <a:xfrm>
            <a:off x="6080760" y="4206240"/>
            <a:ext cx="548640" cy="548640"/>
          </a:xfrm>
          <a:prstGeom prst="ellipse">
            <a:avLst/>
          </a:prstGeom>
          <a:solidFill>
            <a:schemeClr val="accent4"/>
          </a:solidFill>
          <a:ln/>
        </p:spPr>
      </p:sp>
      <p:pic>
        <p:nvPicPr>
          <p:cNvPr id="31" name="Event Flyer icon" descr="Event Flyer">    </p:cNvPr>
          <p:cNvPicPr>
            <a:picLocks noChangeAspect="1"/>
          </p:cNvPicPr>
          <p:nvPr/>
        </p:nvPicPr>
        <p:blipFill>
          <a:blip r:embed="rId6"/>
          <a:stretch>
            <a:fillRect/>
          </a:stretch>
        </p:blipFill>
        <p:spPr>
          <a:xfrm>
            <a:off x="6217920" y="4343400"/>
            <a:ext cx="274320" cy="274320"/>
          </a:xfrm>
          <a:prstGeom prst="rect">
            <a:avLst/>
          </a:prstGeom>
        </p:spPr>
      </p:pic>
      <p:sp>
        <p:nvSpPr>
          <p:cNvPr id="32" name="Text 24"/>
          <p:cNvSpPr txBox="1"/>
          <p:nvPr/>
        </p:nvSpPr>
        <p:spPr>
          <a:xfrm>
            <a:off x="6080760" y="4846320"/>
            <a:ext cx="1965960" cy="365760"/>
          </a:xfrm>
          <a:prstGeom prst="rect">
            <a:avLst/>
          </a:prstGeom>
          <a:noFill/>
          <a:ln/>
        </p:spPr>
        <p:txBody>
          <a:bodyPr wrap="square" lIns="0" tIns="0" rIns="0" bIns="0" rtlCol="0" anchor="ctr"/>
          <a:lstStyle/>
          <a:p>
            <a:pPr indent="0" marL="0">
              <a:buNone/>
            </a:pPr>
            <a:r>
              <a:rPr lang="en-US" sz="1600" b="1" dirty="0">
                <a:solidFill>
                  <a:schemeClr val="tx2"/>
                </a:solidFill>
              </a:rPr>
              <a:t>Event Flyer</a:t>
            </a:r>
            <a:endParaRPr lang="en-US" sz="1600" dirty="0"/>
          </a:p>
        </p:txBody>
      </p:sp>
      <p:sp>
        <p:nvSpPr>
          <p:cNvPr id="33" name="Text 25"/>
          <p:cNvSpPr txBox="1"/>
          <p:nvPr/>
        </p:nvSpPr>
        <p:spPr>
          <a:xfrm>
            <a:off x="6080760" y="5212080"/>
            <a:ext cx="1965960" cy="548640"/>
          </a:xfrm>
          <a:prstGeom prst="rect">
            <a:avLst/>
          </a:prstGeom>
          <a:noFill/>
          <a:ln/>
        </p:spPr>
        <p:txBody>
          <a:bodyPr wrap="square" lIns="0" tIns="0" rIns="0" bIns="0" rtlCol="0" anchor="t"/>
          <a:lstStyle/>
          <a:p>
            <a:pPr indent="0" marL="0">
              <a:buNone/>
            </a:pPr>
            <a:r>
              <a:rPr lang="en-US" sz="1300" dirty="0">
                <a:solidFill>
                  <a:schemeClr val="tx1"/>
                </a:solidFill>
              </a:rPr>
              <a:t>Golden-ratio poster preview</a:t>
            </a:r>
            <a:endParaRPr lang="en-US" sz="1300" dirty="0"/>
          </a:p>
        </p:txBody>
      </p:sp>
      <p:sp>
        <p:nvSpPr>
          <p:cNvPr id="34" name="Studio actions card"/>
          <p:cNvSpPr/>
          <p:nvPr/>
        </p:nvSpPr>
        <p:spPr>
          <a:xfrm>
            <a:off x="8412480" y="1600200"/>
            <a:ext cx="3200400" cy="4480560"/>
          </a:xfrm>
          <a:prstGeom prst="roundRect">
            <a:avLst>
              <a:gd name="adj" fmla="val 3429"/>
            </a:avLst>
          </a:prstGeom>
          <a:solidFill>
            <a:schemeClr val="accent3">
              <a:alpha val="10000"/>
            </a:schemeClr>
          </a:solidFill>
          <a:ln/>
        </p:spPr>
      </p:sp>
      <p:sp>
        <p:nvSpPr>
          <p:cNvPr id="35" name="Text 27"/>
          <p:cNvSpPr txBox="1"/>
          <p:nvPr/>
        </p:nvSpPr>
        <p:spPr>
          <a:xfrm>
            <a:off x="8641080" y="1783080"/>
            <a:ext cx="2743200" cy="365760"/>
          </a:xfrm>
          <a:prstGeom prst="rect">
            <a:avLst/>
          </a:prstGeom>
          <a:noFill/>
          <a:ln/>
        </p:spPr>
        <p:txBody>
          <a:bodyPr wrap="square" lIns="0" tIns="0" rIns="0" bIns="0" rtlCol="0" anchor="ctr"/>
          <a:lstStyle/>
          <a:p>
            <a:pPr indent="0" marL="0">
              <a:buNone/>
            </a:pPr>
            <a:r>
              <a:rPr lang="en-US" sz="1600" b="1" dirty="0">
                <a:solidFill>
                  <a:schemeClr val="accent3"/>
                </a:solidFill>
              </a:rPr>
              <a:t>CONTENT STUDIO</a:t>
            </a:r>
            <a:endParaRPr lang="en-US" sz="1600" dirty="0"/>
          </a:p>
        </p:txBody>
      </p:sp>
      <p:sp>
        <p:nvSpPr>
          <p:cNvPr id="36" name="Text 28"/>
          <p:cNvSpPr txBox="1"/>
          <p:nvPr/>
        </p:nvSpPr>
        <p:spPr>
          <a:xfrm>
            <a:off x="8641080" y="2240280"/>
            <a:ext cx="2788920" cy="32461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Inline editing with live save</a:t>
            </a:r>
            <a:endParaRPr lang="en-US" sz="1400" dirty="0"/>
          </a:p>
          <a:p>
            <a:pPr marL="177800" indent="-177800">
              <a:spcAft>
                <a:spcPts val="800"/>
              </a:spcAft>
              <a:buSzPct val="100000"/>
              <a:buChar char="•"/>
            </a:pPr>
            <a:r>
              <a:rPr lang="en-US" sz="1400" dirty="0">
                <a:solidFill>
                  <a:schemeClr val="tx1"/>
                </a:solidFill>
              </a:rPr>
              <a:t>One-click copy to clipboard</a:t>
            </a:r>
            <a:endParaRPr lang="en-US" sz="1400" dirty="0"/>
          </a:p>
          <a:p>
            <a:pPr marL="177800" indent="-177800">
              <a:spcAft>
                <a:spcPts val="800"/>
              </a:spcAft>
              <a:buSzPct val="100000"/>
              <a:buChar char="•"/>
            </a:pPr>
            <a:r>
              <a:rPr lang="en-US" sz="1400" dirty="0">
                <a:solidFill>
                  <a:schemeClr val="tx1"/>
                </a:solidFill>
              </a:rPr>
              <a:t>Export as .md, .txt or .json</a:t>
            </a:r>
            <a:endParaRPr lang="en-US" sz="1400" dirty="0"/>
          </a:p>
          <a:p>
            <a:pPr marL="177800" indent="-177800">
              <a:spcAft>
                <a:spcPts val="800"/>
              </a:spcAft>
              <a:buSzPct val="100000"/>
              <a:buChar char="•"/>
            </a:pPr>
            <a:r>
              <a:rPr lang="en-US" sz="1400" dirty="0">
                <a:solidFill>
                  <a:schemeClr val="tx1"/>
                </a:solidFill>
              </a:rPr>
              <a:t>Approve or reject each draft</a:t>
            </a:r>
            <a:endParaRPr lang="en-US" sz="1400" dirty="0"/>
          </a:p>
          <a:p>
            <a:pPr marL="177800" indent="-177800">
              <a:spcAft>
                <a:spcPts val="800"/>
              </a:spcAft>
              <a:buSzPct val="100000"/>
              <a:buChar char="•"/>
            </a:pPr>
            <a:r>
              <a:rPr lang="en-US" sz="1400" dirty="0">
                <a:solidFill>
                  <a:schemeClr val="tx1"/>
                </a:solidFill>
              </a:rPr>
              <a:t>Multi-language output</a:t>
            </a:r>
            <a:endParaRPr lang="en-US" sz="1400" dirty="0"/>
          </a:p>
          <a:p>
            <a:pPr marL="177800" indent="-177800">
              <a:spcAft>
                <a:spcPts val="800"/>
              </a:spcAft>
              <a:buSzPct val="100000"/>
              <a:buChar char="•"/>
            </a:pPr>
            <a:r>
              <a:rPr lang="en-US" sz="1400" dirty="0">
                <a:solidFill>
                  <a:schemeClr val="tx1"/>
                </a:solidFill>
              </a:rPr>
              <a:t>Brand voice from user profile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Key Features</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From ingestion to interaction, every stage is observable and recoverable</a:t>
            </a:r>
            <a:endParaRPr lang="en-US" sz="1400" dirty="0"/>
          </a:p>
        </p:txBody>
      </p:sp>
      <p:sp>
        <p:nvSpPr>
          <p:cNvPr id="4" name="Ingestion &amp; Quality card"/>
          <p:cNvSpPr/>
          <p:nvPr/>
        </p:nvSpPr>
        <p:spPr>
          <a:xfrm>
            <a:off x="548640" y="1554480"/>
            <a:ext cx="3566160" cy="2743200"/>
          </a:xfrm>
          <a:prstGeom prst="roundRect">
            <a:avLst>
              <a:gd name="adj" fmla="val 40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5" name="Ingestion &amp; Quality circle"/>
          <p:cNvSpPr/>
          <p:nvPr/>
        </p:nvSpPr>
        <p:spPr>
          <a:xfrm>
            <a:off x="777240" y="1737360"/>
            <a:ext cx="502920" cy="502920"/>
          </a:xfrm>
          <a:prstGeom prst="ellipse">
            <a:avLst/>
          </a:prstGeom>
          <a:solidFill>
            <a:schemeClr val="accent1"/>
          </a:solidFill>
          <a:ln/>
        </p:spPr>
      </p:sp>
      <p:pic>
        <p:nvPicPr>
          <p:cNvPr id="6" name="Ingestion &amp; Quality icon" descr="Ingestion &amp; Quality">    </p:cNvPr>
          <p:cNvPicPr>
            <a:picLocks noChangeAspect="1"/>
          </p:cNvPicPr>
          <p:nvPr/>
        </p:nvPicPr>
        <p:blipFill>
          <a:blip r:embed="rId1"/>
          <a:stretch>
            <a:fillRect/>
          </a:stretch>
        </p:blipFill>
        <p:spPr>
          <a:xfrm>
            <a:off x="902970" y="1863090"/>
            <a:ext cx="251460" cy="251460"/>
          </a:xfrm>
          <a:prstGeom prst="rect">
            <a:avLst/>
          </a:prstGeom>
        </p:spPr>
      </p:pic>
      <p:sp>
        <p:nvSpPr>
          <p:cNvPr id="7" name="Text 4"/>
          <p:cNvSpPr txBox="1"/>
          <p:nvPr/>
        </p:nvSpPr>
        <p:spPr>
          <a:xfrm>
            <a:off x="1417320" y="1737360"/>
            <a:ext cx="2560320" cy="502920"/>
          </a:xfrm>
          <a:prstGeom prst="rect">
            <a:avLst/>
          </a:prstGeom>
          <a:noFill/>
          <a:ln/>
        </p:spPr>
        <p:txBody>
          <a:bodyPr wrap="square" lIns="0" tIns="0" rIns="0" bIns="0" rtlCol="0" anchor="ctr"/>
          <a:lstStyle/>
          <a:p>
            <a:pPr indent="0" marL="0">
              <a:buNone/>
            </a:pPr>
            <a:r>
              <a:rPr lang="en-US" sz="1700" b="1" dirty="0">
                <a:solidFill>
                  <a:schemeClr val="accent1"/>
                </a:solidFill>
              </a:rPr>
              <a:t>Ingestion &amp; Quality</a:t>
            </a:r>
            <a:endParaRPr lang="en-US" sz="1700" dirty="0"/>
          </a:p>
        </p:txBody>
      </p:sp>
      <p:sp>
        <p:nvSpPr>
          <p:cNvPr id="8" name="Text 5"/>
          <p:cNvSpPr txBox="1"/>
          <p:nvPr/>
        </p:nvSpPr>
        <p:spPr>
          <a:xfrm>
            <a:off x="777240" y="2423160"/>
            <a:ext cx="3154680" cy="1783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Audio, video or transcript upload</a:t>
            </a:r>
            <a:endParaRPr lang="en-US" sz="1400" dirty="0"/>
          </a:p>
          <a:p>
            <a:pPr marL="177800" indent="-177800">
              <a:spcAft>
                <a:spcPts val="600"/>
              </a:spcAft>
              <a:buSzPct val="100000"/>
              <a:buChar char="•"/>
            </a:pPr>
            <a:r>
              <a:rPr lang="en-US" sz="1400" dirty="0">
                <a:solidFill>
                  <a:schemeClr val="tx1"/>
                </a:solidFill>
              </a:rPr>
              <a:t>Silence ratio and sample-rate checks</a:t>
            </a:r>
            <a:endParaRPr lang="en-US" sz="1400" dirty="0"/>
          </a:p>
          <a:p>
            <a:pPr marL="177800" indent="-177800">
              <a:spcAft>
                <a:spcPts val="600"/>
              </a:spcAft>
              <a:buSzPct val="100000"/>
              <a:buChar char="•"/>
            </a:pPr>
            <a:r>
              <a:rPr lang="en-US" sz="1400" dirty="0">
                <a:solidFill>
                  <a:schemeClr val="tx1"/>
                </a:solidFill>
              </a:rPr>
              <a:t>Antivirus scan hook</a:t>
            </a:r>
            <a:endParaRPr lang="en-US" sz="1400" dirty="0"/>
          </a:p>
          <a:p>
            <a:pPr marL="177800" indent="-177800">
              <a:spcAft>
                <a:spcPts val="600"/>
              </a:spcAft>
              <a:buSzPct val="100000"/>
              <a:buChar char="•"/>
            </a:pPr>
            <a:r>
              <a:rPr lang="en-US" sz="1400" dirty="0">
                <a:solidFill>
                  <a:schemeClr val="tx1"/>
                </a:solidFill>
              </a:rPr>
              <a:t>Transcript confidence badge</a:t>
            </a:r>
            <a:endParaRPr lang="en-US" sz="1400" dirty="0"/>
          </a:p>
        </p:txBody>
      </p:sp>
      <p:sp>
        <p:nvSpPr>
          <p:cNvPr id="9" name="AI Orchestration card"/>
          <p:cNvSpPr/>
          <p:nvPr/>
        </p:nvSpPr>
        <p:spPr>
          <a:xfrm>
            <a:off x="4297680" y="1554480"/>
            <a:ext cx="3566160" cy="2743200"/>
          </a:xfrm>
          <a:prstGeom prst="roundRect">
            <a:avLst>
              <a:gd name="adj" fmla="val 40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0" name="AI Orchestration circle"/>
          <p:cNvSpPr/>
          <p:nvPr/>
        </p:nvSpPr>
        <p:spPr>
          <a:xfrm>
            <a:off x="4526280" y="1737360"/>
            <a:ext cx="502920" cy="502920"/>
          </a:xfrm>
          <a:prstGeom prst="ellipse">
            <a:avLst/>
          </a:prstGeom>
          <a:solidFill>
            <a:schemeClr val="accent3"/>
          </a:solidFill>
          <a:ln/>
        </p:spPr>
      </p:sp>
      <p:pic>
        <p:nvPicPr>
          <p:cNvPr id="11" name="AI Orchestration icon" descr="AI Orchestration">    </p:cNvPr>
          <p:cNvPicPr>
            <a:picLocks noChangeAspect="1"/>
          </p:cNvPicPr>
          <p:nvPr/>
        </p:nvPicPr>
        <p:blipFill>
          <a:blip r:embed="rId2"/>
          <a:stretch>
            <a:fillRect/>
          </a:stretch>
        </p:blipFill>
        <p:spPr>
          <a:xfrm>
            <a:off x="4652010" y="1863090"/>
            <a:ext cx="251460" cy="251460"/>
          </a:xfrm>
          <a:prstGeom prst="rect">
            <a:avLst/>
          </a:prstGeom>
        </p:spPr>
      </p:pic>
      <p:sp>
        <p:nvSpPr>
          <p:cNvPr id="12" name="Text 8"/>
          <p:cNvSpPr txBox="1"/>
          <p:nvPr/>
        </p:nvSpPr>
        <p:spPr>
          <a:xfrm>
            <a:off x="5166360" y="1737360"/>
            <a:ext cx="2560320" cy="502920"/>
          </a:xfrm>
          <a:prstGeom prst="rect">
            <a:avLst/>
          </a:prstGeom>
          <a:noFill/>
          <a:ln/>
        </p:spPr>
        <p:txBody>
          <a:bodyPr wrap="square" lIns="0" tIns="0" rIns="0" bIns="0" rtlCol="0" anchor="ctr"/>
          <a:lstStyle/>
          <a:p>
            <a:pPr indent="0" marL="0">
              <a:buNone/>
            </a:pPr>
            <a:r>
              <a:rPr lang="en-US" sz="1700" b="1" dirty="0">
                <a:solidFill>
                  <a:schemeClr val="accent3"/>
                </a:solidFill>
              </a:rPr>
              <a:t>AI Orchestration</a:t>
            </a:r>
            <a:endParaRPr lang="en-US" sz="1700" dirty="0"/>
          </a:p>
        </p:txBody>
      </p:sp>
      <p:sp>
        <p:nvSpPr>
          <p:cNvPr id="13" name="Text 9"/>
          <p:cNvSpPr txBox="1"/>
          <p:nvPr/>
        </p:nvSpPr>
        <p:spPr>
          <a:xfrm>
            <a:off x="4526280" y="2423160"/>
            <a:ext cx="3154680" cy="1783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Stateful LangGraph pipeline</a:t>
            </a:r>
            <a:endParaRPr lang="en-US" sz="1400" dirty="0"/>
          </a:p>
          <a:p>
            <a:pPr marL="177800" indent="-177800">
              <a:spcAft>
                <a:spcPts val="600"/>
              </a:spcAft>
              <a:buSzPct val="100000"/>
              <a:buChar char="•"/>
            </a:pPr>
            <a:r>
              <a:rPr lang="en-US" sz="1400" dirty="0">
                <a:solidFill>
                  <a:schemeClr val="tx1"/>
                </a:solidFill>
              </a:rPr>
              <a:t>Parallel analysis agents</a:t>
            </a:r>
            <a:endParaRPr lang="en-US" sz="1400" dirty="0"/>
          </a:p>
          <a:p>
            <a:pPr marL="177800" indent="-177800">
              <a:spcAft>
                <a:spcPts val="600"/>
              </a:spcAft>
              <a:buSzPct val="100000"/>
              <a:buChar char="•"/>
            </a:pPr>
            <a:r>
              <a:rPr lang="en-US" sz="1400" dirty="0">
                <a:solidFill>
                  <a:schemeClr val="tx1"/>
                </a:solidFill>
              </a:rPr>
              <a:t>Dynamic creator agent fan-out</a:t>
            </a:r>
            <a:endParaRPr lang="en-US" sz="1400" dirty="0"/>
          </a:p>
          <a:p>
            <a:pPr marL="177800" indent="-177800">
              <a:spcAft>
                <a:spcPts val="600"/>
              </a:spcAft>
              <a:buSzPct val="100000"/>
              <a:buChar char="•"/>
            </a:pPr>
            <a:r>
              <a:rPr lang="en-US" sz="1400" dirty="0">
                <a:solidFill>
                  <a:schemeClr val="tx1"/>
                </a:solidFill>
              </a:rPr>
              <a:t>Multi-provider LLM fallback</a:t>
            </a:r>
            <a:endParaRPr lang="en-US" sz="1400" dirty="0"/>
          </a:p>
        </p:txBody>
      </p:sp>
      <p:sp>
        <p:nvSpPr>
          <p:cNvPr id="14" name="Interaction &amp; UX card"/>
          <p:cNvSpPr/>
          <p:nvPr/>
        </p:nvSpPr>
        <p:spPr>
          <a:xfrm>
            <a:off x="8046720" y="1554480"/>
            <a:ext cx="3566160" cy="2743200"/>
          </a:xfrm>
          <a:prstGeom prst="roundRect">
            <a:avLst>
              <a:gd name="adj" fmla="val 4000"/>
            </a:avLst>
          </a:prstGeom>
          <a:solidFill>
            <a:schemeClr val="bg1"/>
          </a:solidFill>
          <a:ln w="12700">
            <a:solidFill>
              <a:srgbClr val="E2E8F0"/>
            </a:solidFill>
            <a:prstDash val="solid"/>
          </a:ln>
          <a:effectLst>
            <a:outerShdw sx="100000" sy="100000" kx="0" ky="0" algn="bl" rotWithShape="0" blurRad="101600" dist="25400" dir="5400000">
              <a:srgbClr val="13204A">
                <a:alpha val="12000"/>
              </a:srgbClr>
            </a:outerShdw>
          </a:effectLst>
        </p:spPr>
      </p:sp>
      <p:sp>
        <p:nvSpPr>
          <p:cNvPr id="15" name="Interaction &amp; UX circle"/>
          <p:cNvSpPr/>
          <p:nvPr/>
        </p:nvSpPr>
        <p:spPr>
          <a:xfrm>
            <a:off x="8275320" y="1737360"/>
            <a:ext cx="502920" cy="502920"/>
          </a:xfrm>
          <a:prstGeom prst="ellipse">
            <a:avLst/>
          </a:prstGeom>
          <a:solidFill>
            <a:schemeClr val="accent2"/>
          </a:solidFill>
          <a:ln/>
        </p:spPr>
      </p:sp>
      <p:pic>
        <p:nvPicPr>
          <p:cNvPr id="16" name="Interaction &amp; UX icon" descr="Interaction &amp; UX">    </p:cNvPr>
          <p:cNvPicPr>
            <a:picLocks noChangeAspect="1"/>
          </p:cNvPicPr>
          <p:nvPr/>
        </p:nvPicPr>
        <p:blipFill>
          <a:blip r:embed="rId3"/>
          <a:stretch>
            <a:fillRect/>
          </a:stretch>
        </p:blipFill>
        <p:spPr>
          <a:xfrm>
            <a:off x="8401050" y="1863090"/>
            <a:ext cx="251460" cy="251460"/>
          </a:xfrm>
          <a:prstGeom prst="rect">
            <a:avLst/>
          </a:prstGeom>
        </p:spPr>
      </p:pic>
      <p:sp>
        <p:nvSpPr>
          <p:cNvPr id="17" name="Text 12"/>
          <p:cNvSpPr txBox="1"/>
          <p:nvPr/>
        </p:nvSpPr>
        <p:spPr>
          <a:xfrm>
            <a:off x="8915400" y="1737360"/>
            <a:ext cx="2560320" cy="502920"/>
          </a:xfrm>
          <a:prstGeom prst="rect">
            <a:avLst/>
          </a:prstGeom>
          <a:noFill/>
          <a:ln/>
        </p:spPr>
        <p:txBody>
          <a:bodyPr wrap="square" lIns="0" tIns="0" rIns="0" bIns="0" rtlCol="0" anchor="ctr"/>
          <a:lstStyle/>
          <a:p>
            <a:pPr indent="0" marL="0">
              <a:buNone/>
            </a:pPr>
            <a:r>
              <a:rPr lang="en-US" sz="1700" b="1" dirty="0">
                <a:solidFill>
                  <a:schemeClr val="accent2"/>
                </a:solidFill>
              </a:rPr>
              <a:t>Interaction &amp; UX</a:t>
            </a:r>
            <a:endParaRPr lang="en-US" sz="1700" dirty="0"/>
          </a:p>
        </p:txBody>
      </p:sp>
      <p:sp>
        <p:nvSpPr>
          <p:cNvPr id="18" name="Text 13"/>
          <p:cNvSpPr txBox="1"/>
          <p:nvPr/>
        </p:nvSpPr>
        <p:spPr>
          <a:xfrm>
            <a:off x="8275320" y="2423160"/>
            <a:ext cx="3154680" cy="1783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Live agent progress via SSE</a:t>
            </a:r>
            <a:endParaRPr lang="en-US" sz="1400" dirty="0"/>
          </a:p>
          <a:p>
            <a:pPr marL="177800" indent="-177800">
              <a:spcAft>
                <a:spcPts val="600"/>
              </a:spcAft>
              <a:buSzPct val="100000"/>
              <a:buChar char="•"/>
            </a:pPr>
            <a:r>
              <a:rPr lang="en-US" sz="1400" dirty="0">
                <a:solidFill>
                  <a:schemeClr val="tx1"/>
                </a:solidFill>
              </a:rPr>
              <a:t>Organizer Co-Pilot and attendee Q&amp;A chat</a:t>
            </a:r>
            <a:endParaRPr lang="en-US" sz="1400" dirty="0"/>
          </a:p>
          <a:p>
            <a:pPr marL="177800" indent="-177800">
              <a:spcAft>
                <a:spcPts val="600"/>
              </a:spcAft>
              <a:buSzPct val="100000"/>
              <a:buChar char="•"/>
            </a:pPr>
            <a:r>
              <a:rPr lang="en-US" sz="1400" dirty="0">
                <a:solidFill>
                  <a:schemeClr val="tx1"/>
                </a:solidFill>
              </a:rPr>
              <a:t>Event catalog and community page</a:t>
            </a:r>
            <a:endParaRPr lang="en-US" sz="1400" dirty="0"/>
          </a:p>
          <a:p>
            <a:pPr marL="177800" indent="-177800">
              <a:spcAft>
                <a:spcPts val="600"/>
              </a:spcAft>
              <a:buSzPct val="100000"/>
              <a:buChar char="•"/>
            </a:pPr>
            <a:r>
              <a:rPr lang="en-US" sz="1400" dirty="0">
                <a:solidFill>
                  <a:schemeClr val="tx1"/>
                </a:solidFill>
              </a:rPr>
              <a:t>Dark / light theme, settings</a:t>
            </a:r>
            <a:endParaRPr lang="en-US" sz="1400" dirty="0"/>
          </a:p>
        </p:txBody>
      </p:sp>
      <p:sp>
        <p:nvSpPr>
          <p:cNvPr id="19" name="Stat content formats"/>
          <p:cNvSpPr/>
          <p:nvPr/>
        </p:nvSpPr>
        <p:spPr>
          <a:xfrm>
            <a:off x="548640" y="4572000"/>
            <a:ext cx="2651760" cy="1600200"/>
          </a:xfrm>
          <a:prstGeom prst="roundRect">
            <a:avLst>
              <a:gd name="adj" fmla="val 6857"/>
            </a:avLst>
          </a:prstGeom>
          <a:solidFill>
            <a:schemeClr val="accent1">
              <a:alpha val="10000"/>
            </a:schemeClr>
          </a:solidFill>
          <a:ln/>
        </p:spPr>
      </p:sp>
      <p:sp>
        <p:nvSpPr>
          <p:cNvPr id="20" name="Text 15"/>
          <p:cNvSpPr txBox="1"/>
          <p:nvPr/>
        </p:nvSpPr>
        <p:spPr>
          <a:xfrm>
            <a:off x="548640" y="4663440"/>
            <a:ext cx="2651760" cy="868680"/>
          </a:xfrm>
          <a:prstGeom prst="rect">
            <a:avLst/>
          </a:prstGeom>
          <a:noFill/>
          <a:ln/>
        </p:spPr>
        <p:txBody>
          <a:bodyPr wrap="square" lIns="0" tIns="0" rIns="0" bIns="0" rtlCol="0" anchor="ctr"/>
          <a:lstStyle/>
          <a:p>
            <a:pPr algn="ctr" indent="0" marL="0">
              <a:buNone/>
            </a:pPr>
            <a:r>
              <a:rPr lang="en-US" sz="5400" b="1" dirty="0">
                <a:solidFill>
                  <a:schemeClr val="accent1"/>
                </a:solidFill>
              </a:rPr>
              <a:t>6</a:t>
            </a:r>
            <a:endParaRPr lang="en-US" sz="5400" dirty="0"/>
          </a:p>
        </p:txBody>
      </p:sp>
      <p:sp>
        <p:nvSpPr>
          <p:cNvPr id="21" name="Text 16"/>
          <p:cNvSpPr txBox="1"/>
          <p:nvPr/>
        </p:nvSpPr>
        <p:spPr>
          <a:xfrm>
            <a:off x="548640" y="5577840"/>
            <a:ext cx="2651760" cy="365760"/>
          </a:xfrm>
          <a:prstGeom prst="rect">
            <a:avLst/>
          </a:prstGeom>
          <a:noFill/>
          <a:ln/>
        </p:spPr>
        <p:txBody>
          <a:bodyPr wrap="square" lIns="0" tIns="0" rIns="0" bIns="0" rtlCol="0" anchor="ctr"/>
          <a:lstStyle/>
          <a:p>
            <a:pPr algn="ctr" indent="0" marL="0">
              <a:buNone/>
            </a:pPr>
            <a:r>
              <a:rPr lang="en-US" sz="1400" dirty="0">
                <a:solidFill>
                  <a:schemeClr val="tx1"/>
                </a:solidFill>
              </a:rPr>
              <a:t>content formats</a:t>
            </a:r>
            <a:endParaRPr lang="en-US" sz="1400" dirty="0"/>
          </a:p>
        </p:txBody>
      </p:sp>
      <p:sp>
        <p:nvSpPr>
          <p:cNvPr id="22" name="Stat parallel analysis agents"/>
          <p:cNvSpPr/>
          <p:nvPr/>
        </p:nvSpPr>
        <p:spPr>
          <a:xfrm>
            <a:off x="3355848" y="4572000"/>
            <a:ext cx="2651760" cy="1600200"/>
          </a:xfrm>
          <a:prstGeom prst="roundRect">
            <a:avLst>
              <a:gd name="adj" fmla="val 6857"/>
            </a:avLst>
          </a:prstGeom>
          <a:solidFill>
            <a:schemeClr val="accent3">
              <a:alpha val="10000"/>
            </a:schemeClr>
          </a:solidFill>
          <a:ln/>
        </p:spPr>
      </p:sp>
      <p:sp>
        <p:nvSpPr>
          <p:cNvPr id="23" name="Text 18"/>
          <p:cNvSpPr txBox="1"/>
          <p:nvPr/>
        </p:nvSpPr>
        <p:spPr>
          <a:xfrm>
            <a:off x="3355848" y="4663440"/>
            <a:ext cx="2651760" cy="868680"/>
          </a:xfrm>
          <a:prstGeom prst="rect">
            <a:avLst/>
          </a:prstGeom>
          <a:noFill/>
          <a:ln/>
        </p:spPr>
        <p:txBody>
          <a:bodyPr wrap="square" lIns="0" tIns="0" rIns="0" bIns="0" rtlCol="0" anchor="ctr"/>
          <a:lstStyle/>
          <a:p>
            <a:pPr algn="ctr" indent="0" marL="0">
              <a:buNone/>
            </a:pPr>
            <a:r>
              <a:rPr lang="en-US" sz="5400" b="1" dirty="0">
                <a:solidFill>
                  <a:schemeClr val="accent3"/>
                </a:solidFill>
              </a:rPr>
              <a:t>4</a:t>
            </a:r>
            <a:endParaRPr lang="en-US" sz="5400" dirty="0"/>
          </a:p>
        </p:txBody>
      </p:sp>
      <p:sp>
        <p:nvSpPr>
          <p:cNvPr id="24" name="Text 19"/>
          <p:cNvSpPr txBox="1"/>
          <p:nvPr/>
        </p:nvSpPr>
        <p:spPr>
          <a:xfrm>
            <a:off x="3355848" y="5577840"/>
            <a:ext cx="2651760" cy="365760"/>
          </a:xfrm>
          <a:prstGeom prst="rect">
            <a:avLst/>
          </a:prstGeom>
          <a:noFill/>
          <a:ln/>
        </p:spPr>
        <p:txBody>
          <a:bodyPr wrap="square" lIns="0" tIns="0" rIns="0" bIns="0" rtlCol="0" anchor="ctr"/>
          <a:lstStyle/>
          <a:p>
            <a:pPr algn="ctr" indent="0" marL="0">
              <a:buNone/>
            </a:pPr>
            <a:r>
              <a:rPr lang="en-US" sz="1400" dirty="0">
                <a:solidFill>
                  <a:schemeClr val="tx1"/>
                </a:solidFill>
              </a:rPr>
              <a:t>parallel analysis agents</a:t>
            </a:r>
            <a:endParaRPr lang="en-US" sz="1400" dirty="0"/>
          </a:p>
        </p:txBody>
      </p:sp>
      <p:sp>
        <p:nvSpPr>
          <p:cNvPr id="25" name="Stat user roles with RBAC"/>
          <p:cNvSpPr/>
          <p:nvPr/>
        </p:nvSpPr>
        <p:spPr>
          <a:xfrm>
            <a:off x="6163056" y="4572000"/>
            <a:ext cx="2651760" cy="1600200"/>
          </a:xfrm>
          <a:prstGeom prst="roundRect">
            <a:avLst>
              <a:gd name="adj" fmla="val 6857"/>
            </a:avLst>
          </a:prstGeom>
          <a:solidFill>
            <a:schemeClr val="accent2">
              <a:alpha val="10000"/>
            </a:schemeClr>
          </a:solidFill>
          <a:ln/>
        </p:spPr>
      </p:sp>
      <p:sp>
        <p:nvSpPr>
          <p:cNvPr id="26" name="Text 21"/>
          <p:cNvSpPr txBox="1"/>
          <p:nvPr/>
        </p:nvSpPr>
        <p:spPr>
          <a:xfrm>
            <a:off x="6163056" y="4663440"/>
            <a:ext cx="2651760" cy="868680"/>
          </a:xfrm>
          <a:prstGeom prst="rect">
            <a:avLst/>
          </a:prstGeom>
          <a:noFill/>
          <a:ln/>
        </p:spPr>
        <p:txBody>
          <a:bodyPr wrap="square" lIns="0" tIns="0" rIns="0" bIns="0" rtlCol="0" anchor="ctr"/>
          <a:lstStyle/>
          <a:p>
            <a:pPr algn="ctr" indent="0" marL="0">
              <a:buNone/>
            </a:pPr>
            <a:r>
              <a:rPr lang="en-US" sz="5400" b="1" dirty="0">
                <a:solidFill>
                  <a:schemeClr val="accent2"/>
                </a:solidFill>
              </a:rPr>
              <a:t>3</a:t>
            </a:r>
            <a:endParaRPr lang="en-US" sz="5400" dirty="0"/>
          </a:p>
        </p:txBody>
      </p:sp>
      <p:sp>
        <p:nvSpPr>
          <p:cNvPr id="27" name="Text 22"/>
          <p:cNvSpPr txBox="1"/>
          <p:nvPr/>
        </p:nvSpPr>
        <p:spPr>
          <a:xfrm>
            <a:off x="6163056" y="5577840"/>
            <a:ext cx="2651760" cy="365760"/>
          </a:xfrm>
          <a:prstGeom prst="rect">
            <a:avLst/>
          </a:prstGeom>
          <a:noFill/>
          <a:ln/>
        </p:spPr>
        <p:txBody>
          <a:bodyPr wrap="square" lIns="0" tIns="0" rIns="0" bIns="0" rtlCol="0" anchor="ctr"/>
          <a:lstStyle/>
          <a:p>
            <a:pPr algn="ctr" indent="0" marL="0">
              <a:buNone/>
            </a:pPr>
            <a:r>
              <a:rPr lang="en-US" sz="1400" dirty="0">
                <a:solidFill>
                  <a:schemeClr val="tx1"/>
                </a:solidFill>
              </a:rPr>
              <a:t>user roles with RBAC</a:t>
            </a:r>
            <a:endParaRPr lang="en-US" sz="1400" dirty="0"/>
          </a:p>
        </p:txBody>
      </p:sp>
      <p:sp>
        <p:nvSpPr>
          <p:cNvPr id="28" name="Stat automated tests"/>
          <p:cNvSpPr/>
          <p:nvPr/>
        </p:nvSpPr>
        <p:spPr>
          <a:xfrm>
            <a:off x="8970264" y="4572000"/>
            <a:ext cx="2651760" cy="1600200"/>
          </a:xfrm>
          <a:prstGeom prst="roundRect">
            <a:avLst>
              <a:gd name="adj" fmla="val 6857"/>
            </a:avLst>
          </a:prstGeom>
          <a:solidFill>
            <a:schemeClr val="accent5">
              <a:alpha val="10000"/>
            </a:schemeClr>
          </a:solidFill>
          <a:ln/>
        </p:spPr>
      </p:sp>
      <p:sp>
        <p:nvSpPr>
          <p:cNvPr id="29" name="Text 24"/>
          <p:cNvSpPr txBox="1"/>
          <p:nvPr/>
        </p:nvSpPr>
        <p:spPr>
          <a:xfrm>
            <a:off x="8970264" y="4663440"/>
            <a:ext cx="2651760" cy="868680"/>
          </a:xfrm>
          <a:prstGeom prst="rect">
            <a:avLst/>
          </a:prstGeom>
          <a:noFill/>
          <a:ln/>
        </p:spPr>
        <p:txBody>
          <a:bodyPr wrap="square" lIns="0" tIns="0" rIns="0" bIns="0" rtlCol="0" anchor="ctr"/>
          <a:lstStyle/>
          <a:p>
            <a:pPr algn="ctr" indent="0" marL="0">
              <a:buNone/>
            </a:pPr>
            <a:r>
              <a:rPr lang="en-US" sz="5400" b="1" dirty="0">
                <a:solidFill>
                  <a:schemeClr val="accent5"/>
                </a:solidFill>
              </a:rPr>
              <a:t>34</a:t>
            </a:r>
            <a:endParaRPr lang="en-US" sz="5400" dirty="0"/>
          </a:p>
        </p:txBody>
      </p:sp>
      <p:sp>
        <p:nvSpPr>
          <p:cNvPr id="30" name="Text 25"/>
          <p:cNvSpPr txBox="1"/>
          <p:nvPr/>
        </p:nvSpPr>
        <p:spPr>
          <a:xfrm>
            <a:off x="8970264" y="5577840"/>
            <a:ext cx="2651760" cy="365760"/>
          </a:xfrm>
          <a:prstGeom prst="rect">
            <a:avLst/>
          </a:prstGeom>
          <a:noFill/>
          <a:ln/>
        </p:spPr>
        <p:txBody>
          <a:bodyPr wrap="square" lIns="0" tIns="0" rIns="0" bIns="0" rtlCol="0" anchor="ctr"/>
          <a:lstStyle/>
          <a:p>
            <a:pPr algn="ctr" indent="0" marL="0">
              <a:buNone/>
            </a:pPr>
            <a:r>
              <a:rPr lang="en-US" sz="1400" dirty="0">
                <a:solidFill>
                  <a:schemeClr val="tx1"/>
                </a:solidFill>
              </a:rPr>
              <a:t>automated tests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Security, Privacy &amp; Guardrails</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Responsible AI by design: no unverified AI output reaches the public</a:t>
            </a:r>
            <a:endParaRPr lang="en-US" sz="1400" dirty="0"/>
          </a:p>
        </p:txBody>
      </p:sp>
      <p:sp>
        <p:nvSpPr>
          <p:cNvPr id="4" name="Participant consent card"/>
          <p:cNvSpPr/>
          <p:nvPr/>
        </p:nvSpPr>
        <p:spPr>
          <a:xfrm>
            <a:off x="548640" y="1600200"/>
            <a:ext cx="5440680" cy="1371600"/>
          </a:xfrm>
          <a:prstGeom prst="roundRect">
            <a:avLst>
              <a:gd name="adj" fmla="val 8000"/>
            </a:avLst>
          </a:prstGeom>
          <a:solidFill>
            <a:schemeClr val="accent1">
              <a:alpha val="10000"/>
            </a:schemeClr>
          </a:solidFill>
          <a:ln/>
        </p:spPr>
      </p:sp>
      <p:sp>
        <p:nvSpPr>
          <p:cNvPr id="5" name="Participant consent circle"/>
          <p:cNvSpPr/>
          <p:nvPr/>
        </p:nvSpPr>
        <p:spPr>
          <a:xfrm>
            <a:off x="822960" y="1920240"/>
            <a:ext cx="731520" cy="731520"/>
          </a:xfrm>
          <a:prstGeom prst="ellipse">
            <a:avLst/>
          </a:prstGeom>
          <a:solidFill>
            <a:schemeClr val="accent1"/>
          </a:solidFill>
          <a:ln/>
        </p:spPr>
      </p:sp>
      <p:pic>
        <p:nvPicPr>
          <p:cNvPr id="6" name="Participant consent icon" descr="Participant consent">    </p:cNvPr>
          <p:cNvPicPr>
            <a:picLocks noChangeAspect="1"/>
          </p:cNvPicPr>
          <p:nvPr/>
        </p:nvPicPr>
        <p:blipFill>
          <a:blip r:embed="rId1"/>
          <a:stretch>
            <a:fillRect/>
          </a:stretch>
        </p:blipFill>
        <p:spPr>
          <a:xfrm>
            <a:off x="1005840" y="2103120"/>
            <a:ext cx="365760" cy="365760"/>
          </a:xfrm>
          <a:prstGeom prst="rect">
            <a:avLst/>
          </a:prstGeom>
        </p:spPr>
      </p:pic>
      <p:sp>
        <p:nvSpPr>
          <p:cNvPr id="7" name="Text 4"/>
          <p:cNvSpPr txBox="1"/>
          <p:nvPr/>
        </p:nvSpPr>
        <p:spPr>
          <a:xfrm>
            <a:off x="1783080" y="1764792"/>
            <a:ext cx="3977640" cy="411480"/>
          </a:xfrm>
          <a:prstGeom prst="rect">
            <a:avLst/>
          </a:prstGeom>
          <a:noFill/>
          <a:ln/>
        </p:spPr>
        <p:txBody>
          <a:bodyPr wrap="square" lIns="0" tIns="0" rIns="0" bIns="0" rtlCol="0" anchor="ctr"/>
          <a:lstStyle/>
          <a:p>
            <a:pPr indent="0" marL="0">
              <a:buNone/>
            </a:pPr>
            <a:r>
              <a:rPr lang="en-US" sz="1700" b="1" dirty="0">
                <a:solidFill>
                  <a:schemeClr val="accent1"/>
                </a:solidFill>
              </a:rPr>
              <a:t>Participant consent</a:t>
            </a:r>
            <a:endParaRPr lang="en-US" sz="1700" dirty="0"/>
          </a:p>
        </p:txBody>
      </p:sp>
      <p:sp>
        <p:nvSpPr>
          <p:cNvPr id="8" name="Text 5"/>
          <p:cNvSpPr txBox="1"/>
          <p:nvPr/>
        </p:nvSpPr>
        <p:spPr>
          <a:xfrm>
            <a:off x="1783080" y="2194560"/>
            <a:ext cx="3977640" cy="685800"/>
          </a:xfrm>
          <a:prstGeom prst="rect">
            <a:avLst/>
          </a:prstGeom>
          <a:noFill/>
          <a:ln/>
        </p:spPr>
        <p:txBody>
          <a:bodyPr wrap="square" lIns="0" tIns="0" rIns="0" bIns="0" rtlCol="0" anchor="t"/>
          <a:lstStyle/>
          <a:p>
            <a:pPr indent="0" marL="0">
              <a:buNone/>
            </a:pPr>
            <a:r>
              <a:rPr lang="en-US" sz="1300" dirty="0">
                <a:solidFill>
                  <a:schemeClr val="tx1"/>
                </a:solidFill>
              </a:rPr>
              <a:t>Every upload requires confirmation that participants consented to recording and AI processing.</a:t>
            </a:r>
            <a:endParaRPr lang="en-US" sz="1300" dirty="0"/>
          </a:p>
        </p:txBody>
      </p:sp>
      <p:sp>
        <p:nvSpPr>
          <p:cNvPr id="9" name="Data retention card"/>
          <p:cNvSpPr/>
          <p:nvPr/>
        </p:nvSpPr>
        <p:spPr>
          <a:xfrm>
            <a:off x="6172200" y="1600200"/>
            <a:ext cx="5440680" cy="1371600"/>
          </a:xfrm>
          <a:prstGeom prst="roundRect">
            <a:avLst>
              <a:gd name="adj" fmla="val 8000"/>
            </a:avLst>
          </a:prstGeom>
          <a:solidFill>
            <a:schemeClr val="accent4">
              <a:alpha val="10000"/>
            </a:schemeClr>
          </a:solidFill>
          <a:ln/>
        </p:spPr>
      </p:sp>
      <p:sp>
        <p:nvSpPr>
          <p:cNvPr id="10" name="Data retention circle"/>
          <p:cNvSpPr/>
          <p:nvPr/>
        </p:nvSpPr>
        <p:spPr>
          <a:xfrm>
            <a:off x="6446520" y="1920240"/>
            <a:ext cx="731520" cy="731520"/>
          </a:xfrm>
          <a:prstGeom prst="ellipse">
            <a:avLst/>
          </a:prstGeom>
          <a:solidFill>
            <a:schemeClr val="accent4"/>
          </a:solidFill>
          <a:ln/>
        </p:spPr>
      </p:sp>
      <p:pic>
        <p:nvPicPr>
          <p:cNvPr id="11" name="Data retention icon" descr="Data retention">    </p:cNvPr>
          <p:cNvPicPr>
            <a:picLocks noChangeAspect="1"/>
          </p:cNvPicPr>
          <p:nvPr/>
        </p:nvPicPr>
        <p:blipFill>
          <a:blip r:embed="rId2"/>
          <a:stretch>
            <a:fillRect/>
          </a:stretch>
        </p:blipFill>
        <p:spPr>
          <a:xfrm>
            <a:off x="6629400" y="2103120"/>
            <a:ext cx="365760" cy="365760"/>
          </a:xfrm>
          <a:prstGeom prst="rect">
            <a:avLst/>
          </a:prstGeom>
        </p:spPr>
      </p:pic>
      <p:sp>
        <p:nvSpPr>
          <p:cNvPr id="12" name="Text 8"/>
          <p:cNvSpPr txBox="1"/>
          <p:nvPr/>
        </p:nvSpPr>
        <p:spPr>
          <a:xfrm>
            <a:off x="7406640" y="1764792"/>
            <a:ext cx="3977640" cy="411480"/>
          </a:xfrm>
          <a:prstGeom prst="rect">
            <a:avLst/>
          </a:prstGeom>
          <a:noFill/>
          <a:ln/>
        </p:spPr>
        <p:txBody>
          <a:bodyPr wrap="square" lIns="0" tIns="0" rIns="0" bIns="0" rtlCol="0" anchor="ctr"/>
          <a:lstStyle/>
          <a:p>
            <a:pPr indent="0" marL="0">
              <a:buNone/>
            </a:pPr>
            <a:r>
              <a:rPr lang="en-US" sz="1700" b="1" dirty="0">
                <a:solidFill>
                  <a:schemeClr val="accent4"/>
                </a:solidFill>
              </a:rPr>
              <a:t>Data retention</a:t>
            </a:r>
            <a:endParaRPr lang="en-US" sz="1700" dirty="0"/>
          </a:p>
        </p:txBody>
      </p:sp>
      <p:sp>
        <p:nvSpPr>
          <p:cNvPr id="13" name="Text 9"/>
          <p:cNvSpPr txBox="1"/>
          <p:nvPr/>
        </p:nvSpPr>
        <p:spPr>
          <a:xfrm>
            <a:off x="7406640" y="2194560"/>
            <a:ext cx="3977640" cy="685800"/>
          </a:xfrm>
          <a:prstGeom prst="rect">
            <a:avLst/>
          </a:prstGeom>
          <a:noFill/>
          <a:ln/>
        </p:spPr>
        <p:txBody>
          <a:bodyPr wrap="square" lIns="0" tIns="0" rIns="0" bIns="0" rtlCol="0" anchor="t"/>
          <a:lstStyle/>
          <a:p>
            <a:pPr indent="0" marL="0">
              <a:buNone/>
            </a:pPr>
            <a:r>
              <a:rPr lang="en-US" sz="1300" dirty="0">
                <a:solidFill>
                  <a:schemeClr val="tx1"/>
                </a:solidFill>
              </a:rPr>
              <a:t>Scheduled purge removes raw media after the configured retention period unless marked to keep.</a:t>
            </a:r>
            <a:endParaRPr lang="en-US" sz="1300" dirty="0"/>
          </a:p>
        </p:txBody>
      </p:sp>
      <p:sp>
        <p:nvSpPr>
          <p:cNvPr id="14" name="JWT &amp; RBAC card"/>
          <p:cNvSpPr/>
          <p:nvPr/>
        </p:nvSpPr>
        <p:spPr>
          <a:xfrm>
            <a:off x="548640" y="3154680"/>
            <a:ext cx="5440680" cy="1371600"/>
          </a:xfrm>
          <a:prstGeom prst="roundRect">
            <a:avLst>
              <a:gd name="adj" fmla="val 8000"/>
            </a:avLst>
          </a:prstGeom>
          <a:solidFill>
            <a:schemeClr val="accent3">
              <a:alpha val="10000"/>
            </a:schemeClr>
          </a:solidFill>
          <a:ln/>
        </p:spPr>
      </p:sp>
      <p:sp>
        <p:nvSpPr>
          <p:cNvPr id="15" name="JWT &amp; RBAC circle"/>
          <p:cNvSpPr/>
          <p:nvPr/>
        </p:nvSpPr>
        <p:spPr>
          <a:xfrm>
            <a:off x="822960" y="3474720"/>
            <a:ext cx="731520" cy="731520"/>
          </a:xfrm>
          <a:prstGeom prst="ellipse">
            <a:avLst/>
          </a:prstGeom>
          <a:solidFill>
            <a:schemeClr val="accent3"/>
          </a:solidFill>
          <a:ln/>
        </p:spPr>
      </p:sp>
      <p:pic>
        <p:nvPicPr>
          <p:cNvPr id="16" name="JWT &amp; RBAC icon" descr="JWT &amp; RBAC">    </p:cNvPr>
          <p:cNvPicPr>
            <a:picLocks noChangeAspect="1"/>
          </p:cNvPicPr>
          <p:nvPr/>
        </p:nvPicPr>
        <p:blipFill>
          <a:blip r:embed="rId3"/>
          <a:stretch>
            <a:fillRect/>
          </a:stretch>
        </p:blipFill>
        <p:spPr>
          <a:xfrm>
            <a:off x="1005840" y="3657600"/>
            <a:ext cx="365760" cy="365760"/>
          </a:xfrm>
          <a:prstGeom prst="rect">
            <a:avLst/>
          </a:prstGeom>
        </p:spPr>
      </p:pic>
      <p:sp>
        <p:nvSpPr>
          <p:cNvPr id="17" name="Text 12"/>
          <p:cNvSpPr txBox="1"/>
          <p:nvPr/>
        </p:nvSpPr>
        <p:spPr>
          <a:xfrm>
            <a:off x="1783080" y="3319272"/>
            <a:ext cx="3977640" cy="411480"/>
          </a:xfrm>
          <a:prstGeom prst="rect">
            <a:avLst/>
          </a:prstGeom>
          <a:noFill/>
          <a:ln/>
        </p:spPr>
        <p:txBody>
          <a:bodyPr wrap="square" lIns="0" tIns="0" rIns="0" bIns="0" rtlCol="0" anchor="ctr"/>
          <a:lstStyle/>
          <a:p>
            <a:pPr indent="0" marL="0">
              <a:buNone/>
            </a:pPr>
            <a:r>
              <a:rPr lang="en-US" sz="1700" b="1" dirty="0">
                <a:solidFill>
                  <a:schemeClr val="accent3"/>
                </a:solidFill>
              </a:rPr>
              <a:t>JWT &amp; RBAC</a:t>
            </a:r>
            <a:endParaRPr lang="en-US" sz="1700" dirty="0"/>
          </a:p>
        </p:txBody>
      </p:sp>
      <p:sp>
        <p:nvSpPr>
          <p:cNvPr id="18" name="Text 13"/>
          <p:cNvSpPr txBox="1"/>
          <p:nvPr/>
        </p:nvSpPr>
        <p:spPr>
          <a:xfrm>
            <a:off x="1783080" y="3749040"/>
            <a:ext cx="3977640" cy="685800"/>
          </a:xfrm>
          <a:prstGeom prst="rect">
            <a:avLst/>
          </a:prstGeom>
          <a:noFill/>
          <a:ln/>
        </p:spPr>
        <p:txBody>
          <a:bodyPr wrap="square" lIns="0" tIns="0" rIns="0" bIns="0" rtlCol="0" anchor="t"/>
          <a:lstStyle/>
          <a:p>
            <a:pPr indent="0" marL="0">
              <a:buNone/>
            </a:pPr>
            <a:r>
              <a:rPr lang="en-US" sz="1300" dirty="0">
                <a:solidFill>
                  <a:schemeClr val="tx1"/>
                </a:solidFill>
              </a:rPr>
              <a:t>Access and refresh tokens; role checks on every API request, plus audit logs.</a:t>
            </a:r>
            <a:endParaRPr lang="en-US" sz="1300" dirty="0"/>
          </a:p>
        </p:txBody>
      </p:sp>
      <p:sp>
        <p:nvSpPr>
          <p:cNvPr id="19" name="Prompt-injection defence card"/>
          <p:cNvSpPr/>
          <p:nvPr/>
        </p:nvSpPr>
        <p:spPr>
          <a:xfrm>
            <a:off x="6172200" y="3154680"/>
            <a:ext cx="5440680" cy="1371600"/>
          </a:xfrm>
          <a:prstGeom prst="roundRect">
            <a:avLst>
              <a:gd name="adj" fmla="val 8000"/>
            </a:avLst>
          </a:prstGeom>
          <a:solidFill>
            <a:schemeClr val="accent6">
              <a:alpha val="10000"/>
            </a:schemeClr>
          </a:solidFill>
          <a:ln/>
        </p:spPr>
      </p:sp>
      <p:sp>
        <p:nvSpPr>
          <p:cNvPr id="20" name="Prompt-injection defence circle"/>
          <p:cNvSpPr/>
          <p:nvPr/>
        </p:nvSpPr>
        <p:spPr>
          <a:xfrm>
            <a:off x="6446520" y="3474720"/>
            <a:ext cx="731520" cy="731520"/>
          </a:xfrm>
          <a:prstGeom prst="ellipse">
            <a:avLst/>
          </a:prstGeom>
          <a:solidFill>
            <a:schemeClr val="accent6"/>
          </a:solidFill>
          <a:ln/>
        </p:spPr>
      </p:sp>
      <p:pic>
        <p:nvPicPr>
          <p:cNvPr id="21" name="Prompt-injection defence icon" descr="Prompt-injection defence">    </p:cNvPr>
          <p:cNvPicPr>
            <a:picLocks noChangeAspect="1"/>
          </p:cNvPicPr>
          <p:nvPr/>
        </p:nvPicPr>
        <p:blipFill>
          <a:blip r:embed="rId4"/>
          <a:stretch>
            <a:fillRect/>
          </a:stretch>
        </p:blipFill>
        <p:spPr>
          <a:xfrm>
            <a:off x="6629400" y="3657600"/>
            <a:ext cx="365760" cy="365760"/>
          </a:xfrm>
          <a:prstGeom prst="rect">
            <a:avLst/>
          </a:prstGeom>
        </p:spPr>
      </p:pic>
      <p:sp>
        <p:nvSpPr>
          <p:cNvPr id="22" name="Text 16"/>
          <p:cNvSpPr txBox="1"/>
          <p:nvPr/>
        </p:nvSpPr>
        <p:spPr>
          <a:xfrm>
            <a:off x="7406640" y="3319272"/>
            <a:ext cx="3977640" cy="411480"/>
          </a:xfrm>
          <a:prstGeom prst="rect">
            <a:avLst/>
          </a:prstGeom>
          <a:noFill/>
          <a:ln/>
        </p:spPr>
        <p:txBody>
          <a:bodyPr wrap="square" lIns="0" tIns="0" rIns="0" bIns="0" rtlCol="0" anchor="ctr"/>
          <a:lstStyle/>
          <a:p>
            <a:pPr indent="0" marL="0">
              <a:buNone/>
            </a:pPr>
            <a:r>
              <a:rPr lang="en-US" sz="1700" b="1" dirty="0">
                <a:solidFill>
                  <a:schemeClr val="accent6"/>
                </a:solidFill>
              </a:rPr>
              <a:t>Prompt-injection defence</a:t>
            </a:r>
            <a:endParaRPr lang="en-US" sz="1700" dirty="0"/>
          </a:p>
        </p:txBody>
      </p:sp>
      <p:sp>
        <p:nvSpPr>
          <p:cNvPr id="23" name="Text 17"/>
          <p:cNvSpPr txBox="1"/>
          <p:nvPr/>
        </p:nvSpPr>
        <p:spPr>
          <a:xfrm>
            <a:off x="7406640" y="3749040"/>
            <a:ext cx="3977640" cy="685800"/>
          </a:xfrm>
          <a:prstGeom prst="rect">
            <a:avLst/>
          </a:prstGeom>
          <a:noFill/>
          <a:ln/>
        </p:spPr>
        <p:txBody>
          <a:bodyPr wrap="square" lIns="0" tIns="0" rIns="0" bIns="0" rtlCol="0" anchor="t"/>
          <a:lstStyle/>
          <a:p>
            <a:pPr indent="0" marL="0">
              <a:buNone/>
            </a:pPr>
            <a:r>
              <a:rPr lang="en-US" sz="1300" dirty="0">
                <a:solidFill>
                  <a:schemeClr val="tx1"/>
                </a:solidFill>
              </a:rPr>
              <a:t>Transcripts are treated as untrusted input and kept outside system instructions.</a:t>
            </a:r>
            <a:endParaRPr lang="en-US" sz="1300" dirty="0"/>
          </a:p>
        </p:txBody>
      </p:sp>
      <p:sp>
        <p:nvSpPr>
          <p:cNvPr id="24" name="Dual guardrails card"/>
          <p:cNvSpPr/>
          <p:nvPr/>
        </p:nvSpPr>
        <p:spPr>
          <a:xfrm>
            <a:off x="548640" y="4709160"/>
            <a:ext cx="5440680" cy="1371600"/>
          </a:xfrm>
          <a:prstGeom prst="roundRect">
            <a:avLst>
              <a:gd name="adj" fmla="val 8000"/>
            </a:avLst>
          </a:prstGeom>
          <a:solidFill>
            <a:schemeClr val="accent2">
              <a:alpha val="10000"/>
            </a:schemeClr>
          </a:solidFill>
          <a:ln/>
        </p:spPr>
      </p:sp>
      <p:sp>
        <p:nvSpPr>
          <p:cNvPr id="25" name="Dual guardrails circle"/>
          <p:cNvSpPr/>
          <p:nvPr/>
        </p:nvSpPr>
        <p:spPr>
          <a:xfrm>
            <a:off x="822960" y="5029200"/>
            <a:ext cx="731520" cy="731520"/>
          </a:xfrm>
          <a:prstGeom prst="ellipse">
            <a:avLst/>
          </a:prstGeom>
          <a:solidFill>
            <a:schemeClr val="accent2"/>
          </a:solidFill>
          <a:ln/>
        </p:spPr>
      </p:sp>
      <p:pic>
        <p:nvPicPr>
          <p:cNvPr id="26" name="Dual guardrails icon" descr="Dual guardrails">    </p:cNvPr>
          <p:cNvPicPr>
            <a:picLocks noChangeAspect="1"/>
          </p:cNvPicPr>
          <p:nvPr/>
        </p:nvPicPr>
        <p:blipFill>
          <a:blip r:embed="rId5"/>
          <a:stretch>
            <a:fillRect/>
          </a:stretch>
        </p:blipFill>
        <p:spPr>
          <a:xfrm>
            <a:off x="1005840" y="5212080"/>
            <a:ext cx="365760" cy="365760"/>
          </a:xfrm>
          <a:prstGeom prst="rect">
            <a:avLst/>
          </a:prstGeom>
        </p:spPr>
      </p:pic>
      <p:sp>
        <p:nvSpPr>
          <p:cNvPr id="27" name="Text 20"/>
          <p:cNvSpPr txBox="1"/>
          <p:nvPr/>
        </p:nvSpPr>
        <p:spPr>
          <a:xfrm>
            <a:off x="1783080" y="4873752"/>
            <a:ext cx="3977640" cy="411480"/>
          </a:xfrm>
          <a:prstGeom prst="rect">
            <a:avLst/>
          </a:prstGeom>
          <a:noFill/>
          <a:ln/>
        </p:spPr>
        <p:txBody>
          <a:bodyPr wrap="square" lIns="0" tIns="0" rIns="0" bIns="0" rtlCol="0" anchor="ctr"/>
          <a:lstStyle/>
          <a:p>
            <a:pPr indent="0" marL="0">
              <a:buNone/>
            </a:pPr>
            <a:r>
              <a:rPr lang="en-US" sz="1700" b="1" dirty="0">
                <a:solidFill>
                  <a:schemeClr val="accent2"/>
                </a:solidFill>
              </a:rPr>
              <a:t>Dual guardrails</a:t>
            </a:r>
            <a:endParaRPr lang="en-US" sz="1700" dirty="0"/>
          </a:p>
        </p:txBody>
      </p:sp>
      <p:sp>
        <p:nvSpPr>
          <p:cNvPr id="28" name="Text 21"/>
          <p:cNvSpPr txBox="1"/>
          <p:nvPr/>
        </p:nvSpPr>
        <p:spPr>
          <a:xfrm>
            <a:off x="1783080" y="5303520"/>
            <a:ext cx="3977640" cy="685800"/>
          </a:xfrm>
          <a:prstGeom prst="rect">
            <a:avLst/>
          </a:prstGeom>
          <a:noFill/>
          <a:ln/>
        </p:spPr>
        <p:txBody>
          <a:bodyPr wrap="square" lIns="0" tIns="0" rIns="0" bIns="0" rtlCol="0" anchor="t"/>
          <a:lstStyle/>
          <a:p>
            <a:pPr indent="0" marL="0">
              <a:buNone/>
            </a:pPr>
            <a:r>
              <a:rPr lang="en-US" sz="1300" dirty="0">
                <a:solidFill>
                  <a:schemeClr val="tx1"/>
                </a:solidFill>
              </a:rPr>
              <a:t>Automated moderation plus grounding checks against the source transcript.</a:t>
            </a:r>
            <a:endParaRPr lang="en-US" sz="1300" dirty="0"/>
          </a:p>
        </p:txBody>
      </p:sp>
      <p:sp>
        <p:nvSpPr>
          <p:cNvPr id="29" name="Human-in-the-loop card"/>
          <p:cNvSpPr/>
          <p:nvPr/>
        </p:nvSpPr>
        <p:spPr>
          <a:xfrm>
            <a:off x="6172200" y="4709160"/>
            <a:ext cx="5440680" cy="1371600"/>
          </a:xfrm>
          <a:prstGeom prst="roundRect">
            <a:avLst>
              <a:gd name="adj" fmla="val 8000"/>
            </a:avLst>
          </a:prstGeom>
          <a:solidFill>
            <a:schemeClr val="accent5">
              <a:alpha val="10000"/>
            </a:schemeClr>
          </a:solidFill>
          <a:ln/>
        </p:spPr>
      </p:sp>
      <p:sp>
        <p:nvSpPr>
          <p:cNvPr id="30" name="Human-in-the-loop circle"/>
          <p:cNvSpPr/>
          <p:nvPr/>
        </p:nvSpPr>
        <p:spPr>
          <a:xfrm>
            <a:off x="6446520" y="5029200"/>
            <a:ext cx="731520" cy="731520"/>
          </a:xfrm>
          <a:prstGeom prst="ellipse">
            <a:avLst/>
          </a:prstGeom>
          <a:solidFill>
            <a:schemeClr val="accent5"/>
          </a:solidFill>
          <a:ln/>
        </p:spPr>
      </p:sp>
      <p:pic>
        <p:nvPicPr>
          <p:cNvPr id="31" name="Human-in-the-loop icon" descr="Human-in-the-loop">    </p:cNvPr>
          <p:cNvPicPr>
            <a:picLocks noChangeAspect="1"/>
          </p:cNvPicPr>
          <p:nvPr/>
        </p:nvPicPr>
        <p:blipFill>
          <a:blip r:embed="rId6"/>
          <a:stretch>
            <a:fillRect/>
          </a:stretch>
        </p:blipFill>
        <p:spPr>
          <a:xfrm>
            <a:off x="6629400" y="5212080"/>
            <a:ext cx="365760" cy="365760"/>
          </a:xfrm>
          <a:prstGeom prst="rect">
            <a:avLst/>
          </a:prstGeom>
        </p:spPr>
      </p:pic>
      <p:sp>
        <p:nvSpPr>
          <p:cNvPr id="32" name="Text 24"/>
          <p:cNvSpPr txBox="1"/>
          <p:nvPr/>
        </p:nvSpPr>
        <p:spPr>
          <a:xfrm>
            <a:off x="7406640" y="4873752"/>
            <a:ext cx="3977640" cy="411480"/>
          </a:xfrm>
          <a:prstGeom prst="rect">
            <a:avLst/>
          </a:prstGeom>
          <a:noFill/>
          <a:ln/>
        </p:spPr>
        <p:txBody>
          <a:bodyPr wrap="square" lIns="0" tIns="0" rIns="0" bIns="0" rtlCol="0" anchor="ctr"/>
          <a:lstStyle/>
          <a:p>
            <a:pPr indent="0" marL="0">
              <a:buNone/>
            </a:pPr>
            <a:r>
              <a:rPr lang="en-US" sz="1700" b="1" dirty="0">
                <a:solidFill>
                  <a:schemeClr val="accent5"/>
                </a:solidFill>
              </a:rPr>
              <a:t>Human-in-the-loop</a:t>
            </a:r>
            <a:endParaRPr lang="en-US" sz="1700" dirty="0"/>
          </a:p>
        </p:txBody>
      </p:sp>
      <p:sp>
        <p:nvSpPr>
          <p:cNvPr id="33" name="Text 25"/>
          <p:cNvSpPr txBox="1"/>
          <p:nvPr/>
        </p:nvSpPr>
        <p:spPr>
          <a:xfrm>
            <a:off x="7406640" y="5303520"/>
            <a:ext cx="3977640" cy="685800"/>
          </a:xfrm>
          <a:prstGeom prst="rect">
            <a:avLst/>
          </a:prstGeom>
          <a:noFill/>
          <a:ln/>
        </p:spPr>
        <p:txBody>
          <a:bodyPr wrap="square" lIns="0" tIns="0" rIns="0" bIns="0" rtlCol="0" anchor="t"/>
          <a:lstStyle/>
          <a:p>
            <a:pPr indent="0" marL="0">
              <a:buNone/>
            </a:pPr>
            <a:r>
              <a:rPr lang="en-US" sz="1300" dirty="0">
                <a:solidFill>
                  <a:schemeClr val="tx1"/>
                </a:solidFill>
              </a:rPr>
              <a:t>Content becomes ready to publish only after every piece is reviewed and approved.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End-to-End User Workflow</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What an organizer experiences from login to publish-ready content</a:t>
            </a:r>
            <a:endParaRPr lang="en-US" sz="1400" dirty="0"/>
          </a:p>
        </p:txBody>
      </p:sp>
      <p:sp>
        <p:nvSpPr>
          <p:cNvPr id="4" name="Workflow connector"/>
          <p:cNvSpPr/>
          <p:nvPr/>
        </p:nvSpPr>
        <p:spPr>
          <a:xfrm>
            <a:off x="1280160" y="2514600"/>
            <a:ext cx="8961120" cy="0"/>
          </a:xfrm>
          <a:prstGeom prst="line">
            <a:avLst/>
          </a:prstGeom>
          <a:noFill/>
          <a:ln w="38100">
            <a:solidFill>
              <a:srgbClr val="CBD5E1"/>
            </a:solidFill>
            <a:prstDash val="solid"/>
          </a:ln>
        </p:spPr>
      </p:sp>
      <p:sp>
        <p:nvSpPr>
          <p:cNvPr id="5" name="Login circle"/>
          <p:cNvSpPr/>
          <p:nvPr/>
        </p:nvSpPr>
        <p:spPr>
          <a:xfrm>
            <a:off x="731520" y="1965960"/>
            <a:ext cx="1097280" cy="1097280"/>
          </a:xfrm>
          <a:prstGeom prst="ellipse">
            <a:avLst/>
          </a:prstGeom>
          <a:solidFill>
            <a:schemeClr val="accent1"/>
          </a:solidFill>
          <a:ln/>
        </p:spPr>
      </p:sp>
      <p:pic>
        <p:nvPicPr>
          <p:cNvPr id="6" name="Login icon" descr="Login">    </p:cNvPr>
          <p:cNvPicPr>
            <a:picLocks noChangeAspect="1"/>
          </p:cNvPicPr>
          <p:nvPr/>
        </p:nvPicPr>
        <p:blipFill>
          <a:blip r:embed="rId1"/>
          <a:stretch>
            <a:fillRect/>
          </a:stretch>
        </p:blipFill>
        <p:spPr>
          <a:xfrm>
            <a:off x="1005840" y="2240280"/>
            <a:ext cx="548640" cy="548640"/>
          </a:xfrm>
          <a:prstGeom prst="rect">
            <a:avLst/>
          </a:prstGeom>
        </p:spPr>
      </p:pic>
      <p:sp>
        <p:nvSpPr>
          <p:cNvPr id="7" name="Text 4"/>
          <p:cNvSpPr txBox="1"/>
          <p:nvPr/>
        </p:nvSpPr>
        <p:spPr>
          <a:xfrm>
            <a:off x="274320" y="3246120"/>
            <a:ext cx="2011680" cy="411480"/>
          </a:xfrm>
          <a:prstGeom prst="rect">
            <a:avLst/>
          </a:prstGeom>
          <a:noFill/>
          <a:ln/>
        </p:spPr>
        <p:txBody>
          <a:bodyPr wrap="square" lIns="0" tIns="0" rIns="0" bIns="0" rtlCol="0" anchor="ctr"/>
          <a:lstStyle/>
          <a:p>
            <a:pPr algn="ctr" indent="0" marL="0">
              <a:buNone/>
            </a:pPr>
            <a:r>
              <a:rPr lang="en-US" sz="1700" b="1" dirty="0">
                <a:solidFill>
                  <a:schemeClr val="accent1"/>
                </a:solidFill>
              </a:rPr>
              <a:t>1. Login</a:t>
            </a:r>
            <a:endParaRPr lang="en-US" sz="1700" dirty="0"/>
          </a:p>
        </p:txBody>
      </p:sp>
      <p:sp>
        <p:nvSpPr>
          <p:cNvPr id="8" name="Text 5"/>
          <p:cNvSpPr txBox="1"/>
          <p:nvPr/>
        </p:nvSpPr>
        <p:spPr>
          <a:xfrm>
            <a:off x="320040" y="3657600"/>
            <a:ext cx="1920240" cy="731520"/>
          </a:xfrm>
          <a:prstGeom prst="rect">
            <a:avLst/>
          </a:prstGeom>
          <a:noFill/>
          <a:ln/>
        </p:spPr>
        <p:txBody>
          <a:bodyPr wrap="square" lIns="0" tIns="0" rIns="0" bIns="0" rtlCol="0" anchor="t"/>
          <a:lstStyle/>
          <a:p>
            <a:pPr algn="ctr" indent="0" marL="0">
              <a:buNone/>
            </a:pPr>
            <a:r>
              <a:rPr lang="en-US" sz="1300" dirty="0">
                <a:solidFill>
                  <a:schemeClr val="tx1"/>
                </a:solidFill>
              </a:rPr>
              <a:t>Register or sign in with a role</a:t>
            </a:r>
            <a:endParaRPr lang="en-US" sz="1300" dirty="0"/>
          </a:p>
        </p:txBody>
      </p:sp>
      <p:sp>
        <p:nvSpPr>
          <p:cNvPr id="9" name="Upload circle"/>
          <p:cNvSpPr/>
          <p:nvPr/>
        </p:nvSpPr>
        <p:spPr>
          <a:xfrm>
            <a:off x="2971800" y="1965960"/>
            <a:ext cx="1097280" cy="1097280"/>
          </a:xfrm>
          <a:prstGeom prst="ellipse">
            <a:avLst/>
          </a:prstGeom>
          <a:solidFill>
            <a:schemeClr val="accent2"/>
          </a:solidFill>
          <a:ln/>
        </p:spPr>
      </p:sp>
      <p:pic>
        <p:nvPicPr>
          <p:cNvPr id="10" name="Upload icon" descr="Upload">    </p:cNvPr>
          <p:cNvPicPr>
            <a:picLocks noChangeAspect="1"/>
          </p:cNvPicPr>
          <p:nvPr/>
        </p:nvPicPr>
        <p:blipFill>
          <a:blip r:embed="rId2"/>
          <a:stretch>
            <a:fillRect/>
          </a:stretch>
        </p:blipFill>
        <p:spPr>
          <a:xfrm>
            <a:off x="3246120" y="2240280"/>
            <a:ext cx="548640" cy="548640"/>
          </a:xfrm>
          <a:prstGeom prst="rect">
            <a:avLst/>
          </a:prstGeom>
        </p:spPr>
      </p:pic>
      <p:sp>
        <p:nvSpPr>
          <p:cNvPr id="11" name="Text 7"/>
          <p:cNvSpPr txBox="1"/>
          <p:nvPr/>
        </p:nvSpPr>
        <p:spPr>
          <a:xfrm>
            <a:off x="2514600" y="3246120"/>
            <a:ext cx="2011680" cy="411480"/>
          </a:xfrm>
          <a:prstGeom prst="rect">
            <a:avLst/>
          </a:prstGeom>
          <a:noFill/>
          <a:ln/>
        </p:spPr>
        <p:txBody>
          <a:bodyPr wrap="square" lIns="0" tIns="0" rIns="0" bIns="0" rtlCol="0" anchor="ctr"/>
          <a:lstStyle/>
          <a:p>
            <a:pPr algn="ctr" indent="0" marL="0">
              <a:buNone/>
            </a:pPr>
            <a:r>
              <a:rPr lang="en-US" sz="1700" b="1" dirty="0">
                <a:solidFill>
                  <a:schemeClr val="accent2"/>
                </a:solidFill>
              </a:rPr>
              <a:t>2. Upload</a:t>
            </a:r>
            <a:endParaRPr lang="en-US" sz="1700" dirty="0"/>
          </a:p>
        </p:txBody>
      </p:sp>
      <p:sp>
        <p:nvSpPr>
          <p:cNvPr id="12" name="Text 8"/>
          <p:cNvSpPr txBox="1"/>
          <p:nvPr/>
        </p:nvSpPr>
        <p:spPr>
          <a:xfrm>
            <a:off x="2560320" y="3657600"/>
            <a:ext cx="1920240" cy="731520"/>
          </a:xfrm>
          <a:prstGeom prst="rect">
            <a:avLst/>
          </a:prstGeom>
          <a:noFill/>
          <a:ln/>
        </p:spPr>
        <p:txBody>
          <a:bodyPr wrap="square" lIns="0" tIns="0" rIns="0" bIns="0" rtlCol="0" anchor="t"/>
          <a:lstStyle/>
          <a:p>
            <a:pPr algn="ctr" indent="0" marL="0">
              <a:buNone/>
            </a:pPr>
            <a:r>
              <a:rPr lang="en-US" sz="1300" dirty="0">
                <a:solidFill>
                  <a:schemeClr val="tx1"/>
                </a:solidFill>
              </a:rPr>
              <a:t>Add recording, consent and target languages</a:t>
            </a:r>
            <a:endParaRPr lang="en-US" sz="1300" dirty="0"/>
          </a:p>
        </p:txBody>
      </p:sp>
      <p:sp>
        <p:nvSpPr>
          <p:cNvPr id="13" name="Live Pipeline circle"/>
          <p:cNvSpPr/>
          <p:nvPr/>
        </p:nvSpPr>
        <p:spPr>
          <a:xfrm>
            <a:off x="5212080" y="1965960"/>
            <a:ext cx="1097280" cy="1097280"/>
          </a:xfrm>
          <a:prstGeom prst="ellipse">
            <a:avLst/>
          </a:prstGeom>
          <a:solidFill>
            <a:schemeClr val="accent3"/>
          </a:solidFill>
          <a:ln/>
        </p:spPr>
      </p:sp>
      <p:pic>
        <p:nvPicPr>
          <p:cNvPr id="14" name="Live Pipeline icon" descr="Live Pipeline">    </p:cNvPr>
          <p:cNvPicPr>
            <a:picLocks noChangeAspect="1"/>
          </p:cNvPicPr>
          <p:nvPr/>
        </p:nvPicPr>
        <p:blipFill>
          <a:blip r:embed="rId3"/>
          <a:stretch>
            <a:fillRect/>
          </a:stretch>
        </p:blipFill>
        <p:spPr>
          <a:xfrm>
            <a:off x="5486400" y="2240280"/>
            <a:ext cx="548640" cy="548640"/>
          </a:xfrm>
          <a:prstGeom prst="rect">
            <a:avLst/>
          </a:prstGeom>
        </p:spPr>
      </p:pic>
      <p:sp>
        <p:nvSpPr>
          <p:cNvPr id="15" name="Text 10"/>
          <p:cNvSpPr txBox="1"/>
          <p:nvPr/>
        </p:nvSpPr>
        <p:spPr>
          <a:xfrm>
            <a:off x="4754880" y="3246120"/>
            <a:ext cx="2011680" cy="411480"/>
          </a:xfrm>
          <a:prstGeom prst="rect">
            <a:avLst/>
          </a:prstGeom>
          <a:noFill/>
          <a:ln/>
        </p:spPr>
        <p:txBody>
          <a:bodyPr wrap="square" lIns="0" tIns="0" rIns="0" bIns="0" rtlCol="0" anchor="ctr"/>
          <a:lstStyle/>
          <a:p>
            <a:pPr algn="ctr" indent="0" marL="0">
              <a:buNone/>
            </a:pPr>
            <a:r>
              <a:rPr lang="en-US" sz="1700" b="1" dirty="0">
                <a:solidFill>
                  <a:schemeClr val="accent3"/>
                </a:solidFill>
              </a:rPr>
              <a:t>3. Live Pipeline</a:t>
            </a:r>
            <a:endParaRPr lang="en-US" sz="1700" dirty="0"/>
          </a:p>
        </p:txBody>
      </p:sp>
      <p:sp>
        <p:nvSpPr>
          <p:cNvPr id="16" name="Text 11"/>
          <p:cNvSpPr txBox="1"/>
          <p:nvPr/>
        </p:nvSpPr>
        <p:spPr>
          <a:xfrm>
            <a:off x="4800600" y="3657600"/>
            <a:ext cx="1920240" cy="731520"/>
          </a:xfrm>
          <a:prstGeom prst="rect">
            <a:avLst/>
          </a:prstGeom>
          <a:noFill/>
          <a:ln/>
        </p:spPr>
        <p:txBody>
          <a:bodyPr wrap="square" lIns="0" tIns="0" rIns="0" bIns="0" rtlCol="0" anchor="t"/>
          <a:lstStyle/>
          <a:p>
            <a:pPr algn="ctr" indent="0" marL="0">
              <a:buNone/>
            </a:pPr>
            <a:r>
              <a:rPr lang="en-US" sz="1300" dirty="0">
                <a:solidFill>
                  <a:schemeClr val="tx1"/>
                </a:solidFill>
              </a:rPr>
              <a:t>Agent chips move queued → running → complete</a:t>
            </a:r>
            <a:endParaRPr lang="en-US" sz="1300" dirty="0"/>
          </a:p>
        </p:txBody>
      </p:sp>
      <p:sp>
        <p:nvSpPr>
          <p:cNvPr id="17" name="Review &amp; Edit circle"/>
          <p:cNvSpPr/>
          <p:nvPr/>
        </p:nvSpPr>
        <p:spPr>
          <a:xfrm>
            <a:off x="7452360" y="1965960"/>
            <a:ext cx="1097280" cy="1097280"/>
          </a:xfrm>
          <a:prstGeom prst="ellipse">
            <a:avLst/>
          </a:prstGeom>
          <a:solidFill>
            <a:schemeClr val="accent4"/>
          </a:solidFill>
          <a:ln/>
        </p:spPr>
      </p:sp>
      <p:pic>
        <p:nvPicPr>
          <p:cNvPr id="18" name="Review &amp; Edit icon" descr="Review &amp; Edit">    </p:cNvPr>
          <p:cNvPicPr>
            <a:picLocks noChangeAspect="1"/>
          </p:cNvPicPr>
          <p:nvPr/>
        </p:nvPicPr>
        <p:blipFill>
          <a:blip r:embed="rId4"/>
          <a:stretch>
            <a:fillRect/>
          </a:stretch>
        </p:blipFill>
        <p:spPr>
          <a:xfrm>
            <a:off x="7726680" y="2240280"/>
            <a:ext cx="548640" cy="548640"/>
          </a:xfrm>
          <a:prstGeom prst="rect">
            <a:avLst/>
          </a:prstGeom>
        </p:spPr>
      </p:pic>
      <p:sp>
        <p:nvSpPr>
          <p:cNvPr id="19" name="Text 13"/>
          <p:cNvSpPr txBox="1"/>
          <p:nvPr/>
        </p:nvSpPr>
        <p:spPr>
          <a:xfrm>
            <a:off x="6995160" y="3246120"/>
            <a:ext cx="2011680" cy="411480"/>
          </a:xfrm>
          <a:prstGeom prst="rect">
            <a:avLst/>
          </a:prstGeom>
          <a:noFill/>
          <a:ln/>
        </p:spPr>
        <p:txBody>
          <a:bodyPr wrap="square" lIns="0" tIns="0" rIns="0" bIns="0" rtlCol="0" anchor="ctr"/>
          <a:lstStyle/>
          <a:p>
            <a:pPr algn="ctr" indent="0" marL="0">
              <a:buNone/>
            </a:pPr>
            <a:r>
              <a:rPr lang="en-US" sz="1700" b="1" dirty="0">
                <a:solidFill>
                  <a:schemeClr val="accent4"/>
                </a:solidFill>
              </a:rPr>
              <a:t>4. Review &amp; Edit</a:t>
            </a:r>
            <a:endParaRPr lang="en-US" sz="1700" dirty="0"/>
          </a:p>
        </p:txBody>
      </p:sp>
      <p:sp>
        <p:nvSpPr>
          <p:cNvPr id="20" name="Text 14"/>
          <p:cNvSpPr txBox="1"/>
          <p:nvPr/>
        </p:nvSpPr>
        <p:spPr>
          <a:xfrm>
            <a:off x="7040880" y="3657600"/>
            <a:ext cx="1920240" cy="731520"/>
          </a:xfrm>
          <a:prstGeom prst="rect">
            <a:avLst/>
          </a:prstGeom>
          <a:noFill/>
          <a:ln/>
        </p:spPr>
        <p:txBody>
          <a:bodyPr wrap="square" lIns="0" tIns="0" rIns="0" bIns="0" rtlCol="0" anchor="t"/>
          <a:lstStyle/>
          <a:p>
            <a:pPr algn="ctr" indent="0" marL="0">
              <a:buNone/>
            </a:pPr>
            <a:r>
              <a:rPr lang="en-US" sz="1300" dirty="0">
                <a:solidFill>
                  <a:schemeClr val="tx1"/>
                </a:solidFill>
              </a:rPr>
              <a:t>Switch formats, edit, copy, download</a:t>
            </a:r>
            <a:endParaRPr lang="en-US" sz="1300" dirty="0"/>
          </a:p>
        </p:txBody>
      </p:sp>
      <p:sp>
        <p:nvSpPr>
          <p:cNvPr id="21" name="Approve circle"/>
          <p:cNvSpPr/>
          <p:nvPr/>
        </p:nvSpPr>
        <p:spPr>
          <a:xfrm>
            <a:off x="9692640" y="1965960"/>
            <a:ext cx="1097280" cy="1097280"/>
          </a:xfrm>
          <a:prstGeom prst="ellipse">
            <a:avLst/>
          </a:prstGeom>
          <a:solidFill>
            <a:schemeClr val="accent5"/>
          </a:solidFill>
          <a:ln/>
        </p:spPr>
      </p:sp>
      <p:pic>
        <p:nvPicPr>
          <p:cNvPr id="22" name="Approve icon" descr="Approve">    </p:cNvPr>
          <p:cNvPicPr>
            <a:picLocks noChangeAspect="1"/>
          </p:cNvPicPr>
          <p:nvPr/>
        </p:nvPicPr>
        <p:blipFill>
          <a:blip r:embed="rId5"/>
          <a:stretch>
            <a:fillRect/>
          </a:stretch>
        </p:blipFill>
        <p:spPr>
          <a:xfrm>
            <a:off x="9966960" y="2240280"/>
            <a:ext cx="548640" cy="548640"/>
          </a:xfrm>
          <a:prstGeom prst="rect">
            <a:avLst/>
          </a:prstGeom>
        </p:spPr>
      </p:pic>
      <p:sp>
        <p:nvSpPr>
          <p:cNvPr id="23" name="Text 16"/>
          <p:cNvSpPr txBox="1"/>
          <p:nvPr/>
        </p:nvSpPr>
        <p:spPr>
          <a:xfrm>
            <a:off x="9235440" y="3246120"/>
            <a:ext cx="2011680" cy="411480"/>
          </a:xfrm>
          <a:prstGeom prst="rect">
            <a:avLst/>
          </a:prstGeom>
          <a:noFill/>
          <a:ln/>
        </p:spPr>
        <p:txBody>
          <a:bodyPr wrap="square" lIns="0" tIns="0" rIns="0" bIns="0" rtlCol="0" anchor="ctr"/>
          <a:lstStyle/>
          <a:p>
            <a:pPr algn="ctr" indent="0" marL="0">
              <a:buNone/>
            </a:pPr>
            <a:r>
              <a:rPr lang="en-US" sz="1700" b="1" dirty="0">
                <a:solidFill>
                  <a:schemeClr val="accent5"/>
                </a:solidFill>
              </a:rPr>
              <a:t>5. Approve</a:t>
            </a:r>
            <a:endParaRPr lang="en-US" sz="1700" dirty="0"/>
          </a:p>
        </p:txBody>
      </p:sp>
      <p:sp>
        <p:nvSpPr>
          <p:cNvPr id="24" name="Text 17"/>
          <p:cNvSpPr txBox="1"/>
          <p:nvPr/>
        </p:nvSpPr>
        <p:spPr>
          <a:xfrm>
            <a:off x="9281160" y="3657600"/>
            <a:ext cx="1920240" cy="731520"/>
          </a:xfrm>
          <a:prstGeom prst="rect">
            <a:avLst/>
          </a:prstGeom>
          <a:noFill/>
          <a:ln/>
        </p:spPr>
        <p:txBody>
          <a:bodyPr wrap="square" lIns="0" tIns="0" rIns="0" bIns="0" rtlCol="0" anchor="t"/>
          <a:lstStyle/>
          <a:p>
            <a:pPr algn="ctr" indent="0" marL="0">
              <a:buNone/>
            </a:pPr>
            <a:r>
              <a:rPr lang="en-US" sz="1300" dirty="0">
                <a:solidFill>
                  <a:schemeClr val="tx1"/>
                </a:solidFill>
              </a:rPr>
              <a:t>Job becomes ready to publish</a:t>
            </a:r>
            <a:endParaRPr lang="en-US" sz="1300" dirty="0"/>
          </a:p>
        </p:txBody>
      </p:sp>
      <p:sp>
        <p:nvSpPr>
          <p:cNvPr id="25" name="Demo note card"/>
          <p:cNvSpPr/>
          <p:nvPr/>
        </p:nvSpPr>
        <p:spPr>
          <a:xfrm>
            <a:off x="548640" y="4754880"/>
            <a:ext cx="11064240" cy="1371600"/>
          </a:xfrm>
          <a:prstGeom prst="roundRect">
            <a:avLst>
              <a:gd name="adj" fmla="val 8000"/>
            </a:avLst>
          </a:prstGeom>
          <a:solidFill>
            <a:schemeClr val="accent1">
              <a:alpha val="10000"/>
            </a:schemeClr>
          </a:solidFill>
          <a:ln/>
        </p:spPr>
      </p:sp>
      <p:sp>
        <p:nvSpPr>
          <p:cNvPr id="26" name="Text 19"/>
          <p:cNvSpPr txBox="1"/>
          <p:nvPr/>
        </p:nvSpPr>
        <p:spPr>
          <a:xfrm>
            <a:off x="822960" y="4892040"/>
            <a:ext cx="10515600" cy="1097280"/>
          </a:xfrm>
          <a:prstGeom prst="rect">
            <a:avLst/>
          </a:prstGeom>
          <a:noFill/>
          <a:ln/>
        </p:spPr>
        <p:txBody>
          <a:bodyPr wrap="square" lIns="0" tIns="0" rIns="0" bIns="0" rtlCol="0" anchor="ctr"/>
          <a:lstStyle/>
          <a:p>
            <a:pPr indent="0" marL="0">
              <a:buNone/>
            </a:pPr>
            <a:r>
              <a:rPr lang="en-US" sz="1400" b="1" dirty="0">
                <a:solidFill>
                  <a:schemeClr val="accent1"/>
                </a:solidFill>
              </a:rPr>
              <a:t>Demo-ready offline:  </a:t>
            </a:r>
            <a:pPr indent="0" marL="0">
              <a:buNone/>
            </a:pPr>
            <a:r>
              <a:rPr lang="en-US" sz="1400" dirty="0">
                <a:solidFill>
                  <a:schemeClr val="tx1"/>
                </a:solidFill>
              </a:rPr>
              <a:t>with no API keys, EventAI falls back to built-in offline STT and LLM providers, so the full workflow runs end to end with Docker Compose. Sample clean and noisy transcripts in data/samples demonstrate grounding alerts and audio confidence handling.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Expected Outcomes &amp; Future Enhancements</a:t>
            </a:r>
            <a:endParaRPr lang="en-US" sz="3400" dirty="0"/>
          </a:p>
        </p:txBody>
      </p:sp>
      <p:sp>
        <p:nvSpPr>
          <p:cNvPr id="3" name="Text 0"/>
          <p:cNvSpPr/>
          <p:nvPr>
            <p:ph idx="101" type="body" hasCustomPrompt="1"/>
          </p:nvPr>
        </p:nvSpPr>
        <p:spPr>
          <a:xfrm>
            <a:off x="548640" y="987552"/>
            <a:ext cx="11064240" cy="365760"/>
          </a:xfrm>
          <a:prstGeom prst="rect">
            <a:avLst/>
          </a:prstGeom>
          <a:noFill/>
          <a:ln/>
        </p:spPr>
        <p:txBody>
          <a:bodyPr wrap="square" lIns="0" tIns="0" rIns="0" bIns="0" rtlCol="0" anchor="t"/>
          <a:lstStyle/>
          <a:p>
            <a:pPr indent="0" marL="0">
              <a:buNone/>
            </a:pPr>
            <a:r>
              <a:rPr lang="en-US" sz="1400" dirty="0">
                <a:solidFill>
                  <a:schemeClr val="accent1"/>
                </a:solidFill>
              </a:rPr>
              <a:t>What EventAI delivers today and where it goes next</a:t>
            </a:r>
            <a:endParaRPr lang="en-US" sz="1400" dirty="0"/>
          </a:p>
        </p:txBody>
      </p:sp>
      <p:sp>
        <p:nvSpPr>
          <p:cNvPr id="4" name="Outcomes card"/>
          <p:cNvSpPr/>
          <p:nvPr/>
        </p:nvSpPr>
        <p:spPr>
          <a:xfrm>
            <a:off x="548640" y="1600200"/>
            <a:ext cx="5440680" cy="4526280"/>
          </a:xfrm>
          <a:prstGeom prst="roundRect">
            <a:avLst>
              <a:gd name="adj" fmla="val 2424"/>
            </a:avLst>
          </a:prstGeom>
          <a:solidFill>
            <a:schemeClr val="accent5">
              <a:alpha val="10000"/>
            </a:schemeClr>
          </a:solidFill>
          <a:ln/>
        </p:spPr>
      </p:sp>
      <p:sp>
        <p:nvSpPr>
          <p:cNvPr id="5" name="Expected outcomes circle"/>
          <p:cNvSpPr/>
          <p:nvPr/>
        </p:nvSpPr>
        <p:spPr>
          <a:xfrm>
            <a:off x="822960" y="1828800"/>
            <a:ext cx="640080" cy="640080"/>
          </a:xfrm>
          <a:prstGeom prst="ellipse">
            <a:avLst/>
          </a:prstGeom>
          <a:solidFill>
            <a:schemeClr val="accent5"/>
          </a:solidFill>
          <a:ln/>
        </p:spPr>
      </p:sp>
      <p:pic>
        <p:nvPicPr>
          <p:cNvPr id="6" name="Expected outcomes icon" descr="Expected outcomes">    </p:cNvPr>
          <p:cNvPicPr>
            <a:picLocks noChangeAspect="1"/>
          </p:cNvPicPr>
          <p:nvPr/>
        </p:nvPicPr>
        <p:blipFill>
          <a:blip r:embed="rId1"/>
          <a:stretch>
            <a:fillRect/>
          </a:stretch>
        </p:blipFill>
        <p:spPr>
          <a:xfrm>
            <a:off x="982980" y="1988820"/>
            <a:ext cx="320040" cy="320040"/>
          </a:xfrm>
          <a:prstGeom prst="rect">
            <a:avLst/>
          </a:prstGeom>
        </p:spPr>
      </p:pic>
      <p:sp>
        <p:nvSpPr>
          <p:cNvPr id="7" name="Text 4"/>
          <p:cNvSpPr txBox="1"/>
          <p:nvPr/>
        </p:nvSpPr>
        <p:spPr>
          <a:xfrm>
            <a:off x="1645920" y="1828800"/>
            <a:ext cx="4114800" cy="640080"/>
          </a:xfrm>
          <a:prstGeom prst="rect">
            <a:avLst/>
          </a:prstGeom>
          <a:noFill/>
          <a:ln/>
        </p:spPr>
        <p:txBody>
          <a:bodyPr wrap="square" lIns="0" tIns="0" rIns="0" bIns="0" rtlCol="0" anchor="ctr"/>
          <a:lstStyle/>
          <a:p>
            <a:pPr indent="0" marL="0">
              <a:buNone/>
            </a:pPr>
            <a:r>
              <a:rPr lang="en-US" sz="2000" b="1" dirty="0">
                <a:solidFill>
                  <a:schemeClr val="accent5"/>
                </a:solidFill>
              </a:rPr>
              <a:t>EXPECTED OUTCOMES</a:t>
            </a:r>
            <a:endParaRPr lang="en-US" sz="2000" dirty="0"/>
          </a:p>
        </p:txBody>
      </p:sp>
      <p:sp>
        <p:nvSpPr>
          <p:cNvPr id="8" name="Text 5"/>
          <p:cNvSpPr txBox="1"/>
          <p:nvPr/>
        </p:nvSpPr>
        <p:spPr>
          <a:xfrm>
            <a:off x="822960" y="2697480"/>
            <a:ext cx="4937760" cy="3291840"/>
          </a:xfrm>
          <a:prstGeom prst="rect">
            <a:avLst/>
          </a:prstGeom>
          <a:noFill/>
          <a:ln/>
        </p:spPr>
        <p:txBody>
          <a:bodyPr wrap="square" lIns="0" tIns="0" rIns="0" bIns="0" rtlCol="0" anchor="t"/>
          <a:lstStyle/>
          <a:p>
            <a:pPr marL="177800" indent="-177800">
              <a:spcAft>
                <a:spcPts val="1600"/>
              </a:spcAft>
              <a:buSzPct val="100000"/>
              <a:buChar char="•"/>
            </a:pPr>
            <a:r>
              <a:rPr lang="en-US" sz="1700" dirty="0">
                <a:solidFill>
                  <a:schemeClr val="tx1"/>
                </a:solidFill>
              </a:rPr>
              <a:t>Hours of post-event writing reduced to one upload and one review pass</a:t>
            </a:r>
            <a:endParaRPr lang="en-US" sz="1700" dirty="0"/>
          </a:p>
          <a:p>
            <a:pPr marL="177800" indent="-177800">
              <a:spcAft>
                <a:spcPts val="1600"/>
              </a:spcAft>
              <a:buSzPct val="100000"/>
              <a:buChar char="•"/>
            </a:pPr>
            <a:r>
              <a:rPr lang="en-US" sz="1700" dirty="0">
                <a:solidFill>
                  <a:schemeClr val="tx1"/>
                </a:solidFill>
              </a:rPr>
              <a:t>Consistent, on-brand content across six formats</a:t>
            </a:r>
            <a:endParaRPr lang="en-US" sz="1700" dirty="0"/>
          </a:p>
          <a:p>
            <a:pPr marL="177800" indent="-177800">
              <a:spcAft>
                <a:spcPts val="1600"/>
              </a:spcAft>
              <a:buSzPct val="100000"/>
              <a:buChar char="•"/>
            </a:pPr>
            <a:r>
              <a:rPr lang="en-US" sz="1700" dirty="0">
                <a:solidFill>
                  <a:schemeClr val="tx1"/>
                </a:solidFill>
              </a:rPr>
              <a:t>Grounded output with hallucination and moderation checks</a:t>
            </a:r>
            <a:endParaRPr lang="en-US" sz="1700" dirty="0"/>
          </a:p>
          <a:p>
            <a:pPr marL="177800" indent="-177800">
              <a:spcAft>
                <a:spcPts val="1600"/>
              </a:spcAft>
              <a:buSzPct val="100000"/>
              <a:buChar char="•"/>
            </a:pPr>
            <a:r>
              <a:rPr lang="en-US" sz="1700" dirty="0">
                <a:solidFill>
                  <a:schemeClr val="tx1"/>
                </a:solidFill>
              </a:rPr>
              <a:t>Faster multilingual reach for international audiences</a:t>
            </a:r>
            <a:endParaRPr lang="en-US" sz="1700" dirty="0"/>
          </a:p>
          <a:p>
            <a:pPr marL="177800" indent="-177800">
              <a:spcAft>
                <a:spcPts val="1600"/>
              </a:spcAft>
              <a:buSzPct val="100000"/>
              <a:buChar char="•"/>
            </a:pPr>
            <a:r>
              <a:rPr lang="en-US" sz="1700" dirty="0">
                <a:solidFill>
                  <a:schemeClr val="tx1"/>
                </a:solidFill>
              </a:rPr>
              <a:t>Clear separation of UI, API, agents, providers and data</a:t>
            </a:r>
            <a:endParaRPr lang="en-US" sz="1700" dirty="0"/>
          </a:p>
        </p:txBody>
      </p:sp>
      <p:sp>
        <p:nvSpPr>
          <p:cNvPr id="9" name="Future card"/>
          <p:cNvSpPr/>
          <p:nvPr/>
        </p:nvSpPr>
        <p:spPr>
          <a:xfrm>
            <a:off x="6172200" y="1600200"/>
            <a:ext cx="5440680" cy="4526280"/>
          </a:xfrm>
          <a:prstGeom prst="roundRect">
            <a:avLst>
              <a:gd name="adj" fmla="val 2424"/>
            </a:avLst>
          </a:prstGeom>
          <a:solidFill>
            <a:schemeClr val="accent4">
              <a:alpha val="10000"/>
            </a:schemeClr>
          </a:solidFill>
          <a:ln/>
        </p:spPr>
      </p:sp>
      <p:sp>
        <p:nvSpPr>
          <p:cNvPr id="10" name="Future enhancements circle"/>
          <p:cNvSpPr/>
          <p:nvPr/>
        </p:nvSpPr>
        <p:spPr>
          <a:xfrm>
            <a:off x="6446520" y="1828800"/>
            <a:ext cx="640080" cy="640080"/>
          </a:xfrm>
          <a:prstGeom prst="ellipse">
            <a:avLst/>
          </a:prstGeom>
          <a:solidFill>
            <a:schemeClr val="accent4"/>
          </a:solidFill>
          <a:ln/>
        </p:spPr>
      </p:sp>
      <p:pic>
        <p:nvPicPr>
          <p:cNvPr id="11" name="Future enhancements icon" descr="Future enhancements">    </p:cNvPr>
          <p:cNvPicPr>
            <a:picLocks noChangeAspect="1"/>
          </p:cNvPicPr>
          <p:nvPr/>
        </p:nvPicPr>
        <p:blipFill>
          <a:blip r:embed="rId2"/>
          <a:stretch>
            <a:fillRect/>
          </a:stretch>
        </p:blipFill>
        <p:spPr>
          <a:xfrm>
            <a:off x="6606540" y="1988820"/>
            <a:ext cx="320040" cy="320040"/>
          </a:xfrm>
          <a:prstGeom prst="rect">
            <a:avLst/>
          </a:prstGeom>
        </p:spPr>
      </p:pic>
      <p:sp>
        <p:nvSpPr>
          <p:cNvPr id="12" name="Text 8"/>
          <p:cNvSpPr txBox="1"/>
          <p:nvPr/>
        </p:nvSpPr>
        <p:spPr>
          <a:xfrm>
            <a:off x="7269480" y="1828800"/>
            <a:ext cx="4114800" cy="640080"/>
          </a:xfrm>
          <a:prstGeom prst="rect">
            <a:avLst/>
          </a:prstGeom>
          <a:noFill/>
          <a:ln/>
        </p:spPr>
        <p:txBody>
          <a:bodyPr wrap="square" lIns="0" tIns="0" rIns="0" bIns="0" rtlCol="0" anchor="ctr"/>
          <a:lstStyle/>
          <a:p>
            <a:pPr indent="0" marL="0">
              <a:buNone/>
            </a:pPr>
            <a:r>
              <a:rPr lang="en-US" sz="2000" b="1" dirty="0">
                <a:solidFill>
                  <a:schemeClr val="accent4"/>
                </a:solidFill>
              </a:rPr>
              <a:t>FUTURE ENHANCEMENTS</a:t>
            </a:r>
            <a:endParaRPr lang="en-US" sz="2000" dirty="0"/>
          </a:p>
        </p:txBody>
      </p:sp>
      <p:sp>
        <p:nvSpPr>
          <p:cNvPr id="13" name="Text 9"/>
          <p:cNvSpPr txBox="1"/>
          <p:nvPr/>
        </p:nvSpPr>
        <p:spPr>
          <a:xfrm>
            <a:off x="6446520" y="2697480"/>
            <a:ext cx="4937760" cy="3291840"/>
          </a:xfrm>
          <a:prstGeom prst="rect">
            <a:avLst/>
          </a:prstGeom>
          <a:noFill/>
          <a:ln/>
        </p:spPr>
        <p:txBody>
          <a:bodyPr wrap="square" lIns="0" tIns="0" rIns="0" bIns="0" rtlCol="0" anchor="t"/>
          <a:lstStyle/>
          <a:p>
            <a:pPr marL="177800" indent="-177800">
              <a:spcAft>
                <a:spcPts val="1600"/>
              </a:spcAft>
              <a:buSzPct val="100000"/>
              <a:buChar char="•"/>
            </a:pPr>
            <a:r>
              <a:rPr lang="en-US" sz="1700" dirty="0">
                <a:solidFill>
                  <a:schemeClr val="tx1"/>
                </a:solidFill>
              </a:rPr>
              <a:t>Live event mode with streaming transcription</a:t>
            </a:r>
            <a:endParaRPr lang="en-US" sz="1700" dirty="0"/>
          </a:p>
          <a:p>
            <a:pPr marL="177800" indent="-177800">
              <a:spcAft>
                <a:spcPts val="1600"/>
              </a:spcAft>
              <a:buSzPct val="100000"/>
              <a:buChar char="•"/>
            </a:pPr>
            <a:r>
              <a:rPr lang="en-US" sz="1700" dirty="0">
                <a:solidFill>
                  <a:schemeClr val="tx1"/>
                </a:solidFill>
              </a:rPr>
              <a:t>Auto-scheduling to social platforms, behind approval</a:t>
            </a:r>
            <a:endParaRPr lang="en-US" sz="1700" dirty="0"/>
          </a:p>
          <a:p>
            <a:pPr marL="177800" indent="-177800">
              <a:spcAft>
                <a:spcPts val="1600"/>
              </a:spcAft>
              <a:buSzPct val="100000"/>
              <a:buChar char="•"/>
            </a:pPr>
            <a:r>
              <a:rPr lang="en-US" sz="1700" dirty="0">
                <a:solidFill>
                  <a:schemeClr val="tx1"/>
                </a:solidFill>
              </a:rPr>
              <a:t>Engagement scoring and content analytics</a:t>
            </a:r>
            <a:endParaRPr lang="en-US" sz="1700" dirty="0"/>
          </a:p>
          <a:p>
            <a:pPr marL="177800" indent="-177800">
              <a:spcAft>
                <a:spcPts val="1600"/>
              </a:spcAft>
              <a:buSzPct val="100000"/>
              <a:buChar char="•"/>
            </a:pPr>
            <a:r>
              <a:rPr lang="en-US" sz="1700" dirty="0">
                <a:solidFill>
                  <a:schemeClr val="tx1"/>
                </a:solidFill>
              </a:rPr>
              <a:t>Version history and tone / length regeneration</a:t>
            </a:r>
            <a:endParaRPr lang="en-US" sz="1700" dirty="0"/>
          </a:p>
          <a:p>
            <a:pPr marL="177800" indent="-177800">
              <a:spcAft>
                <a:spcPts val="1600"/>
              </a:spcAft>
              <a:buSzPct val="100000"/>
              <a:buChar char="•"/>
            </a:pPr>
            <a:r>
              <a:rPr lang="en-US" sz="1700" dirty="0">
                <a:solidFill>
                  <a:schemeClr val="tx1"/>
                </a:solidFill>
              </a:rPr>
              <a:t>Speaker-aware quotes and cloud deployment at scale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ventAI circle"/>
          <p:cNvSpPr/>
          <p:nvPr/>
        </p:nvSpPr>
        <p:spPr>
          <a:xfrm>
            <a:off x="5458968" y="1188720"/>
            <a:ext cx="1280160" cy="1280160"/>
          </a:xfrm>
          <a:prstGeom prst="ellipse">
            <a:avLst/>
          </a:prstGeom>
          <a:solidFill>
            <a:schemeClr val="accent3"/>
          </a:solidFill>
          <a:ln/>
        </p:spPr>
      </p:sp>
      <p:pic>
        <p:nvPicPr>
          <p:cNvPr id="3" name="EventAI icon" descr="EventAI">    </p:cNvPr>
          <p:cNvPicPr>
            <a:picLocks noChangeAspect="1"/>
          </p:cNvPicPr>
          <p:nvPr/>
        </p:nvPicPr>
        <p:blipFill>
          <a:blip r:embed="rId1"/>
          <a:stretch>
            <a:fillRect/>
          </a:stretch>
        </p:blipFill>
        <p:spPr>
          <a:xfrm>
            <a:off x="5779008" y="1508760"/>
            <a:ext cx="640080" cy="640080"/>
          </a:xfrm>
          <a:prstGeom prst="rect">
            <a:avLst/>
          </a:prstGeom>
        </p:spPr>
      </p:pic>
      <p:sp>
        <p:nvSpPr>
          <p:cNvPr id="4" name="Text 1"/>
          <p:cNvSpPr txBox="1"/>
          <p:nvPr/>
        </p:nvSpPr>
        <p:spPr>
          <a:xfrm>
            <a:off x="1371600" y="2743200"/>
            <a:ext cx="9445752" cy="1005840"/>
          </a:xfrm>
          <a:prstGeom prst="rect">
            <a:avLst/>
          </a:prstGeom>
          <a:noFill/>
          <a:ln/>
        </p:spPr>
        <p:txBody>
          <a:bodyPr wrap="square" lIns="0" tIns="0" rIns="0" bIns="0" rtlCol="0" anchor="ctr"/>
          <a:lstStyle/>
          <a:p>
            <a:pPr algn="ctr" indent="0" marL="0">
              <a:buNone/>
            </a:pPr>
            <a:r>
              <a:rPr lang="en-US" sz="5400" b="1" dirty="0">
                <a:solidFill>
                  <a:schemeClr val="bg1"/>
                </a:solidFill>
              </a:rPr>
              <a:t>Thank You</a:t>
            </a:r>
            <a:endParaRPr lang="en-US" sz="5400" dirty="0"/>
          </a:p>
        </p:txBody>
      </p:sp>
      <p:sp>
        <p:nvSpPr>
          <p:cNvPr id="5" name="Text 2"/>
          <p:cNvSpPr txBox="1"/>
          <p:nvPr/>
        </p:nvSpPr>
        <p:spPr>
          <a:xfrm>
            <a:off x="1371600" y="3794760"/>
            <a:ext cx="9445752" cy="548640"/>
          </a:xfrm>
          <a:prstGeom prst="rect">
            <a:avLst/>
          </a:prstGeom>
          <a:noFill/>
          <a:ln/>
        </p:spPr>
        <p:txBody>
          <a:bodyPr wrap="square" lIns="0" tIns="0" rIns="0" bIns="0" rtlCol="0" anchor="ctr"/>
          <a:lstStyle/>
          <a:p>
            <a:pPr algn="ctr" indent="0" marL="0">
              <a:buNone/>
            </a:pPr>
            <a:r>
              <a:rPr lang="en-US" sz="2000" dirty="0">
                <a:solidFill>
                  <a:srgbClr val="C7D2FE"/>
                </a:solidFill>
              </a:rPr>
              <a:t>EventAI turns every event recording into reviewed, publish-ready content</a:t>
            </a:r>
            <a:endParaRPr lang="en-US" sz="2000" dirty="0"/>
          </a:p>
        </p:txBody>
      </p:sp>
      <p:sp>
        <p:nvSpPr>
          <p:cNvPr id="6" name="Text 3"/>
          <p:cNvSpPr txBox="1"/>
          <p:nvPr/>
        </p:nvSpPr>
        <p:spPr>
          <a:xfrm>
            <a:off x="1371600" y="4572000"/>
            <a:ext cx="9445752" cy="457200"/>
          </a:xfrm>
          <a:prstGeom prst="rect">
            <a:avLst/>
          </a:prstGeom>
          <a:noFill/>
          <a:ln/>
        </p:spPr>
        <p:txBody>
          <a:bodyPr wrap="square" lIns="0" tIns="0" rIns="0" bIns="0" rtlCol="0" anchor="ctr"/>
          <a:lstStyle/>
          <a:p>
            <a:pPr algn="ctr" indent="0" marL="0">
              <a:buNone/>
            </a:pPr>
            <a:r>
              <a:rPr lang="en-US" sz="2000" b="1" dirty="0">
                <a:solidFill>
                  <a:srgbClr val="FCD34D"/>
                </a:solidFill>
              </a:rPr>
              <a:t>Questions?</a:t>
            </a:r>
            <a:endParaRPr lang="en-US" sz="2000" dirty="0"/>
          </a:p>
        </p:txBody>
      </p:sp>
      <p:sp>
        <p:nvSpPr>
          <p:cNvPr id="7" name="Text 4"/>
          <p:cNvSpPr txBox="1"/>
          <p:nvPr/>
        </p:nvSpPr>
        <p:spPr>
          <a:xfrm>
            <a:off x="1371600" y="5760720"/>
            <a:ext cx="9445752" cy="365760"/>
          </a:xfrm>
          <a:prstGeom prst="rect">
            <a:avLst/>
          </a:prstGeom>
          <a:noFill/>
          <a:ln/>
        </p:spPr>
        <p:txBody>
          <a:bodyPr wrap="square" lIns="0" tIns="0" rIns="0" bIns="0" rtlCol="0" anchor="ctr"/>
          <a:lstStyle/>
          <a:p>
            <a:pPr algn="ctr" indent="0" marL="0">
              <a:buNone/>
            </a:pPr>
            <a:r>
              <a:rPr lang="en-US" sz="1300" dirty="0">
                <a:solidFill>
                  <a:srgbClr val="94A3B8"/>
                </a:solidFill>
              </a:rPr>
              <a:t>github.com/sakshijadhav2005/Final_year_project2026</a:t>
            </a:r>
            <a:endParaRPr lang="en-US" sz="1300" dirty="0"/>
          </a:p>
        </p:txBody>
      </p:sp>
    </p:spTree>
  </p:cSld>
  <p:clrMapOvr>
    <a:masterClrMapping/>
  </p:clrMapOvr>
</p:sld>
</file>

<file path=ppt/theme/theme1.xml><?xml version="1.0" encoding="utf-8"?>
<a:theme xmlns:a="http://schemas.openxmlformats.org/drawingml/2006/main" name="EventAI">
  <a:themeElements>
    <a:clrScheme name="EventAI">
      <a:dk1>
        <a:srgbClr val="1E293B"/>
      </a:dk1>
      <a:lt1>
        <a:srgbClr val="FFFFFF"/>
      </a:lt1>
      <a:dk2>
        <a:srgbClr val="13204A"/>
      </a:dk2>
      <a:lt2>
        <a:srgbClr val="F3F5FB"/>
      </a:lt2>
      <a:accent1>
        <a:srgbClr val="2563EB"/>
      </a:accent1>
      <a:accent2>
        <a:srgbClr val="0F9488"/>
      </a:accent2>
      <a:accent3>
        <a:srgbClr val="7C3AED"/>
      </a:accent3>
      <a:accent4>
        <a:srgbClr val="D97706"/>
      </a:accent4>
      <a:accent5>
        <a:srgbClr val="16A34A"/>
      </a:accent5>
      <a:accent6>
        <a:srgbClr val="DB2777"/>
      </a:accent6>
      <a:hlink>
        <a:srgbClr val="2563EB"/>
      </a:hlink>
      <a:folHlink>
        <a:srgbClr val="7C3AED"/>
      </a:folHlink>
    </a:clrScheme>
    <a:fontScheme name="Event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EventAI - Intelligent Event Recording to Content Generation</dc:title>
  <dc:subject>PptxGenJS Presentation</dc:subject>
  <dc:creator>EventAI Team</dc:creator>
  <cp:lastModifiedBy>EventAI Team</cp:lastModifiedBy>
  <cp:revision>1</cp:revision>
  <dcterms:created xsi:type="dcterms:W3CDTF">2026-10-26T09:57:16Z</dcterms:created>
  <dcterms:modified xsi:type="dcterms:W3CDTF">2026-10-26T09:57:16Z</dcterms:modified>
</cp:coreProperties>
</file>