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6f66ad7-58e4-0d6e-c80d-e8a7497a2619}">
          <p14:sldIdLst>
            <p14:sldId id="256"/>
            <p14:sldId id="257"/>
            <p14:sldId id="258"/>
          </p14:sldIdLst>
        </p14:section>
        <p14:section name="Design" id="{e3746024-57a7-04d9-f1d1-c838bfdd13b5}">
          <p14:sldIdLst>
            <p14:sldId id="259"/>
            <p14:sldId id="260"/>
            <p14:sldId id="261"/>
          </p14:sldIdLst>
        </p14:section>
        <p14:section name="Features" id="{f6193a2c-50e2-f48f-b8c4-15ef4b2995ff}">
          <p14:sldIdLst>
            <p14:sldId id="262"/>
            <p14:sldId id="263"/>
            <p14:sldId id="264"/>
            <p14:sldId id="265"/>
          </p14:sldIdLst>
        </p14:section>
        <p14:section name="Conclusion" id="{ac6f0842-6057-916b-3b0f-72a0c8e8c3eb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EventAI  |  Final Year Project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3C5FD"/>
                </a:solidFill>
              </a:rPr>
              <a:t>FINAL YEAR PROJECT 2026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EventAI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</a:rPr>
              <a:t>Intelligent Event Recording → Content Generation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7472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Upload a talk, meetup or conference recording. A LangGraph multi-agent pipeline transcribes, analyses and turns it into publish-ready blogs, social posts, newsletters and flyers, approved by a human before release.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29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</a:rPr>
              <a:t>LangGraph  •  Multi-Agent AI  •  Selective RAG  •  Human-in-the-Loop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943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github.com/sakshijadhav2005/Final_year_project2026</a:t>
            </a:r>
            <a:endParaRPr lang="en-US" sz="1200" dirty="0"/>
          </a:p>
        </p:txBody>
      </p:sp>
      <p:sp>
        <p:nvSpPr>
          <p:cNvPr id="8" name="Event recording circle"/>
          <p:cNvSpPr/>
          <p:nvPr/>
        </p:nvSpPr>
        <p:spPr>
          <a:xfrm>
            <a:off x="8503920" y="12801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Event recording icon" descr="Event recor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5380" y="15316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69264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Event recording</a:t>
            </a:r>
            <a:endParaRPr lang="en-US" sz="1600" dirty="0"/>
          </a:p>
        </p:txBody>
      </p:sp>
      <p:sp>
        <p:nvSpPr>
          <p:cNvPr id="11" name="flow arrow 1"/>
          <p:cNvSpPr/>
          <p:nvPr/>
        </p:nvSpPr>
        <p:spPr>
          <a:xfrm>
            <a:off x="9006840" y="2377440"/>
            <a:ext cx="0" cy="41148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Multi-agent pipeline circle"/>
          <p:cNvSpPr/>
          <p:nvPr/>
        </p:nvSpPr>
        <p:spPr>
          <a:xfrm>
            <a:off x="8503920" y="288036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Multi-agent pipeline icon" descr="Multi-agent pipe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80" y="313182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692640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Multi-agent pipeline</a:t>
            </a:r>
            <a:endParaRPr lang="en-US" sz="1600" dirty="0"/>
          </a:p>
        </p:txBody>
      </p:sp>
      <p:sp>
        <p:nvSpPr>
          <p:cNvPr id="15" name="flow arrow 2"/>
          <p:cNvSpPr/>
          <p:nvPr/>
        </p:nvSpPr>
        <p:spPr>
          <a:xfrm>
            <a:off x="9006840" y="3977640"/>
            <a:ext cx="0" cy="41148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Publish-ready content circle"/>
          <p:cNvSpPr/>
          <p:nvPr/>
        </p:nvSpPr>
        <p:spPr>
          <a:xfrm>
            <a:off x="8503920" y="448056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Publish-ready content icon" descr="Publish-ready cont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0" y="473202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69264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Publish-ready content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Problem, Aim &amp; Objectives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Why EventAI exists and what it sets out to achieve</a:t>
            </a:r>
            <a:endParaRPr lang="en-US" sz="1400" dirty="0"/>
          </a:p>
        </p:txBody>
      </p:sp>
      <p:sp>
        <p:nvSpPr>
          <p:cNvPr id="4" name="Problem card"/>
          <p:cNvSpPr/>
          <p:nvPr/>
        </p:nvSpPr>
        <p:spPr>
          <a:xfrm>
            <a:off x="548640" y="1554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10000"/>
            </a:schemeClr>
          </a:solidFill>
          <a:ln/>
        </p:spPr>
      </p:sp>
      <p:sp>
        <p:nvSpPr>
          <p:cNvPr id="5" name="Problem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Problem icon" descr="Pro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83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PROBLEM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After a conference or meetup, content teams spend hours transcribing audio, taking notes and rewriting the same talk into blogs, LinkedIn posts and newsletters. The process is slow, inconsistent and expensive.</a:t>
            </a:r>
            <a:endParaRPr lang="en-US" sz="1400" dirty="0"/>
          </a:p>
        </p:txBody>
      </p:sp>
      <p:sp>
        <p:nvSpPr>
          <p:cNvPr id="9" name="Aim card"/>
          <p:cNvSpPr/>
          <p:nvPr/>
        </p:nvSpPr>
        <p:spPr>
          <a:xfrm>
            <a:off x="6263640" y="155448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0" name="Aim circle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im icon" descr="Ai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202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783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AIM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46888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Build a job-based AI content factory that compresses the whole post-event workflow into one upload and one human review pass, producing accurate, grounded, publish-ready content.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OBJECTIVES</a:t>
            </a:r>
            <a:endParaRPr lang="en-US" sz="1800" dirty="0"/>
          </a:p>
        </p:txBody>
      </p:sp>
      <p:sp>
        <p:nvSpPr>
          <p:cNvPr id="15" name="Objective 1"/>
          <p:cNvSpPr/>
          <p:nvPr/>
        </p:nvSpPr>
        <p:spPr>
          <a:xfrm>
            <a:off x="548640" y="4389120"/>
            <a:ext cx="2066544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6" name="Ingest &amp; transcribe circle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gest &amp; transcribe icon" descr="Ingest &amp; transcri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46863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5120640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Ingest &amp; transcribe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731520" y="54406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Validate and transcribe audio, video or text</a:t>
            </a:r>
            <a:endParaRPr lang="en-US" sz="1200" dirty="0"/>
          </a:p>
        </p:txBody>
      </p:sp>
      <p:sp>
        <p:nvSpPr>
          <p:cNvPr id="20" name="Objective 2"/>
          <p:cNvSpPr/>
          <p:nvPr/>
        </p:nvSpPr>
        <p:spPr>
          <a:xfrm>
            <a:off x="2798064" y="4389120"/>
            <a:ext cx="2066544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1" name="Understand the talk circle"/>
          <p:cNvSpPr/>
          <p:nvPr/>
        </p:nvSpPr>
        <p:spPr>
          <a:xfrm>
            <a:off x="2980944" y="45720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Understand the talk icon" descr="Understand the tal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244" y="4686300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2980944" y="5120640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Understand the talk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2980944" y="54406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 topics, highlights, speakers, sentiment</a:t>
            </a:r>
            <a:endParaRPr lang="en-US" sz="1200" dirty="0"/>
          </a:p>
        </p:txBody>
      </p:sp>
      <p:sp>
        <p:nvSpPr>
          <p:cNvPr id="25" name="Objective 3"/>
          <p:cNvSpPr/>
          <p:nvPr/>
        </p:nvSpPr>
        <p:spPr>
          <a:xfrm>
            <a:off x="5047488" y="4389120"/>
            <a:ext cx="2066544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6" name="Generate content circle"/>
          <p:cNvSpPr/>
          <p:nvPr/>
        </p:nvSpPr>
        <p:spPr>
          <a:xfrm>
            <a:off x="5230368" y="4572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Generate content icon" descr="Generate cont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4668" y="468630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30368" y="5120640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Generate content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230368" y="54406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Six formats from one recording, multilingual</a:t>
            </a:r>
            <a:endParaRPr lang="en-US" sz="1200" dirty="0"/>
          </a:p>
        </p:txBody>
      </p:sp>
      <p:sp>
        <p:nvSpPr>
          <p:cNvPr id="30" name="Objective 4"/>
          <p:cNvSpPr/>
          <p:nvPr/>
        </p:nvSpPr>
        <p:spPr>
          <a:xfrm>
            <a:off x="7296912" y="4389120"/>
            <a:ext cx="2066544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1" name="Stay grounded circle"/>
          <p:cNvSpPr/>
          <p:nvPr/>
        </p:nvSpPr>
        <p:spPr>
          <a:xfrm>
            <a:off x="7479792" y="4572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2" name="Stay grounded icon" descr="Stay ground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4092" y="468630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479792" y="5120640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Stay grounded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7479792" y="54406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Guardrails for moderation and hallucination</a:t>
            </a:r>
            <a:endParaRPr lang="en-US" sz="1200" dirty="0"/>
          </a:p>
        </p:txBody>
      </p:sp>
      <p:sp>
        <p:nvSpPr>
          <p:cNvPr id="35" name="Objective 5"/>
          <p:cNvSpPr/>
          <p:nvPr/>
        </p:nvSpPr>
        <p:spPr>
          <a:xfrm>
            <a:off x="9546336" y="4389120"/>
            <a:ext cx="2066544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6" name="Human approval circle"/>
          <p:cNvSpPr/>
          <p:nvPr/>
        </p:nvSpPr>
        <p:spPr>
          <a:xfrm>
            <a:off x="9729216" y="457200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7" name="Human approval icon" descr="Human approv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3516" y="468630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729216" y="5120640"/>
            <a:ext cx="1700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Human approval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9729216" y="54406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Nothing publishes without approval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Who EventAI Is For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Three roles with JWT-based role-based access control (RBAC)</a:t>
            </a:r>
            <a:endParaRPr lang="en-US" sz="1400" dirty="0"/>
          </a:p>
        </p:txBody>
      </p:sp>
      <p:sp>
        <p:nvSpPr>
          <p:cNvPr id="4" name="Event Organizer card"/>
          <p:cNvSpPr/>
          <p:nvPr/>
        </p:nvSpPr>
        <p:spPr>
          <a:xfrm>
            <a:off x="548640" y="164592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5" name="Event Organizer circle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Event Organizer icon" descr="Event Organiz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1717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Event Organizer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Uploads event recordings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Owns events and requests content packs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Approves public-facing assets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Uses the Organizer Co-Pilot chat</a:t>
            </a:r>
            <a:endParaRPr lang="en-US" sz="1500" dirty="0"/>
          </a:p>
        </p:txBody>
      </p:sp>
      <p:sp>
        <p:nvSpPr>
          <p:cNvPr id="9" name="Content Creator card"/>
          <p:cNvSpPr/>
          <p:nvPr/>
        </p:nvSpPr>
        <p:spPr>
          <a:xfrm>
            <a:off x="4343400" y="164592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0" name="Content Creator circle"/>
          <p:cNvSpPr/>
          <p:nvPr/>
        </p:nvSpPr>
        <p:spPr>
          <a:xfrm>
            <a:off x="4663440" y="196596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Content Creator icon" descr="Content Cre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180" y="21717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Content Creator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56616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Reviews transcripts and drafts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Edits copy inline and regenerates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Copies and exports publish-ready content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Applies brand voice settings</a:t>
            </a:r>
            <a:endParaRPr lang="en-US" sz="1500" dirty="0"/>
          </a:p>
        </p:txBody>
      </p:sp>
      <p:sp>
        <p:nvSpPr>
          <p:cNvPr id="14" name="Admin card"/>
          <p:cNvSpPr/>
          <p:nvPr/>
        </p:nvSpPr>
        <p:spPr>
          <a:xfrm>
            <a:off x="8138160" y="164592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5" name="Admin circle"/>
          <p:cNvSpPr/>
          <p:nvPr/>
        </p:nvSpPr>
        <p:spPr>
          <a:xfrm>
            <a:off x="8458200" y="196596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dmin icon" descr="Adm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940" y="21717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Admin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356616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Manages users and roles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Monitors failed or stuck jobs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Controls media retention policies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Checks system health and readiness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Technology Stack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A modern, asynchronous, provider-swappable stack</a:t>
            </a:r>
            <a:endParaRPr lang="en-US" sz="1400" dirty="0"/>
          </a:p>
        </p:txBody>
      </p:sp>
      <p:sp>
        <p:nvSpPr>
          <p:cNvPr id="4" name="Frontend card"/>
          <p:cNvSpPr/>
          <p:nvPr/>
        </p:nvSpPr>
        <p:spPr>
          <a:xfrm>
            <a:off x="548640" y="160020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5" name="Frontend circle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Frontend icon" descr="Front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Frontend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6207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React 19, TypeScript, Vite, TailwindCSS, TanStack Query</a:t>
            </a:r>
            <a:endParaRPr lang="en-US" sz="1400" dirty="0"/>
          </a:p>
        </p:txBody>
      </p:sp>
      <p:sp>
        <p:nvSpPr>
          <p:cNvPr id="9" name="Backend API card"/>
          <p:cNvSpPr/>
          <p:nvPr/>
        </p:nvSpPr>
        <p:spPr>
          <a:xfrm>
            <a:off x="3364992" y="160020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10" name="Backend API circle"/>
          <p:cNvSpPr/>
          <p:nvPr/>
        </p:nvSpPr>
        <p:spPr>
          <a:xfrm>
            <a:off x="3593592" y="1828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Backend API icon" descr="Backend AP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19659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93592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Backend API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93592" y="286207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FastAPI, Python 3.11+, Pydantic v2, SSE streaming</a:t>
            </a:r>
            <a:endParaRPr lang="en-US" sz="1400" dirty="0"/>
          </a:p>
        </p:txBody>
      </p:sp>
      <p:sp>
        <p:nvSpPr>
          <p:cNvPr id="14" name="Agent Orchestration card"/>
          <p:cNvSpPr/>
          <p:nvPr/>
        </p:nvSpPr>
        <p:spPr>
          <a:xfrm>
            <a:off x="6181344" y="160020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5" name="Agent Orchestration circle"/>
          <p:cNvSpPr/>
          <p:nvPr/>
        </p:nvSpPr>
        <p:spPr>
          <a:xfrm>
            <a:off x="6409944" y="18288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gent Orchestration icon" descr="Agent Orchest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19659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09944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Agent Orchestration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409944" y="286207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LangGraph StateGraph with parallel fan-out and conditional routing</a:t>
            </a:r>
            <a:endParaRPr lang="en-US" sz="1400" dirty="0"/>
          </a:p>
        </p:txBody>
      </p:sp>
      <p:sp>
        <p:nvSpPr>
          <p:cNvPr id="19" name="LLM Providers card"/>
          <p:cNvSpPr/>
          <p:nvPr/>
        </p:nvSpPr>
        <p:spPr>
          <a:xfrm>
            <a:off x="8997696" y="160020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20" name="LLM Providers circle"/>
          <p:cNvSpPr/>
          <p:nvPr/>
        </p:nvSpPr>
        <p:spPr>
          <a:xfrm>
            <a:off x="9226296" y="18288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LLM Providers icon" descr="LLM Provid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6" y="196596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26296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LLM Providers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226296" y="286207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Google Gemini with OpenAI, Groq, Anthropic and Vertex fallback</a:t>
            </a:r>
            <a:endParaRPr lang="en-US" sz="1400" dirty="0"/>
          </a:p>
        </p:txBody>
      </p:sp>
      <p:sp>
        <p:nvSpPr>
          <p:cNvPr id="24" name="Speech-to-Text card"/>
          <p:cNvSpPr/>
          <p:nvPr/>
        </p:nvSpPr>
        <p:spPr>
          <a:xfrm>
            <a:off x="548640" y="406908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10000"/>
            </a:schemeClr>
          </a:solidFill>
          <a:ln/>
        </p:spPr>
      </p:sp>
      <p:sp>
        <p:nvSpPr>
          <p:cNvPr id="25" name="Speech-to-Text circle"/>
          <p:cNvSpPr/>
          <p:nvPr/>
        </p:nvSpPr>
        <p:spPr>
          <a:xfrm>
            <a:off x="777240" y="42976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6" name="Speech-to-Text icon" descr="Speech-to-Tex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3484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77240" y="49377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Speech-to-Text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33095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VideoDB and Gemini STT, offline fallback provider</a:t>
            </a:r>
            <a:endParaRPr lang="en-US" sz="1400" dirty="0"/>
          </a:p>
        </p:txBody>
      </p:sp>
      <p:sp>
        <p:nvSpPr>
          <p:cNvPr id="29" name="Database card"/>
          <p:cNvSpPr/>
          <p:nvPr/>
        </p:nvSpPr>
        <p:spPr>
          <a:xfrm>
            <a:off x="3364992" y="406908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0" name="Database circle"/>
          <p:cNvSpPr/>
          <p:nvPr/>
        </p:nvSpPr>
        <p:spPr>
          <a:xfrm>
            <a:off x="3593592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Database icon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0752" y="443484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593592" y="49377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Database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3593592" y="533095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 (SQLite for dev), transcript chunks for RAG</a:t>
            </a:r>
            <a:endParaRPr lang="en-US" sz="1400" dirty="0"/>
          </a:p>
        </p:txBody>
      </p:sp>
      <p:sp>
        <p:nvSpPr>
          <p:cNvPr id="34" name="Queue &amp; Cache card"/>
          <p:cNvSpPr/>
          <p:nvPr/>
        </p:nvSpPr>
        <p:spPr>
          <a:xfrm>
            <a:off x="6181344" y="406908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35" name="Queue &amp; Cache circle"/>
          <p:cNvSpPr/>
          <p:nvPr/>
        </p:nvSpPr>
        <p:spPr>
          <a:xfrm>
            <a:off x="6409944" y="42976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6" name="Queue &amp; Cache icon" descr="Queue &amp; Cach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4434840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409944" y="49377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Queue &amp; Cache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6409944" y="533095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Redis, Celery workers or in-process background tasks</a:t>
            </a:r>
            <a:endParaRPr lang="en-US" sz="1400" dirty="0"/>
          </a:p>
        </p:txBody>
      </p:sp>
      <p:sp>
        <p:nvSpPr>
          <p:cNvPr id="39" name="Storage &amp; DevOps card"/>
          <p:cNvSpPr/>
          <p:nvPr/>
        </p:nvSpPr>
        <p:spPr>
          <a:xfrm>
            <a:off x="8997696" y="4069080"/>
            <a:ext cx="2615184" cy="219456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40" name="Storage &amp; DevOps circle"/>
          <p:cNvSpPr/>
          <p:nvPr/>
        </p:nvSpPr>
        <p:spPr>
          <a:xfrm>
            <a:off x="9226296" y="42976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1" name="Storage &amp; DevOps icon" descr="Storage &amp; DevOp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3456" y="4434840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26296" y="49377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Storage &amp; DevOps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9226296" y="5330952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Cloudflare R2 / AWS S3, Docker Compose, pytest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System Architecture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Decoupled client-server design: UI → API → agent orchestration → services and data</a:t>
            </a:r>
            <a:endParaRPr lang="en-US" sz="1400" dirty="0"/>
          </a:p>
        </p:txBody>
      </p:sp>
      <p:sp>
        <p:nvSpPr>
          <p:cNvPr id="4" name="FRONTEND tier"/>
          <p:cNvSpPr/>
          <p:nvPr/>
        </p:nvSpPr>
        <p:spPr>
          <a:xfrm>
            <a:off x="868680" y="15544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FRONTEND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React • TypeScript • Content Studio • Live SSE</a:t>
            </a:r>
            <a:endParaRPr lang="en-US" sz="1200" dirty="0"/>
          </a:p>
        </p:txBody>
      </p:sp>
      <p:sp>
        <p:nvSpPr>
          <p:cNvPr id="7" name="tier arrow 1"/>
          <p:cNvSpPr/>
          <p:nvPr/>
        </p:nvSpPr>
        <p:spPr>
          <a:xfrm>
            <a:off x="4251960" y="2029968"/>
            <a:ext cx="4114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BACKEND API tier"/>
          <p:cNvSpPr/>
          <p:nvPr/>
        </p:nvSpPr>
        <p:spPr>
          <a:xfrm>
            <a:off x="4754880" y="15544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2">
              <a:alpha val="12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BACKEND API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FastAPI • JWT Auth • RBAC • REST endpoints</a:t>
            </a:r>
            <a:endParaRPr lang="en-US" sz="1200" dirty="0"/>
          </a:p>
        </p:txBody>
      </p:sp>
      <p:sp>
        <p:nvSpPr>
          <p:cNvPr id="11" name="tier arrow 2"/>
          <p:cNvSpPr/>
          <p:nvPr/>
        </p:nvSpPr>
        <p:spPr>
          <a:xfrm>
            <a:off x="8138160" y="2029968"/>
            <a:ext cx="4114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LANGGRAPH PIPELINE tier"/>
          <p:cNvSpPr/>
          <p:nvPr/>
        </p:nvSpPr>
        <p:spPr>
          <a:xfrm>
            <a:off x="8641080" y="15544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3">
              <a:alpha val="1200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LANGGRAPH PIPELINE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 • Analysis • Planning • Generation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SERVICES &amp; INTEGRATIONS</a:t>
            </a:r>
            <a:endParaRPr lang="en-US" sz="1300" dirty="0"/>
          </a:p>
        </p:txBody>
      </p:sp>
      <p:sp>
        <p:nvSpPr>
          <p:cNvPr id="16" name="Transcription card"/>
          <p:cNvSpPr/>
          <p:nvPr/>
        </p:nvSpPr>
        <p:spPr>
          <a:xfrm>
            <a:off x="548640" y="3108960"/>
            <a:ext cx="263347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7" name="Transcription circle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Transcription icon" descr="Transcrip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3406140"/>
            <a:ext cx="228600" cy="2286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325880" y="32918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Transcription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8404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VideoDB / Gemini STT with offline fallback</a:t>
            </a:r>
            <a:endParaRPr lang="en-US" sz="1200" dirty="0"/>
          </a:p>
        </p:txBody>
      </p:sp>
      <p:sp>
        <p:nvSpPr>
          <p:cNvPr id="21" name="LLM Gateway card"/>
          <p:cNvSpPr/>
          <p:nvPr/>
        </p:nvSpPr>
        <p:spPr>
          <a:xfrm>
            <a:off x="3355848" y="3108960"/>
            <a:ext cx="263347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2" name="LLM Gateway circle"/>
          <p:cNvSpPr/>
          <p:nvPr/>
        </p:nvSpPr>
        <p:spPr>
          <a:xfrm>
            <a:off x="3538728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LLM Gateway icon" descr="LLM Gate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028" y="3406140"/>
            <a:ext cx="228600" cy="22860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133088" y="32918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LLM Gateway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538728" y="38404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Gemini plus multi-provider fallback routing</a:t>
            </a:r>
            <a:endParaRPr lang="en-US" sz="1200" dirty="0"/>
          </a:p>
        </p:txBody>
      </p:sp>
      <p:sp>
        <p:nvSpPr>
          <p:cNvPr id="26" name="Selective RAG card"/>
          <p:cNvSpPr/>
          <p:nvPr/>
        </p:nvSpPr>
        <p:spPr>
          <a:xfrm>
            <a:off x="6163056" y="3108960"/>
            <a:ext cx="263347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7" name="Selective RAG circle"/>
          <p:cNvSpPr/>
          <p:nvPr/>
        </p:nvSpPr>
        <p:spPr>
          <a:xfrm>
            <a:off x="6345936" y="32918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Selective RAG icon" descr="Selective R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3406140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940296" y="32918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Selective RAG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345936" y="38404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Cosine-ranked transcript chunks on demand</a:t>
            </a:r>
            <a:endParaRPr lang="en-US" sz="1200" dirty="0"/>
          </a:p>
        </p:txBody>
      </p:sp>
      <p:sp>
        <p:nvSpPr>
          <p:cNvPr id="31" name="Guardrails card"/>
          <p:cNvSpPr/>
          <p:nvPr/>
        </p:nvSpPr>
        <p:spPr>
          <a:xfrm>
            <a:off x="8970264" y="3108960"/>
            <a:ext cx="263347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2" name="Guardrails circle"/>
          <p:cNvSpPr/>
          <p:nvPr/>
        </p:nvSpPr>
        <p:spPr>
          <a:xfrm>
            <a:off x="9153144" y="32918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3" name="Guardrails icon" descr="Guardrai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7444" y="3406140"/>
            <a:ext cx="228600" cy="22860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747504" y="32918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Guardrails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9153144" y="38404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Moderation, schema and grounding checks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DATA &amp; OPERATIONS</a:t>
            </a:r>
            <a:endParaRPr lang="en-US" sz="1300" dirty="0"/>
          </a:p>
        </p:txBody>
      </p:sp>
      <p:sp>
        <p:nvSpPr>
          <p:cNvPr id="37" name="PostgreSQL card"/>
          <p:cNvSpPr/>
          <p:nvPr/>
        </p:nvSpPr>
        <p:spPr>
          <a:xfrm>
            <a:off x="548640" y="502920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8" name="PostgreSQL circle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PostgreSQL icon" descr="PostgreSQ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5326380"/>
            <a:ext cx="228600" cy="228600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325880" y="5138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41" name="Text 34"/>
          <p:cNvSpPr txBox="1"/>
          <p:nvPr/>
        </p:nvSpPr>
        <p:spPr>
          <a:xfrm>
            <a:off x="1325880" y="55046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Users, events, jobs, content, audit logs</a:t>
            </a:r>
            <a:endParaRPr lang="en-US" sz="1200" dirty="0"/>
          </a:p>
        </p:txBody>
      </p:sp>
      <p:sp>
        <p:nvSpPr>
          <p:cNvPr id="42" name="Redis / Celery card"/>
          <p:cNvSpPr/>
          <p:nvPr/>
        </p:nvSpPr>
        <p:spPr>
          <a:xfrm>
            <a:off x="4297680" y="502920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43" name="Redis / Celery circle"/>
          <p:cNvSpPr/>
          <p:nvPr/>
        </p:nvSpPr>
        <p:spPr>
          <a:xfrm>
            <a:off x="4480560" y="52120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4" name="Redis / Celery icon" descr="Redis / Cele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5326380"/>
            <a:ext cx="228600" cy="22860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074920" y="5138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Redis / Celery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5074920" y="55046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Async jobs, caching, scheduled purge</a:t>
            </a:r>
            <a:endParaRPr lang="en-US" sz="1200" dirty="0"/>
          </a:p>
        </p:txBody>
      </p:sp>
      <p:sp>
        <p:nvSpPr>
          <p:cNvPr id="47" name="Cloudflare R2 / S3 card"/>
          <p:cNvSpPr/>
          <p:nvPr/>
        </p:nvSpPr>
        <p:spPr>
          <a:xfrm>
            <a:off x="8046720" y="502920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48" name="Cloudflare R2 / S3 circle"/>
          <p:cNvSpPr/>
          <p:nvPr/>
        </p:nvSpPr>
        <p:spPr>
          <a:xfrm>
            <a:off x="8229600" y="5212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9" name="Cloudflare R2 / S3 icon" descr="Cloudflare R2 / S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3900" y="5326380"/>
            <a:ext cx="228600" cy="22860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8823960" y="5138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Cloudflare R2 / S3</a:t>
            </a:r>
            <a:endParaRPr lang="en-US" sz="1500" dirty="0"/>
          </a:p>
        </p:txBody>
      </p:sp>
      <p:sp>
        <p:nvSpPr>
          <p:cNvPr id="51" name="Text 42"/>
          <p:cNvSpPr txBox="1"/>
          <p:nvPr/>
        </p:nvSpPr>
        <p:spPr>
          <a:xfrm>
            <a:off x="8823960" y="55046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Media storage with local disk fallback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LangGraph Multi-Agent Pipeline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A stateful StateGraph, not a linear script: parallel nodes, dynamic fan-out and conditional routing</a:t>
            </a:r>
            <a:endParaRPr lang="en-US" sz="1400" dirty="0"/>
          </a:p>
        </p:txBody>
      </p:sp>
      <p:sp>
        <p:nvSpPr>
          <p:cNvPr id="4" name="Step 1"/>
          <p:cNvSpPr/>
          <p:nvPr/>
        </p:nvSpPr>
        <p:spPr>
          <a:xfrm>
            <a:off x="5486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5" name="Step number 1"/>
          <p:cNvSpPr/>
          <p:nvPr/>
        </p:nvSpPr>
        <p:spPr>
          <a:xfrm>
            <a:off x="1005840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Quality Check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Silence ratio, duration and confidence gate</a:t>
            </a:r>
            <a:endParaRPr lang="en-US" sz="1100" dirty="0"/>
          </a:p>
        </p:txBody>
      </p:sp>
      <p:sp>
        <p:nvSpPr>
          <p:cNvPr id="9" name="Step 2"/>
          <p:cNvSpPr/>
          <p:nvPr/>
        </p:nvSpPr>
        <p:spPr>
          <a:xfrm>
            <a:off x="21488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0" name="Step number 2"/>
          <p:cNvSpPr/>
          <p:nvPr/>
        </p:nvSpPr>
        <p:spPr>
          <a:xfrm>
            <a:off x="2606040" y="17556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060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Parallel Analysis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Topics, highlights, speakers, sentiment</a:t>
            </a:r>
            <a:endParaRPr lang="en-US" sz="1100" dirty="0"/>
          </a:p>
        </p:txBody>
      </p:sp>
      <p:sp>
        <p:nvSpPr>
          <p:cNvPr id="14" name="Step 3"/>
          <p:cNvSpPr/>
          <p:nvPr/>
        </p:nvSpPr>
        <p:spPr>
          <a:xfrm>
            <a:off x="37490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5" name="Step number 3"/>
          <p:cNvSpPr/>
          <p:nvPr/>
        </p:nvSpPr>
        <p:spPr>
          <a:xfrm>
            <a:off x="4206240" y="17556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062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Content Planner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Master brief + optional selective RAG</a:t>
            </a:r>
            <a:endParaRPr lang="en-US" sz="1100" dirty="0"/>
          </a:p>
        </p:txBody>
      </p:sp>
      <p:sp>
        <p:nvSpPr>
          <p:cNvPr id="19" name="Step 4"/>
          <p:cNvSpPr/>
          <p:nvPr/>
        </p:nvSpPr>
        <p:spPr>
          <a:xfrm>
            <a:off x="53492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0" name="Step number 4"/>
          <p:cNvSpPr/>
          <p:nvPr/>
        </p:nvSpPr>
        <p:spPr>
          <a:xfrm>
            <a:off x="5806440" y="175564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064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Creator Agents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Send API spawns one agent per format</a:t>
            </a:r>
            <a:endParaRPr lang="en-US" sz="1100" dirty="0"/>
          </a:p>
        </p:txBody>
      </p:sp>
      <p:sp>
        <p:nvSpPr>
          <p:cNvPr id="24" name="Step 5"/>
          <p:cNvSpPr/>
          <p:nvPr/>
        </p:nvSpPr>
        <p:spPr>
          <a:xfrm>
            <a:off x="69494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5" name="Step number 5"/>
          <p:cNvSpPr/>
          <p:nvPr/>
        </p:nvSpPr>
        <p:spPr>
          <a:xfrm>
            <a:off x="7406640" y="175564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Guardrails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Moderation and transcript grounding</a:t>
            </a:r>
            <a:endParaRPr lang="en-US" sz="1100" dirty="0"/>
          </a:p>
        </p:txBody>
      </p:sp>
      <p:sp>
        <p:nvSpPr>
          <p:cNvPr id="29" name="Step 6"/>
          <p:cNvSpPr/>
          <p:nvPr/>
        </p:nvSpPr>
        <p:spPr>
          <a:xfrm>
            <a:off x="85496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0" name="Step number 6"/>
          <p:cNvSpPr/>
          <p:nvPr/>
        </p:nvSpPr>
        <p:spPr>
          <a:xfrm>
            <a:off x="9006840" y="1755648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0068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6410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Translation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6410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Localise approved drafts</a:t>
            </a:r>
            <a:endParaRPr lang="en-US" sz="1100" dirty="0"/>
          </a:p>
        </p:txBody>
      </p:sp>
      <p:sp>
        <p:nvSpPr>
          <p:cNvPr id="34" name="Step 7"/>
          <p:cNvSpPr/>
          <p:nvPr/>
        </p:nvSpPr>
        <p:spPr>
          <a:xfrm>
            <a:off x="10149840" y="1600200"/>
            <a:ext cx="1463040" cy="21488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5" name="Step number 7"/>
          <p:cNvSpPr/>
          <p:nvPr/>
        </p:nvSpPr>
        <p:spPr>
          <a:xfrm>
            <a:off x="10607040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6070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Human Review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Approve → ready to publish</a:t>
            </a:r>
            <a:endParaRPr lang="en-US" sz="1100" dirty="0"/>
          </a:p>
        </p:txBody>
      </p:sp>
      <p:sp>
        <p:nvSpPr>
          <p:cNvPr id="39" name="Parallel fan-out note"/>
          <p:cNvSpPr/>
          <p:nvPr/>
        </p:nvSpPr>
        <p:spPr>
          <a:xfrm>
            <a:off x="548640" y="402336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40" name="Parallel fan-out circle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1" name="Parallel fan-out icon" descr="Parallel fan-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4320540"/>
            <a:ext cx="228600" cy="228600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37160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Parallel fan-out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7548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Four analysis agents run concurrently to cut latency. LangGraph's Send API then spawns only the creator agents the user requested (summary, blog, LinkedIn, newsletter, Instagram, flyer).</a:t>
            </a:r>
            <a:endParaRPr lang="en-US" sz="1200" dirty="0"/>
          </a:p>
        </p:txBody>
      </p:sp>
      <p:sp>
        <p:nvSpPr>
          <p:cNvPr id="44" name="Selective RAG note"/>
          <p:cNvSpPr/>
          <p:nvPr/>
        </p:nvSpPr>
        <p:spPr>
          <a:xfrm>
            <a:off x="4297680" y="402336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45" name="Selective RAG circle"/>
          <p:cNvSpPr/>
          <p:nvPr/>
        </p:nvSpPr>
        <p:spPr>
          <a:xfrm>
            <a:off x="4526280" y="4206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6" name="Selective RAG icon" descr="Selective R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4320540"/>
            <a:ext cx="228600" cy="22860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512064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Selective RAG</a:t>
            </a:r>
            <a:endParaRPr lang="en-US" sz="1600" dirty="0"/>
          </a:p>
        </p:txBody>
      </p:sp>
      <p:sp>
        <p:nvSpPr>
          <p:cNvPr id="48" name="Text 44"/>
          <p:cNvSpPr txBox="1"/>
          <p:nvPr/>
        </p:nvSpPr>
        <p:spPr>
          <a:xfrm>
            <a:off x="4526280" y="47548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Retrieval runs only when the transcript exceeds a token threshold or org memory is on. Chunks use hashed bag-of-words vectors ranked by cosine similarity, so no vector extension is needed.</a:t>
            </a:r>
            <a:endParaRPr lang="en-US" sz="1200" dirty="0"/>
          </a:p>
        </p:txBody>
      </p:sp>
      <p:sp>
        <p:nvSpPr>
          <p:cNvPr id="49" name="Smart routing &amp; retry note"/>
          <p:cNvSpPr/>
          <p:nvPr/>
        </p:nvSpPr>
        <p:spPr>
          <a:xfrm>
            <a:off x="8046720" y="402336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50" name="Smart routing &amp; retry circle"/>
          <p:cNvSpPr/>
          <p:nvPr/>
        </p:nvSpPr>
        <p:spPr>
          <a:xfrm>
            <a:off x="8275320" y="42062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1" name="Smart routing &amp; retry icon" descr="Smart routing &amp; ret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9620" y="4320540"/>
            <a:ext cx="228600" cy="2286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6968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Smart routing &amp; retry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8275320" y="47548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Low-quality media is routed to re-upload. When guardrails fail, only the failed drafts are regenerated; anything still failing is parked for human review instead of being published.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Six Content Formats from One Recording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Generated by six specialised creator agents and previewed in the Content Studio</a:t>
            </a:r>
            <a:endParaRPr lang="en-US" sz="1400" dirty="0"/>
          </a:p>
        </p:txBody>
      </p:sp>
      <p:sp>
        <p:nvSpPr>
          <p:cNvPr id="4" name="Executive Summary card"/>
          <p:cNvSpPr/>
          <p:nvPr/>
        </p:nvSpPr>
        <p:spPr>
          <a:xfrm>
            <a:off x="548640" y="1600200"/>
            <a:ext cx="242316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5" name="Executive Summary circle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Executive Summary icon" descr="Executive Summa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Executive Summary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34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High-level takeaways and key metrics</a:t>
            </a:r>
            <a:endParaRPr lang="en-US" sz="1300" dirty="0"/>
          </a:p>
        </p:txBody>
      </p:sp>
      <p:sp>
        <p:nvSpPr>
          <p:cNvPr id="9" name="Blog Article card"/>
          <p:cNvSpPr/>
          <p:nvPr/>
        </p:nvSpPr>
        <p:spPr>
          <a:xfrm>
            <a:off x="3200400" y="1600200"/>
            <a:ext cx="242316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0" name="Blog Article circle"/>
          <p:cNvSpPr/>
          <p:nvPr/>
        </p:nvSpPr>
        <p:spPr>
          <a:xfrm>
            <a:off x="3429000" y="18288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Blog Article icon" descr="Blog Arti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9659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29000" y="24688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Blog Article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834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Deep-dive editorial with reading time</a:t>
            </a:r>
            <a:endParaRPr lang="en-US" sz="1300" dirty="0"/>
          </a:p>
        </p:txBody>
      </p:sp>
      <p:sp>
        <p:nvSpPr>
          <p:cNvPr id="14" name="LinkedIn Post card"/>
          <p:cNvSpPr/>
          <p:nvPr/>
        </p:nvSpPr>
        <p:spPr>
          <a:xfrm>
            <a:off x="5852160" y="1600200"/>
            <a:ext cx="242316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5" name="LinkedIn Post circle"/>
          <p:cNvSpPr/>
          <p:nvPr/>
        </p:nvSpPr>
        <p:spPr>
          <a:xfrm>
            <a:off x="608076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LinkedIn Post icon" descr="LinkedIn Po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659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080760" y="24688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LinkedIn Post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080760" y="2834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Hook, insights and hashtag cloud</a:t>
            </a:r>
            <a:endParaRPr lang="en-US" sz="1300" dirty="0"/>
          </a:p>
        </p:txBody>
      </p:sp>
      <p:sp>
        <p:nvSpPr>
          <p:cNvPr id="19" name="Newsletter card"/>
          <p:cNvSpPr/>
          <p:nvPr/>
        </p:nvSpPr>
        <p:spPr>
          <a:xfrm>
            <a:off x="548640" y="3977640"/>
            <a:ext cx="242316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0" name="Newsletter circle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Newsletter icon" descr="Newslet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434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" y="48463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Newsletter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5212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TL;DR recap with a call to action</a:t>
            </a:r>
            <a:endParaRPr lang="en-US" sz="1300" dirty="0"/>
          </a:p>
        </p:txBody>
      </p:sp>
      <p:sp>
        <p:nvSpPr>
          <p:cNvPr id="24" name="Instagram Caption card"/>
          <p:cNvSpPr/>
          <p:nvPr/>
        </p:nvSpPr>
        <p:spPr>
          <a:xfrm>
            <a:off x="3200400" y="3977640"/>
            <a:ext cx="242316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25" name="Instagram Caption circle"/>
          <p:cNvSpPr/>
          <p:nvPr/>
        </p:nvSpPr>
        <p:spPr>
          <a:xfrm>
            <a:off x="3429000" y="420624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6" name="Instagram Caption icon" descr="Instagram Cap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43434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429000" y="48463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Instagram Caption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3429000" y="5212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Carousel copy with emojis</a:t>
            </a:r>
            <a:endParaRPr lang="en-US" sz="1300" dirty="0"/>
          </a:p>
        </p:txBody>
      </p:sp>
      <p:sp>
        <p:nvSpPr>
          <p:cNvPr id="29" name="Event Flyer card"/>
          <p:cNvSpPr/>
          <p:nvPr/>
        </p:nvSpPr>
        <p:spPr>
          <a:xfrm>
            <a:off x="5852160" y="3977640"/>
            <a:ext cx="242316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30" name="Event Flyer circle"/>
          <p:cNvSpPr/>
          <p:nvPr/>
        </p:nvSpPr>
        <p:spPr>
          <a:xfrm>
            <a:off x="6080760" y="4206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1" name="Event Flyer icon" descr="Event Fly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434340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80760" y="48463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Event Flyer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080760" y="5212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Golden-ratio poster preview</a:t>
            </a:r>
            <a:endParaRPr lang="en-US" sz="1300" dirty="0"/>
          </a:p>
        </p:txBody>
      </p:sp>
      <p:sp>
        <p:nvSpPr>
          <p:cNvPr id="34" name="Studio actions card"/>
          <p:cNvSpPr/>
          <p:nvPr/>
        </p:nvSpPr>
        <p:spPr>
          <a:xfrm>
            <a:off x="8412480" y="1600200"/>
            <a:ext cx="3200400" cy="4480560"/>
          </a:xfrm>
          <a:prstGeom prst="roundRect">
            <a:avLst>
              <a:gd name="adj" fmla="val 3429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864108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CONTENT STUDIO</a:t>
            </a:r>
            <a:endParaRPr lang="en-US" sz="1600" dirty="0"/>
          </a:p>
        </p:txBody>
      </p:sp>
      <p:sp>
        <p:nvSpPr>
          <p:cNvPr id="36" name="Text 28"/>
          <p:cNvSpPr txBox="1"/>
          <p:nvPr/>
        </p:nvSpPr>
        <p:spPr>
          <a:xfrm>
            <a:off x="8641080" y="2240280"/>
            <a:ext cx="27889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Inline editing with live save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One-click copy to clipboard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Export as .md, .txt or .json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Approve or reject each draft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Multi-language output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Brand voice from user profile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Key Features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From ingestion to interaction, every stage is observable and recoverable</a:t>
            </a:r>
            <a:endParaRPr lang="en-US" sz="1400" dirty="0"/>
          </a:p>
        </p:txBody>
      </p:sp>
      <p:sp>
        <p:nvSpPr>
          <p:cNvPr id="4" name="Ingestion &amp; Quality card"/>
          <p:cNvSpPr/>
          <p:nvPr/>
        </p:nvSpPr>
        <p:spPr>
          <a:xfrm>
            <a:off x="548640" y="1554480"/>
            <a:ext cx="3566160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5" name="Ingestion &amp; Quality circle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ngestion &amp; Quality icon" descr="Ingestion &amp; Qual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8630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Ingestion &amp; Quality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Audio, video or transcript upload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Silence ratio and sample-rate checks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Antivirus scan hook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Transcript confidence badge</a:t>
            </a:r>
            <a:endParaRPr lang="en-US" sz="1400" dirty="0"/>
          </a:p>
        </p:txBody>
      </p:sp>
      <p:sp>
        <p:nvSpPr>
          <p:cNvPr id="9" name="AI Orchestration card"/>
          <p:cNvSpPr/>
          <p:nvPr/>
        </p:nvSpPr>
        <p:spPr>
          <a:xfrm>
            <a:off x="4297680" y="1554480"/>
            <a:ext cx="3566160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0" name="AI Orchestration circle"/>
          <p:cNvSpPr/>
          <p:nvPr/>
        </p:nvSpPr>
        <p:spPr>
          <a:xfrm>
            <a:off x="452628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AI Orchestration icon" descr="AI Orchest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186309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66360" y="1737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AI Orchestration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42316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Stateful LangGraph pipeline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Parallel analysis agents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Dynamic creator agent fan-out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Multi-provider LLM fallback</a:t>
            </a:r>
            <a:endParaRPr lang="en-US" sz="1400" dirty="0"/>
          </a:p>
        </p:txBody>
      </p:sp>
      <p:sp>
        <p:nvSpPr>
          <p:cNvPr id="14" name="Interaction &amp; UX card"/>
          <p:cNvSpPr/>
          <p:nvPr/>
        </p:nvSpPr>
        <p:spPr>
          <a:xfrm>
            <a:off x="8046720" y="1554480"/>
            <a:ext cx="3566160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13204A">
                <a:alpha val="12000"/>
              </a:srgbClr>
            </a:outerShdw>
          </a:effectLst>
        </p:spPr>
      </p:sp>
      <p:sp>
        <p:nvSpPr>
          <p:cNvPr id="15" name="Interaction &amp; UX circle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nteraction &amp; UX icon" descr="Interaction &amp; U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050" y="186309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15400" y="1737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Interaction &amp; UX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42316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Live agent progress via SSE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Organizer Co-Pilot and attendee Q&amp;A chat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Event catalog and community page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Dark / light theme, settings</a:t>
            </a:r>
            <a:endParaRPr lang="en-US" sz="1400" dirty="0"/>
          </a:p>
        </p:txBody>
      </p:sp>
      <p:sp>
        <p:nvSpPr>
          <p:cNvPr id="19" name="Stat content formats"/>
          <p:cNvSpPr/>
          <p:nvPr/>
        </p:nvSpPr>
        <p:spPr>
          <a:xfrm>
            <a:off x="548640" y="45720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548640" y="4663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6</a:t>
            </a:r>
            <a:endParaRPr lang="en-US" sz="5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content formats</a:t>
            </a:r>
            <a:endParaRPr lang="en-US" sz="1400" dirty="0"/>
          </a:p>
        </p:txBody>
      </p:sp>
      <p:sp>
        <p:nvSpPr>
          <p:cNvPr id="22" name="Stat parallel analysis agents"/>
          <p:cNvSpPr/>
          <p:nvPr/>
        </p:nvSpPr>
        <p:spPr>
          <a:xfrm>
            <a:off x="3355848" y="45720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355848" y="4663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4</a:t>
            </a:r>
            <a:endParaRPr lang="en-US" sz="5400" dirty="0"/>
          </a:p>
        </p:txBody>
      </p:sp>
      <p:sp>
        <p:nvSpPr>
          <p:cNvPr id="24" name="Text 19"/>
          <p:cNvSpPr txBox="1"/>
          <p:nvPr/>
        </p:nvSpPr>
        <p:spPr>
          <a:xfrm>
            <a:off x="3355848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parallel analysis agents</a:t>
            </a:r>
            <a:endParaRPr lang="en-US" sz="1400" dirty="0"/>
          </a:p>
        </p:txBody>
      </p:sp>
      <p:sp>
        <p:nvSpPr>
          <p:cNvPr id="25" name="Stat user roles with RBAC"/>
          <p:cNvSpPr/>
          <p:nvPr/>
        </p:nvSpPr>
        <p:spPr>
          <a:xfrm>
            <a:off x="6163056" y="45720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163056" y="4663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</a:t>
            </a:r>
            <a:endParaRPr lang="en-US" sz="5400" dirty="0"/>
          </a:p>
        </p:txBody>
      </p:sp>
      <p:sp>
        <p:nvSpPr>
          <p:cNvPr id="27" name="Text 22"/>
          <p:cNvSpPr txBox="1"/>
          <p:nvPr/>
        </p:nvSpPr>
        <p:spPr>
          <a:xfrm>
            <a:off x="6163056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 roles with RBAC</a:t>
            </a:r>
            <a:endParaRPr lang="en-US" sz="1400" dirty="0"/>
          </a:p>
        </p:txBody>
      </p:sp>
      <p:sp>
        <p:nvSpPr>
          <p:cNvPr id="28" name="Stat automated tests"/>
          <p:cNvSpPr/>
          <p:nvPr/>
        </p:nvSpPr>
        <p:spPr>
          <a:xfrm>
            <a:off x="8970264" y="45720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970264" y="4663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5"/>
                </a:solidFill>
              </a:rPr>
              <a:t>34</a:t>
            </a:r>
            <a:endParaRPr lang="en-US" sz="5400" dirty="0"/>
          </a:p>
        </p:txBody>
      </p:sp>
      <p:sp>
        <p:nvSpPr>
          <p:cNvPr id="30" name="Text 25"/>
          <p:cNvSpPr txBox="1"/>
          <p:nvPr/>
        </p:nvSpPr>
        <p:spPr>
          <a:xfrm>
            <a:off x="8970264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automated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Security, Privacy &amp; Guardrails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Responsible AI by design: no unverified AI output reaches the public</a:t>
            </a:r>
            <a:endParaRPr lang="en-US" sz="1400" dirty="0"/>
          </a:p>
        </p:txBody>
      </p:sp>
      <p:sp>
        <p:nvSpPr>
          <p:cNvPr id="4" name="Participant consent card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5" name="Participant consent circle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articipant consent icon" descr="Participant cons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031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7647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Participant consent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945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upload requires confirmation that participants consented to recording and AI processing.</a:t>
            </a:r>
            <a:endParaRPr lang="en-US" sz="1300" dirty="0"/>
          </a:p>
        </p:txBody>
      </p:sp>
      <p:sp>
        <p:nvSpPr>
          <p:cNvPr id="9" name="Data retention card"/>
          <p:cNvSpPr/>
          <p:nvPr/>
        </p:nvSpPr>
        <p:spPr>
          <a:xfrm>
            <a:off x="6172200" y="160020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10" name="Data retention circle"/>
          <p:cNvSpPr/>
          <p:nvPr/>
        </p:nvSpPr>
        <p:spPr>
          <a:xfrm>
            <a:off x="6446520" y="19202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Data retention icon" descr="Data reten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7647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Data retention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406640" y="21945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Scheduled purge removes raw media after the configured retention period unless marked to keep.</a:t>
            </a:r>
            <a:endParaRPr lang="en-US" sz="1300" dirty="0"/>
          </a:p>
        </p:txBody>
      </p:sp>
      <p:sp>
        <p:nvSpPr>
          <p:cNvPr id="14" name="JWT &amp; RBAC card"/>
          <p:cNvSpPr/>
          <p:nvPr/>
        </p:nvSpPr>
        <p:spPr>
          <a:xfrm>
            <a:off x="548640" y="315468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5" name="JWT &amp; RBAC circle"/>
          <p:cNvSpPr/>
          <p:nvPr/>
        </p:nvSpPr>
        <p:spPr>
          <a:xfrm>
            <a:off x="822960" y="347472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JWT &amp; RBAC icon" descr="JWT &amp; RBA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65760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33192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JWT &amp; RBAC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374904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Access and refresh tokens; role checks on every API request, plus audit logs.</a:t>
            </a:r>
            <a:endParaRPr lang="en-US" sz="1300" dirty="0"/>
          </a:p>
        </p:txBody>
      </p:sp>
      <p:sp>
        <p:nvSpPr>
          <p:cNvPr id="19" name="Prompt-injection defence card"/>
          <p:cNvSpPr/>
          <p:nvPr/>
        </p:nvSpPr>
        <p:spPr>
          <a:xfrm>
            <a:off x="6172200" y="315468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accent6">
              <a:alpha val="10000"/>
            </a:schemeClr>
          </a:solidFill>
          <a:ln/>
        </p:spPr>
      </p:sp>
      <p:sp>
        <p:nvSpPr>
          <p:cNvPr id="20" name="Prompt-injection defence circle"/>
          <p:cNvSpPr/>
          <p:nvPr/>
        </p:nvSpPr>
        <p:spPr>
          <a:xfrm>
            <a:off x="6446520" y="347472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Prompt-injection defence icon" descr="Prompt-injection defen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5760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3192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Prompt-injection defence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374904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Transcripts are treated as untrusted input and kept outside system instructions.</a:t>
            </a:r>
            <a:endParaRPr lang="en-US" sz="1300" dirty="0"/>
          </a:p>
        </p:txBody>
      </p:sp>
      <p:sp>
        <p:nvSpPr>
          <p:cNvPr id="24" name="Dual guardrails card"/>
          <p:cNvSpPr/>
          <p:nvPr/>
        </p:nvSpPr>
        <p:spPr>
          <a:xfrm>
            <a:off x="548640" y="470916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5" name="Dual guardrails circle"/>
          <p:cNvSpPr/>
          <p:nvPr/>
        </p:nvSpPr>
        <p:spPr>
          <a:xfrm>
            <a:off x="822960" y="50292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Dual guardrails icon" descr="Dual guardrail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212080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83080" y="48737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Dual guardrails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1783080" y="53035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Automated moderation plus grounding checks against the source transcript.</a:t>
            </a:r>
            <a:endParaRPr lang="en-US" sz="1300" dirty="0"/>
          </a:p>
        </p:txBody>
      </p:sp>
      <p:sp>
        <p:nvSpPr>
          <p:cNvPr id="29" name="Human-in-the-loop card"/>
          <p:cNvSpPr/>
          <p:nvPr/>
        </p:nvSpPr>
        <p:spPr>
          <a:xfrm>
            <a:off x="6172200" y="470916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30" name="Human-in-the-loop circle"/>
          <p:cNvSpPr/>
          <p:nvPr/>
        </p:nvSpPr>
        <p:spPr>
          <a:xfrm>
            <a:off x="6446520" y="50292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1" name="Human-in-the-loop icon" descr="Human-in-the-lo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212080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406640" y="48737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Human-in-the-loop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7406640" y="53035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Content becomes ready to publish only after every piece is reviewed and approved.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End-to-End User Workflow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What an organizer experiences from login to publish-ready content</a:t>
            </a:r>
            <a:endParaRPr lang="en-US" sz="1400" dirty="0"/>
          </a:p>
        </p:txBody>
      </p:sp>
      <p:sp>
        <p:nvSpPr>
          <p:cNvPr id="4" name="Workflow connector"/>
          <p:cNvSpPr/>
          <p:nvPr/>
        </p:nvSpPr>
        <p:spPr>
          <a:xfrm>
            <a:off x="1280160" y="2514600"/>
            <a:ext cx="896112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</p:sp>
      <p:sp>
        <p:nvSpPr>
          <p:cNvPr id="5" name="Login circle"/>
          <p:cNvSpPr/>
          <p:nvPr/>
        </p:nvSpPr>
        <p:spPr>
          <a:xfrm>
            <a:off x="731520" y="19659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Login icon" descr="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402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43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Login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20040" y="3657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or sign in with a role</a:t>
            </a:r>
            <a:endParaRPr lang="en-US" sz="1300" dirty="0"/>
          </a:p>
        </p:txBody>
      </p:sp>
      <p:sp>
        <p:nvSpPr>
          <p:cNvPr id="9" name="Upload circle"/>
          <p:cNvSpPr/>
          <p:nvPr/>
        </p:nvSpPr>
        <p:spPr>
          <a:xfrm>
            <a:off x="2971800" y="196596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Upload icon" descr="Uplo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22402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1460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2. Upload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3657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recording, consent and target languages</a:t>
            </a:r>
            <a:endParaRPr lang="en-US" sz="1300" dirty="0"/>
          </a:p>
        </p:txBody>
      </p:sp>
      <p:sp>
        <p:nvSpPr>
          <p:cNvPr id="13" name="Live Pipeline circle"/>
          <p:cNvSpPr/>
          <p:nvPr/>
        </p:nvSpPr>
        <p:spPr>
          <a:xfrm>
            <a:off x="5212080" y="1965960"/>
            <a:ext cx="1097280" cy="10972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Live Pipeline icon" descr="Live Pipe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24028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75488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3. Live Pipeline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800600" y="3657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Agent chips move queued → running → complete</a:t>
            </a:r>
            <a:endParaRPr lang="en-US" sz="1300" dirty="0"/>
          </a:p>
        </p:txBody>
      </p:sp>
      <p:sp>
        <p:nvSpPr>
          <p:cNvPr id="17" name="Review &amp; Edit circle"/>
          <p:cNvSpPr/>
          <p:nvPr/>
        </p:nvSpPr>
        <p:spPr>
          <a:xfrm>
            <a:off x="7452360" y="1965960"/>
            <a:ext cx="1097280" cy="10972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Review &amp; Edit icon" descr="Review &amp; Ed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224028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9516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4. Review &amp; Edit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7040880" y="3657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Switch formats, edit, copy, download</a:t>
            </a:r>
            <a:endParaRPr lang="en-US" sz="1300" dirty="0"/>
          </a:p>
        </p:txBody>
      </p:sp>
      <p:sp>
        <p:nvSpPr>
          <p:cNvPr id="21" name="Approve circle"/>
          <p:cNvSpPr/>
          <p:nvPr/>
        </p:nvSpPr>
        <p:spPr>
          <a:xfrm>
            <a:off x="9692640" y="1965960"/>
            <a:ext cx="1097280" cy="10972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Approve icon" descr="Appro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240280"/>
            <a:ext cx="548640" cy="5486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23544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5. Approve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9281160" y="3657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Job becomes ready to publish</a:t>
            </a:r>
            <a:endParaRPr lang="en-US" sz="1300" dirty="0"/>
          </a:p>
        </p:txBody>
      </p:sp>
      <p:sp>
        <p:nvSpPr>
          <p:cNvPr id="25" name="Demo note card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22960" y="4892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Demo-ready offline: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 no API keys, EventAI falls back to built-in offline STT and LLM providers, so the full workflow runs end to end with Docker Compose. Sample clean and noisy transcripts in data/samples demonstrate grounding alerts and audio confidence handling.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Expected Outcomes &amp; Future Enhancements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What EventAI delivers today and where it goes next</a:t>
            </a:r>
            <a:endParaRPr lang="en-US" sz="1400" dirty="0"/>
          </a:p>
        </p:txBody>
      </p:sp>
      <p:sp>
        <p:nvSpPr>
          <p:cNvPr id="4" name="Outcomes card"/>
          <p:cNvSpPr/>
          <p:nvPr/>
        </p:nvSpPr>
        <p:spPr>
          <a:xfrm>
            <a:off x="54864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5" name="Expected outcomes circle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Expected outcomes icon" descr="Expected outco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888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28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EXPECTED OUTCOMES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Hours of post-event writing reduced to one upload and one review pass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Consistent, on-brand content across six formats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Grounded output with hallucination and moderation checks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Faster multilingual reach for international audiences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Clear separation of UI, API, agents, providers and data</a:t>
            </a:r>
            <a:endParaRPr lang="en-US" sz="1700" dirty="0"/>
          </a:p>
        </p:txBody>
      </p:sp>
      <p:sp>
        <p:nvSpPr>
          <p:cNvPr id="9" name="Future card"/>
          <p:cNvSpPr/>
          <p:nvPr/>
        </p:nvSpPr>
        <p:spPr>
          <a:xfrm>
            <a:off x="617220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10" name="Future enhancements circle"/>
          <p:cNvSpPr/>
          <p:nvPr/>
        </p:nvSpPr>
        <p:spPr>
          <a:xfrm>
            <a:off x="6446520" y="18288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Future enhancements icon" descr="Future enhance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9888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828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FUTURE ENHANCEMENTS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6974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Live event mode with streaming transcription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Auto-scheduling to social platforms, behind approval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Engagement scoring and content analytics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Version history and tone / length regeneration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Speaker-aware quotes and cloud deployment at scale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AI circle"/>
          <p:cNvSpPr/>
          <p:nvPr/>
        </p:nvSpPr>
        <p:spPr>
          <a:xfrm>
            <a:off x="5458968" y="1188720"/>
            <a:ext cx="1280160" cy="12801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" name="EventAI icon" descr="Event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15087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27432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7947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EventAI turns every event recording into reviewed, publish-ready content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D34D"/>
                </a:solidFill>
              </a:rPr>
              <a:t>Questions?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57607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github.com/sakshijadhav2005/Final_year_project2026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entAI">
  <a:themeElements>
    <a:clrScheme name="EventAI">
      <a:dk1>
        <a:srgbClr val="1E293B"/>
      </a:dk1>
      <a:lt1>
        <a:srgbClr val="FFFFFF"/>
      </a:lt1>
      <a:dk2>
        <a:srgbClr val="13204A"/>
      </a:dk2>
      <a:lt2>
        <a:srgbClr val="F3F5FB"/>
      </a:lt2>
      <a:accent1>
        <a:srgbClr val="2563EB"/>
      </a:accent1>
      <a:accent2>
        <a:srgbClr val="0F9488"/>
      </a:accent2>
      <a:accent3>
        <a:srgbClr val="7C3AED"/>
      </a:accent3>
      <a:accent4>
        <a:srgbClr val="D97706"/>
      </a:accent4>
      <a:accent5>
        <a:srgbClr val="16A34A"/>
      </a:accent5>
      <a:accent6>
        <a:srgbClr val="DB2777"/>
      </a:accent6>
      <a:hlink>
        <a:srgbClr val="2563EB"/>
      </a:hlink>
      <a:folHlink>
        <a:srgbClr val="7C3AED"/>
      </a:folHlink>
    </a:clrScheme>
    <a:fontScheme name="EventAI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EventAI - Intelligent Event Recording to Content Generation</dc:title>
  <dc:subject>PptxGenJS Presentation</dc:subject>
  <dc:creator>EventAI Team</dc:creator>
  <cp:lastModifiedBy>EventAI Team</cp:lastModifiedBy>
  <cp:revision>1</cp:revision>
  <dcterms:created xsi:type="dcterms:W3CDTF">2026-10-26T06:40:14Z</dcterms:created>
  <dcterms:modified xsi:type="dcterms:W3CDTF">2026-10-26T06:40:14Z</dcterms:modified>
</cp:coreProperties>
</file>